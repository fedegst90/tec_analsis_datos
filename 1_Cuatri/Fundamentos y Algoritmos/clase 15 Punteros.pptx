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Architects Daughter"/>
      <p:regular r:id="rId26"/>
    </p:embeddedFont>
    <p:embeddedFont>
      <p:font typeface="Tahom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chitectsDaughter-regular.fntdata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6d3a96db_0_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6c6d3a96db_0_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c6d3a96db_0_19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g36c6d3a96db_0_19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c6d3a96db_0_28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g36c6d3a96db_0_28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c6d3a96db_0_38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36c6d3a96db_0_38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c6d3a96db_0_48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36c6d3a96db_0_48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c6d3a96db_0_58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6c6d3a96db_0_58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c6d3a96db_0_682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6c6d3a96db_0_682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c6d3a96db_0_77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6c6d3a96db_0_77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c6d3a96db_0_86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6c6d3a96db_0_86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c6d3a96db_0_963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6c6d3a96db_0_963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c6d3a96db_0_1052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6c6d3a96db_0_1052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c6d3a96db_0_114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6c6d3a96db_0_114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c6d3a96db_0_123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g36c6d3a96db_0_123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c6d3a96db_0_1336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g36c6d3a96db_0_1336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c6d3a96db_0_144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g36c6d3a96db_0_144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6c6d3a96db_0_1545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g36c6d3a96db_0_1545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c6d3a96db_0_186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36c6d3a96db_0_186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c6d3a96db_0_197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g36c6d3a96db_0_197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c6d3a96db_0_2086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g36c6d3a96db_0_2086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Punteros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4429125" y="1393031"/>
            <a:ext cx="3286200" cy="2946900"/>
          </a:xfrm>
          <a:prstGeom prst="roundRect">
            <a:avLst>
              <a:gd fmla="val 16667" name="adj"/>
            </a:avLst>
          </a:prstGeom>
          <a:solidFill>
            <a:srgbClr val="089CA3"/>
          </a:solidFill>
          <a:ln cap="flat" cmpd="sng" w="12700">
            <a:solidFill>
              <a:srgbClr val="0850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646271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fld id="{00000000-1234-1234-1234-123412341234}" type="slidenum"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755650" y="355997"/>
            <a:ext cx="77724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419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Punteros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5357812" y="1714500"/>
            <a:ext cx="2143200" cy="69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71500" y="2035969"/>
            <a:ext cx="15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b="1" i="0" lang="es-419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puntero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5643562" y="1928813"/>
            <a:ext cx="133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contenido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928687" y="1821656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BCDA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500562" y="1928813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BCDA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1143000" y="3696890"/>
            <a:ext cx="15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b="1" i="0" lang="es-419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puntero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1500187" y="3482578"/>
            <a:ext cx="7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BCDD</a:t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357812" y="3375421"/>
            <a:ext cx="2143200" cy="69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643562" y="3589734"/>
            <a:ext cx="133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contenido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4500562" y="3589734"/>
            <a:ext cx="7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BCDD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5715000" y="4446984"/>
            <a:ext cx="12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MEMORIA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 es la memoria de la CPU?</a:t>
            </a:r>
            <a:endParaRPr/>
          </a:p>
        </p:txBody>
      </p:sp>
      <p:grpSp>
        <p:nvGrpSpPr>
          <p:cNvPr id="81" name="Google Shape;81;p15"/>
          <p:cNvGrpSpPr/>
          <p:nvPr/>
        </p:nvGrpSpPr>
        <p:grpSpPr>
          <a:xfrm>
            <a:off x="755622" y="1210875"/>
            <a:ext cx="2466950" cy="3368344"/>
            <a:chOff x="571500" y="1131590"/>
            <a:chExt cx="1643100" cy="3357600"/>
          </a:xfrm>
        </p:grpSpPr>
        <p:sp>
          <p:nvSpPr>
            <p:cNvPr id="82" name="Google Shape;82;p15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83" name="Google Shape;83;p15"/>
            <p:cNvCxnSpPr/>
            <p:nvPr/>
          </p:nvCxnSpPr>
          <p:spPr>
            <a:xfrm>
              <a:off x="571500" y="2075125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571500" y="3714148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85" name="Google Shape;85;p15"/>
          <p:cNvSpPr txBox="1"/>
          <p:nvPr/>
        </p:nvSpPr>
        <p:spPr>
          <a:xfrm>
            <a:off x="1346200" y="4660106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4643437" y="1768078"/>
            <a:ext cx="4286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Variables: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integer, char, real, boolean,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registro, arreglos.                                     </a:t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 rot="-1610175">
            <a:off x="7524212" y="96779"/>
            <a:ext cx="651911" cy="386416"/>
          </a:xfrm>
          <a:prstGeom prst="rightArrow">
            <a:avLst>
              <a:gd fmla="val 14490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" name="Google Shape;88;p15"/>
          <p:cNvSpPr/>
          <p:nvPr/>
        </p:nvSpPr>
        <p:spPr>
          <a:xfrm rot="-9084773">
            <a:off x="8239790" y="100854"/>
            <a:ext cx="646403" cy="390159"/>
          </a:xfrm>
          <a:prstGeom prst="rightArrow">
            <a:avLst>
              <a:gd fmla="val 14490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884237" y="1339453"/>
            <a:ext cx="2214600" cy="2411100"/>
          </a:xfrm>
          <a:prstGeom prst="rect">
            <a:avLst/>
          </a:prstGeom>
          <a:solidFill>
            <a:srgbClr val="CCCCFF">
              <a:alpha val="79610"/>
            </a:srgbClr>
          </a:solidFill>
          <a:ln cap="flat" cmpd="sng" w="12700">
            <a:solidFill>
              <a:srgbClr val="0850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3429000" y="1365647"/>
            <a:ext cx="5049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3927475" y="1178719"/>
            <a:ext cx="430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grpSp>
        <p:nvGrpSpPr>
          <p:cNvPr id="92" name="Google Shape;92;p15"/>
          <p:cNvGrpSpPr/>
          <p:nvPr/>
        </p:nvGrpSpPr>
        <p:grpSpPr>
          <a:xfrm>
            <a:off x="901687" y="3804126"/>
            <a:ext cx="5659440" cy="954225"/>
            <a:chOff x="900952" y="5072074"/>
            <a:chExt cx="5660572" cy="1272300"/>
          </a:xfrm>
        </p:grpSpPr>
        <p:sp>
          <p:nvSpPr>
            <p:cNvPr id="93" name="Google Shape;93;p15"/>
            <p:cNvSpPr txBox="1"/>
            <p:nvPr/>
          </p:nvSpPr>
          <p:spPr>
            <a:xfrm>
              <a:off x="900952" y="5143512"/>
              <a:ext cx="2214900" cy="857400"/>
            </a:xfrm>
            <a:prstGeom prst="rect">
              <a:avLst/>
            </a:prstGeom>
            <a:solidFill>
              <a:srgbClr val="FF99CC">
                <a:alpha val="79610"/>
              </a:srgbClr>
            </a:solidFill>
            <a:ln cap="flat" cmpd="sng" w="12700">
              <a:solidFill>
                <a:srgbClr val="FF99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500172" y="5286390"/>
              <a:ext cx="786000" cy="484200"/>
            </a:xfrm>
            <a:prstGeom prst="rightArrow">
              <a:avLst>
                <a:gd fmla="val 14947" name="adj1"/>
                <a:gd fmla="val 50000" name="adj2"/>
              </a:avLst>
            </a:prstGeom>
            <a:solidFill>
              <a:srgbClr val="7F7F7F"/>
            </a:solidFill>
            <a:ln cap="flat" cmpd="sng" w="12700">
              <a:solidFill>
                <a:srgbClr val="A6A6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4429124" y="5072074"/>
              <a:ext cx="2132400" cy="12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ahoma"/>
                <a:buNone/>
              </a:pPr>
              <a:r>
                <a:rPr b="1" i="0" lang="es-419" sz="2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MEMORIA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ahoma"/>
                <a:buNone/>
              </a:pPr>
              <a:r>
                <a:rPr b="1" i="0" lang="es-419" sz="2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DINAMICA</a:t>
              </a:r>
              <a:endParaRPr/>
            </a:p>
          </p:txBody>
        </p:sp>
      </p:grp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 es la memoria de la CPU?</a:t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755622" y="1210875"/>
            <a:ext cx="2466950" cy="3368344"/>
            <a:chOff x="571500" y="1131590"/>
            <a:chExt cx="1643100" cy="3357600"/>
          </a:xfrm>
        </p:grpSpPr>
        <p:sp>
          <p:nvSpPr>
            <p:cNvPr id="103" name="Google Shape;103;p16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04" name="Google Shape;104;p16"/>
            <p:cNvCxnSpPr/>
            <p:nvPr/>
          </p:nvCxnSpPr>
          <p:spPr>
            <a:xfrm>
              <a:off x="571500" y="2075125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05" name="Google Shape;105;p16"/>
            <p:cNvCxnSpPr/>
            <p:nvPr/>
          </p:nvCxnSpPr>
          <p:spPr>
            <a:xfrm>
              <a:off x="571500" y="3714148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106" name="Google Shape;106;p16"/>
          <p:cNvSpPr txBox="1"/>
          <p:nvPr/>
        </p:nvSpPr>
        <p:spPr>
          <a:xfrm>
            <a:off x="1346200" y="4660106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4572000" y="750094"/>
            <a:ext cx="4500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Integer:  4 bytes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Char:       1 byte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419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      </a:t>
            </a:r>
            <a:r>
              <a:rPr lang="es-419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Boolean:  1 byte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Registro:  </a:t>
            </a:r>
            <a:r>
              <a:rPr b="0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suma de los campos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Arreglos: </a:t>
            </a:r>
            <a:r>
              <a:rPr b="0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dimFisica * tipo elemento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Puntero:     </a:t>
            </a:r>
            <a:r>
              <a:rPr lang="es-419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bytes                               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 rot="-1610175">
            <a:off x="7524212" y="96779"/>
            <a:ext cx="651911" cy="386416"/>
          </a:xfrm>
          <a:prstGeom prst="rightArrow">
            <a:avLst>
              <a:gd fmla="val 14490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16"/>
          <p:cNvSpPr/>
          <p:nvPr/>
        </p:nvSpPr>
        <p:spPr>
          <a:xfrm rot="-9084773">
            <a:off x="8239790" y="100854"/>
            <a:ext cx="646403" cy="390159"/>
          </a:xfrm>
          <a:prstGeom prst="rightArrow">
            <a:avLst>
              <a:gd fmla="val 14490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884237" y="1339453"/>
            <a:ext cx="2214600" cy="2411100"/>
          </a:xfrm>
          <a:prstGeom prst="rect">
            <a:avLst/>
          </a:prstGeom>
          <a:solidFill>
            <a:srgbClr val="CCCCFF">
              <a:alpha val="79610"/>
            </a:srgbClr>
          </a:solidFill>
          <a:ln cap="flat" cmpd="sng" w="12700">
            <a:solidFill>
              <a:srgbClr val="0850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429000" y="1365647"/>
            <a:ext cx="5049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3927475" y="1178719"/>
            <a:ext cx="430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0" lang="es-419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grpSp>
        <p:nvGrpSpPr>
          <p:cNvPr id="113" name="Google Shape;113;p16"/>
          <p:cNvGrpSpPr/>
          <p:nvPr/>
        </p:nvGrpSpPr>
        <p:grpSpPr>
          <a:xfrm>
            <a:off x="901689" y="3857652"/>
            <a:ext cx="5588016" cy="1095901"/>
            <a:chOff x="900952" y="5143512"/>
            <a:chExt cx="5589134" cy="1461201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900952" y="5143512"/>
              <a:ext cx="2214900" cy="857400"/>
            </a:xfrm>
            <a:prstGeom prst="rect">
              <a:avLst/>
            </a:prstGeom>
            <a:solidFill>
              <a:srgbClr val="FF99CC">
                <a:alpha val="79610"/>
              </a:srgbClr>
            </a:solidFill>
            <a:ln cap="flat" cmpd="sng" w="12700">
              <a:solidFill>
                <a:srgbClr val="FF99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3500178" y="5588015"/>
              <a:ext cx="786000" cy="484200"/>
            </a:xfrm>
            <a:prstGeom prst="rightArrow">
              <a:avLst>
                <a:gd fmla="val 14947" name="adj1"/>
                <a:gd fmla="val 50000" name="adj2"/>
              </a:avLst>
            </a:prstGeom>
            <a:solidFill>
              <a:srgbClr val="7F7F7F"/>
            </a:solidFill>
            <a:ln cap="flat" cmpd="sng" w="12700">
              <a:solidFill>
                <a:srgbClr val="A6A6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4357686" y="5332413"/>
              <a:ext cx="2132400" cy="12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ahoma"/>
                <a:buNone/>
              </a:pPr>
              <a:r>
                <a:rPr b="1" i="0" lang="es-419" sz="2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MEMORIA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ahoma"/>
                <a:buNone/>
              </a:pPr>
              <a:r>
                <a:rPr b="1" i="0" lang="es-419" sz="2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DINAMICA</a:t>
              </a:r>
              <a:endParaRPr/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430641" y="2948075"/>
            <a:ext cx="4141800" cy="866383"/>
            <a:chOff x="4429966" y="3931543"/>
            <a:chExt cx="4142628" cy="1154562"/>
          </a:xfrm>
        </p:grpSpPr>
        <p:sp>
          <p:nvSpPr>
            <p:cNvPr id="118" name="Google Shape;118;p16"/>
            <p:cNvSpPr/>
            <p:nvPr/>
          </p:nvSpPr>
          <p:spPr>
            <a:xfrm rot="1800061">
              <a:off x="4533179" y="4102847"/>
              <a:ext cx="857374" cy="642593"/>
            </a:xfrm>
            <a:prstGeom prst="rightArrow">
              <a:avLst>
                <a:gd fmla="val 13506" name="adj1"/>
                <a:gd fmla="val 50000" name="adj2"/>
              </a:avLst>
            </a:prstGeom>
            <a:solidFill>
              <a:srgbClr val="FF5050"/>
            </a:solidFill>
            <a:ln cap="flat" cmpd="sng" w="12700">
              <a:solidFill>
                <a:srgbClr val="FF5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5285794" y="4429705"/>
              <a:ext cx="32868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rPr b="0" i="0" lang="es-419" sz="2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Capacidad </a:t>
              </a:r>
              <a:r>
                <a:rPr b="0" i="0" lang="es-419" sz="2600" u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LIMITADA</a:t>
              </a:r>
              <a:endParaRPr/>
            </a:p>
          </p:txBody>
        </p:sp>
      </p:grpSp>
      <p:sp>
        <p:nvSpPr>
          <p:cNvPr id="120" name="Google Shape;120;p16"/>
          <p:cNvSpPr/>
          <p:nvPr/>
        </p:nvSpPr>
        <p:spPr>
          <a:xfrm rot="-1417630">
            <a:off x="1289583" y="1011148"/>
            <a:ext cx="5798142" cy="3459600"/>
          </a:xfrm>
          <a:prstGeom prst="wedgeEllipseCallout">
            <a:avLst>
              <a:gd fmla="val 6300" name="adj1"/>
              <a:gd fmla="val 24300" name="adj2"/>
            </a:avLst>
          </a:prstGeom>
          <a:solidFill>
            <a:srgbClr val="FFFF66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tects Daughter"/>
              <a:buNone/>
            </a:pPr>
            <a:r>
              <a:rPr b="1" i="0" lang="es-419" sz="35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ocurre si declaro un arreglo que no entra en memoria estática?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71437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estáticas / Variables dinámicas?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17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950912" y="1539478"/>
            <a:ext cx="2232000" cy="1188300"/>
          </a:xfrm>
          <a:prstGeom prst="rightArrow">
            <a:avLst>
              <a:gd fmla="val 13934" name="adj1"/>
              <a:gd fmla="val 50000" name="adj2"/>
            </a:avLst>
          </a:prstGeom>
          <a:solidFill>
            <a:srgbClr val="FFFF66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285750" y="1123950"/>
            <a:ext cx="432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ESTATICAS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4643437" y="1138238"/>
            <a:ext cx="388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DINAMICAS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285750" y="2842022"/>
            <a:ext cx="4321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rigidez ya que no permite que las estructuras varíen su dimensión.</a:t>
            </a:r>
            <a:endParaRPr sz="1200"/>
          </a:p>
        </p:txBody>
      </p:sp>
      <p:sp>
        <p:nvSpPr>
          <p:cNvPr id="133" name="Google Shape;133;p17"/>
          <p:cNvSpPr txBox="1"/>
          <p:nvPr/>
        </p:nvSpPr>
        <p:spPr>
          <a:xfrm>
            <a:off x="265112" y="3543300"/>
            <a:ext cx="432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variables y tipos reservan memoria en su declaración y se mantienen durante todo el programa. El lenguaje puede validar previo a la ejecución</a:t>
            </a:r>
            <a:endParaRPr sz="1100"/>
          </a:p>
        </p:txBody>
      </p:sp>
      <p:sp>
        <p:nvSpPr>
          <p:cNvPr id="134" name="Google Shape;134;p17"/>
          <p:cNvSpPr txBox="1"/>
          <p:nvPr/>
        </p:nvSpPr>
        <p:spPr>
          <a:xfrm>
            <a:off x="5003800" y="2842022"/>
            <a:ext cx="3960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modificar en ejecución la memoria utilizada.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 flipH="1">
            <a:off x="5697562" y="1553765"/>
            <a:ext cx="2232000" cy="1188300"/>
          </a:xfrm>
          <a:prstGeom prst="rightArrow">
            <a:avLst>
              <a:gd fmla="val 13934" name="adj1"/>
              <a:gd fmla="val 50000" name="adj2"/>
            </a:avLst>
          </a:prstGeom>
          <a:solidFill>
            <a:srgbClr val="FF5050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- Definición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889125" y="789384"/>
            <a:ext cx="7004100" cy="13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Un puntero es un tipo de variable usada para almacenar la dirección en memoria de otra variable, en lugar de un dato convencional. Es un tipo de datos simple.</a:t>
            </a:r>
            <a:endParaRPr sz="800"/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953690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-36512" y="1832372"/>
            <a:ext cx="203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Puntero</a:t>
            </a:r>
            <a:endParaRPr/>
          </a:p>
        </p:txBody>
      </p:sp>
      <p:grpSp>
        <p:nvGrpSpPr>
          <p:cNvPr id="145" name="Google Shape;145;p18"/>
          <p:cNvGrpSpPr/>
          <p:nvPr/>
        </p:nvGrpSpPr>
        <p:grpSpPr>
          <a:xfrm>
            <a:off x="1900253" y="2247853"/>
            <a:ext cx="2611543" cy="2451384"/>
            <a:chOff x="571500" y="1131590"/>
            <a:chExt cx="1643100" cy="3357600"/>
          </a:xfrm>
        </p:grpSpPr>
        <p:sp>
          <p:nvSpPr>
            <p:cNvPr id="146" name="Google Shape;146;p18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7" name="Google Shape;147;p18"/>
            <p:cNvCxnSpPr/>
            <p:nvPr/>
          </p:nvCxnSpPr>
          <p:spPr>
            <a:xfrm>
              <a:off x="571500" y="2074121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48" name="Google Shape;148;p18"/>
            <p:cNvCxnSpPr/>
            <p:nvPr/>
          </p:nvCxnSpPr>
          <p:spPr>
            <a:xfrm>
              <a:off x="571500" y="3714581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149" name="Google Shape;149;p18"/>
          <p:cNvSpPr txBox="1"/>
          <p:nvPr/>
        </p:nvSpPr>
        <p:spPr>
          <a:xfrm>
            <a:off x="2782887" y="4698206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31787" y="3044428"/>
            <a:ext cx="1554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Estática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23850" y="4096940"/>
            <a:ext cx="155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Dinámica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2270125" y="3015853"/>
            <a:ext cx="2006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num: 536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2252662" y="3598069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pun: FAFB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489450" y="4399359"/>
            <a:ext cx="200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487862" y="4096940"/>
            <a:ext cx="200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FAFA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3856037" y="3363515"/>
            <a:ext cx="2220895" cy="1175657"/>
          </a:xfrm>
          <a:custGeom>
            <a:rect b="b" l="l" r="r" t="t"/>
            <a:pathLst>
              <a:path extrusionOk="0" h="1567543" w="2220895">
                <a:moveTo>
                  <a:pt x="0" y="391886"/>
                </a:moveTo>
                <a:cubicBezTo>
                  <a:pt x="21771" y="373743"/>
                  <a:pt x="44132" y="356285"/>
                  <a:pt x="65314" y="337457"/>
                </a:cubicBezTo>
                <a:cubicBezTo>
                  <a:pt x="76820" y="327229"/>
                  <a:pt x="85444" y="313748"/>
                  <a:pt x="97971" y="304800"/>
                </a:cubicBezTo>
                <a:cubicBezTo>
                  <a:pt x="111176" y="295368"/>
                  <a:pt x="127000" y="290286"/>
                  <a:pt x="141514" y="283029"/>
                </a:cubicBezTo>
                <a:cubicBezTo>
                  <a:pt x="159657" y="264886"/>
                  <a:pt x="176632" y="245496"/>
                  <a:pt x="195942" y="228600"/>
                </a:cubicBezTo>
                <a:cubicBezTo>
                  <a:pt x="211729" y="214786"/>
                  <a:pt x="254571" y="191646"/>
                  <a:pt x="272142" y="185057"/>
                </a:cubicBezTo>
                <a:cubicBezTo>
                  <a:pt x="286150" y="179804"/>
                  <a:pt x="301492" y="178903"/>
                  <a:pt x="315685" y="174172"/>
                </a:cubicBezTo>
                <a:cubicBezTo>
                  <a:pt x="345097" y="164368"/>
                  <a:pt x="373742" y="152401"/>
                  <a:pt x="402771" y="141515"/>
                </a:cubicBezTo>
                <a:cubicBezTo>
                  <a:pt x="413657" y="130629"/>
                  <a:pt x="421658" y="115742"/>
                  <a:pt x="435428" y="108857"/>
                </a:cubicBezTo>
                <a:cubicBezTo>
                  <a:pt x="459055" y="97043"/>
                  <a:pt x="486326" y="94677"/>
                  <a:pt x="511628" y="87086"/>
                </a:cubicBezTo>
                <a:cubicBezTo>
                  <a:pt x="522619" y="83789"/>
                  <a:pt x="533153" y="78983"/>
                  <a:pt x="544285" y="76200"/>
                </a:cubicBezTo>
                <a:cubicBezTo>
                  <a:pt x="576740" y="68086"/>
                  <a:pt x="609660" y="61951"/>
                  <a:pt x="642257" y="54429"/>
                </a:cubicBezTo>
                <a:cubicBezTo>
                  <a:pt x="656835" y="51065"/>
                  <a:pt x="671286" y="47172"/>
                  <a:pt x="685800" y="43543"/>
                </a:cubicBezTo>
                <a:cubicBezTo>
                  <a:pt x="696686" y="36286"/>
                  <a:pt x="706207" y="26366"/>
                  <a:pt x="718457" y="21772"/>
                </a:cubicBezTo>
                <a:cubicBezTo>
                  <a:pt x="762662" y="5195"/>
                  <a:pt x="920038" y="375"/>
                  <a:pt x="925285" y="0"/>
                </a:cubicBezTo>
                <a:cubicBezTo>
                  <a:pt x="1001485" y="7257"/>
                  <a:pt x="1077885" y="12652"/>
                  <a:pt x="1153885" y="21772"/>
                </a:cubicBezTo>
                <a:cubicBezTo>
                  <a:pt x="1168739" y="23555"/>
                  <a:pt x="1182534" y="31239"/>
                  <a:pt x="1197428" y="32657"/>
                </a:cubicBezTo>
                <a:cubicBezTo>
                  <a:pt x="1258942" y="38515"/>
                  <a:pt x="1320799" y="39914"/>
                  <a:pt x="1382485" y="43543"/>
                </a:cubicBezTo>
                <a:cubicBezTo>
                  <a:pt x="1531158" y="93102"/>
                  <a:pt x="1379217" y="39033"/>
                  <a:pt x="1491342" y="87086"/>
                </a:cubicBezTo>
                <a:cubicBezTo>
                  <a:pt x="1501889" y="91606"/>
                  <a:pt x="1513737" y="92840"/>
                  <a:pt x="1524000" y="97972"/>
                </a:cubicBezTo>
                <a:cubicBezTo>
                  <a:pt x="1570678" y="121311"/>
                  <a:pt x="1545980" y="118695"/>
                  <a:pt x="1589314" y="152400"/>
                </a:cubicBezTo>
                <a:cubicBezTo>
                  <a:pt x="1609968" y="168464"/>
                  <a:pt x="1633192" y="180938"/>
                  <a:pt x="1654628" y="195943"/>
                </a:cubicBezTo>
                <a:cubicBezTo>
                  <a:pt x="1669491" y="206347"/>
                  <a:pt x="1683408" y="218055"/>
                  <a:pt x="1698171" y="228600"/>
                </a:cubicBezTo>
                <a:cubicBezTo>
                  <a:pt x="1708817" y="236204"/>
                  <a:pt x="1720982" y="241757"/>
                  <a:pt x="1730828" y="250372"/>
                </a:cubicBezTo>
                <a:cubicBezTo>
                  <a:pt x="1750138" y="267268"/>
                  <a:pt x="1764731" y="289405"/>
                  <a:pt x="1785257" y="304800"/>
                </a:cubicBezTo>
                <a:cubicBezTo>
                  <a:pt x="1844271" y="349062"/>
                  <a:pt x="1871852" y="363334"/>
                  <a:pt x="1915885" y="413657"/>
                </a:cubicBezTo>
                <a:cubicBezTo>
                  <a:pt x="1927832" y="427311"/>
                  <a:pt x="1936282" y="443826"/>
                  <a:pt x="1948542" y="457200"/>
                </a:cubicBezTo>
                <a:cubicBezTo>
                  <a:pt x="1976282" y="487462"/>
                  <a:pt x="2012856" y="510128"/>
                  <a:pt x="2035628" y="544286"/>
                </a:cubicBezTo>
                <a:cubicBezTo>
                  <a:pt x="2102649" y="644815"/>
                  <a:pt x="2017119" y="521147"/>
                  <a:pt x="2079171" y="598715"/>
                </a:cubicBezTo>
                <a:cubicBezTo>
                  <a:pt x="2087344" y="608931"/>
                  <a:pt x="2093685" y="620486"/>
                  <a:pt x="2100942" y="631372"/>
                </a:cubicBezTo>
                <a:cubicBezTo>
                  <a:pt x="2104571" y="645886"/>
                  <a:pt x="2106575" y="660907"/>
                  <a:pt x="2111828" y="674915"/>
                </a:cubicBezTo>
                <a:cubicBezTo>
                  <a:pt x="2117526" y="690109"/>
                  <a:pt x="2127208" y="703542"/>
                  <a:pt x="2133600" y="718457"/>
                </a:cubicBezTo>
                <a:cubicBezTo>
                  <a:pt x="2141378" y="736606"/>
                  <a:pt x="2151920" y="777405"/>
                  <a:pt x="2155371" y="794657"/>
                </a:cubicBezTo>
                <a:cubicBezTo>
                  <a:pt x="2159700" y="816300"/>
                  <a:pt x="2161928" y="838329"/>
                  <a:pt x="2166257" y="859972"/>
                </a:cubicBezTo>
                <a:cubicBezTo>
                  <a:pt x="2169191" y="874642"/>
                  <a:pt x="2174466" y="888795"/>
                  <a:pt x="2177142" y="903515"/>
                </a:cubicBezTo>
                <a:cubicBezTo>
                  <a:pt x="2197154" y="1013583"/>
                  <a:pt x="2176559" y="945308"/>
                  <a:pt x="2198914" y="1012372"/>
                </a:cubicBezTo>
                <a:cubicBezTo>
                  <a:pt x="2202543" y="1052286"/>
                  <a:pt x="2204132" y="1092439"/>
                  <a:pt x="2209800" y="1132115"/>
                </a:cubicBezTo>
                <a:cubicBezTo>
                  <a:pt x="2211423" y="1143474"/>
                  <a:pt x="2220685" y="1153298"/>
                  <a:pt x="2220685" y="1164772"/>
                </a:cubicBezTo>
                <a:cubicBezTo>
                  <a:pt x="2220685" y="1233810"/>
                  <a:pt x="2223340" y="1303903"/>
                  <a:pt x="2209800" y="1371600"/>
                </a:cubicBezTo>
                <a:cubicBezTo>
                  <a:pt x="2207550" y="1382852"/>
                  <a:pt x="2187173" y="1376913"/>
                  <a:pt x="2177142" y="1382486"/>
                </a:cubicBezTo>
                <a:cubicBezTo>
                  <a:pt x="2154269" y="1395193"/>
                  <a:pt x="2136651" y="1417754"/>
                  <a:pt x="2111828" y="1426029"/>
                </a:cubicBezTo>
                <a:cubicBezTo>
                  <a:pt x="2029744" y="1453391"/>
                  <a:pt x="2130923" y="1416482"/>
                  <a:pt x="2046514" y="1458686"/>
                </a:cubicBezTo>
                <a:cubicBezTo>
                  <a:pt x="2028216" y="1467835"/>
                  <a:pt x="1987761" y="1475223"/>
                  <a:pt x="1970314" y="1480457"/>
                </a:cubicBezTo>
                <a:cubicBezTo>
                  <a:pt x="1948333" y="1487051"/>
                  <a:pt x="1927881" y="1500469"/>
                  <a:pt x="1905000" y="1502229"/>
                </a:cubicBezTo>
                <a:lnTo>
                  <a:pt x="1763485" y="1513115"/>
                </a:lnTo>
                <a:cubicBezTo>
                  <a:pt x="1732363" y="1523488"/>
                  <a:pt x="1721453" y="1528052"/>
                  <a:pt x="1687285" y="1534886"/>
                </a:cubicBezTo>
                <a:cubicBezTo>
                  <a:pt x="1665642" y="1539215"/>
                  <a:pt x="1643517" y="1540984"/>
                  <a:pt x="1621971" y="1545772"/>
                </a:cubicBezTo>
                <a:cubicBezTo>
                  <a:pt x="1610770" y="1548261"/>
                  <a:pt x="1600710" y="1555316"/>
                  <a:pt x="1589314" y="1556657"/>
                </a:cubicBezTo>
                <a:cubicBezTo>
                  <a:pt x="1494584" y="1567802"/>
                  <a:pt x="1483477" y="1567543"/>
                  <a:pt x="1426028" y="1567543"/>
                </a:cubicBezTo>
              </a:path>
            </a:pathLst>
          </a:custGeom>
          <a:noFill/>
          <a:ln cap="flat" cmpd="sng" w="38100">
            <a:solidFill>
              <a:srgbClr val="FF33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4991100" y="2178844"/>
            <a:ext cx="3951300" cy="12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chitects Daughter"/>
              <a:buNone/>
            </a:pPr>
            <a:r>
              <a:rPr b="1" i="0" lang="es-419" sz="19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Mediante la variable de tipo puntero se accede a una dirección, y en dicha dirección de memoria se encuentra realmente el valor almacenado. </a:t>
            </a:r>
            <a:endParaRPr sz="1000"/>
          </a:p>
        </p:txBody>
      </p:sp>
      <p:sp>
        <p:nvSpPr>
          <p:cNvPr id="158" name="Google Shape;158;p18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18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- Definición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889125" y="789384"/>
            <a:ext cx="7004100" cy="13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3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Un puntero es un tipo de variable usada para almacenar la dirección en memoria de otra variable, en lugar de un dato convencional. Es un tipo de datos simple.</a:t>
            </a:r>
            <a:endParaRPr sz="900"/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953690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-36512" y="1832372"/>
            <a:ext cx="203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Puntero</a:t>
            </a:r>
            <a:endParaRPr/>
          </a:p>
        </p:txBody>
      </p:sp>
      <p:grpSp>
        <p:nvGrpSpPr>
          <p:cNvPr id="169" name="Google Shape;169;p19"/>
          <p:cNvGrpSpPr/>
          <p:nvPr/>
        </p:nvGrpSpPr>
        <p:grpSpPr>
          <a:xfrm>
            <a:off x="1900253" y="2247853"/>
            <a:ext cx="2611543" cy="2451384"/>
            <a:chOff x="571500" y="1131590"/>
            <a:chExt cx="1643100" cy="3357600"/>
          </a:xfrm>
        </p:grpSpPr>
        <p:sp>
          <p:nvSpPr>
            <p:cNvPr id="170" name="Google Shape;170;p19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71" name="Google Shape;171;p19"/>
            <p:cNvCxnSpPr/>
            <p:nvPr/>
          </p:nvCxnSpPr>
          <p:spPr>
            <a:xfrm>
              <a:off x="571500" y="2074121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2" name="Google Shape;172;p19"/>
            <p:cNvCxnSpPr/>
            <p:nvPr/>
          </p:nvCxnSpPr>
          <p:spPr>
            <a:xfrm>
              <a:off x="571500" y="3714581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173" name="Google Shape;173;p19"/>
          <p:cNvSpPr txBox="1"/>
          <p:nvPr/>
        </p:nvSpPr>
        <p:spPr>
          <a:xfrm>
            <a:off x="2782887" y="4698206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331787" y="3044428"/>
            <a:ext cx="1554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Estática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323850" y="4096940"/>
            <a:ext cx="155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Dinámica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2270125" y="3015853"/>
            <a:ext cx="2006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num: 536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2252662" y="3598069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pun: FAFB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489450" y="4399359"/>
            <a:ext cx="200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487862" y="4096940"/>
            <a:ext cx="200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FAFA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3856037" y="3363515"/>
            <a:ext cx="2220895" cy="1175657"/>
          </a:xfrm>
          <a:custGeom>
            <a:rect b="b" l="l" r="r" t="t"/>
            <a:pathLst>
              <a:path extrusionOk="0" h="1567543" w="2220895">
                <a:moveTo>
                  <a:pt x="0" y="391886"/>
                </a:moveTo>
                <a:cubicBezTo>
                  <a:pt x="21771" y="373743"/>
                  <a:pt x="44132" y="356285"/>
                  <a:pt x="65314" y="337457"/>
                </a:cubicBezTo>
                <a:cubicBezTo>
                  <a:pt x="76820" y="327229"/>
                  <a:pt x="85444" y="313748"/>
                  <a:pt x="97971" y="304800"/>
                </a:cubicBezTo>
                <a:cubicBezTo>
                  <a:pt x="111176" y="295368"/>
                  <a:pt x="127000" y="290286"/>
                  <a:pt x="141514" y="283029"/>
                </a:cubicBezTo>
                <a:cubicBezTo>
                  <a:pt x="159657" y="264886"/>
                  <a:pt x="176632" y="245496"/>
                  <a:pt x="195942" y="228600"/>
                </a:cubicBezTo>
                <a:cubicBezTo>
                  <a:pt x="211729" y="214786"/>
                  <a:pt x="254571" y="191646"/>
                  <a:pt x="272142" y="185057"/>
                </a:cubicBezTo>
                <a:cubicBezTo>
                  <a:pt x="286150" y="179804"/>
                  <a:pt x="301492" y="178903"/>
                  <a:pt x="315685" y="174172"/>
                </a:cubicBezTo>
                <a:cubicBezTo>
                  <a:pt x="345097" y="164368"/>
                  <a:pt x="373742" y="152401"/>
                  <a:pt x="402771" y="141515"/>
                </a:cubicBezTo>
                <a:cubicBezTo>
                  <a:pt x="413657" y="130629"/>
                  <a:pt x="421658" y="115742"/>
                  <a:pt x="435428" y="108857"/>
                </a:cubicBezTo>
                <a:cubicBezTo>
                  <a:pt x="459055" y="97043"/>
                  <a:pt x="486326" y="94677"/>
                  <a:pt x="511628" y="87086"/>
                </a:cubicBezTo>
                <a:cubicBezTo>
                  <a:pt x="522619" y="83789"/>
                  <a:pt x="533153" y="78983"/>
                  <a:pt x="544285" y="76200"/>
                </a:cubicBezTo>
                <a:cubicBezTo>
                  <a:pt x="576740" y="68086"/>
                  <a:pt x="609660" y="61951"/>
                  <a:pt x="642257" y="54429"/>
                </a:cubicBezTo>
                <a:cubicBezTo>
                  <a:pt x="656835" y="51065"/>
                  <a:pt x="671286" y="47172"/>
                  <a:pt x="685800" y="43543"/>
                </a:cubicBezTo>
                <a:cubicBezTo>
                  <a:pt x="696686" y="36286"/>
                  <a:pt x="706207" y="26366"/>
                  <a:pt x="718457" y="21772"/>
                </a:cubicBezTo>
                <a:cubicBezTo>
                  <a:pt x="762662" y="5195"/>
                  <a:pt x="920038" y="375"/>
                  <a:pt x="925285" y="0"/>
                </a:cubicBezTo>
                <a:cubicBezTo>
                  <a:pt x="1001485" y="7257"/>
                  <a:pt x="1077885" y="12652"/>
                  <a:pt x="1153885" y="21772"/>
                </a:cubicBezTo>
                <a:cubicBezTo>
                  <a:pt x="1168739" y="23555"/>
                  <a:pt x="1182534" y="31239"/>
                  <a:pt x="1197428" y="32657"/>
                </a:cubicBezTo>
                <a:cubicBezTo>
                  <a:pt x="1258942" y="38515"/>
                  <a:pt x="1320799" y="39914"/>
                  <a:pt x="1382485" y="43543"/>
                </a:cubicBezTo>
                <a:cubicBezTo>
                  <a:pt x="1531158" y="93102"/>
                  <a:pt x="1379217" y="39033"/>
                  <a:pt x="1491342" y="87086"/>
                </a:cubicBezTo>
                <a:cubicBezTo>
                  <a:pt x="1501889" y="91606"/>
                  <a:pt x="1513737" y="92840"/>
                  <a:pt x="1524000" y="97972"/>
                </a:cubicBezTo>
                <a:cubicBezTo>
                  <a:pt x="1570678" y="121311"/>
                  <a:pt x="1545980" y="118695"/>
                  <a:pt x="1589314" y="152400"/>
                </a:cubicBezTo>
                <a:cubicBezTo>
                  <a:pt x="1609968" y="168464"/>
                  <a:pt x="1633192" y="180938"/>
                  <a:pt x="1654628" y="195943"/>
                </a:cubicBezTo>
                <a:cubicBezTo>
                  <a:pt x="1669491" y="206347"/>
                  <a:pt x="1683408" y="218055"/>
                  <a:pt x="1698171" y="228600"/>
                </a:cubicBezTo>
                <a:cubicBezTo>
                  <a:pt x="1708817" y="236204"/>
                  <a:pt x="1720982" y="241757"/>
                  <a:pt x="1730828" y="250372"/>
                </a:cubicBezTo>
                <a:cubicBezTo>
                  <a:pt x="1750138" y="267268"/>
                  <a:pt x="1764731" y="289405"/>
                  <a:pt x="1785257" y="304800"/>
                </a:cubicBezTo>
                <a:cubicBezTo>
                  <a:pt x="1844271" y="349062"/>
                  <a:pt x="1871852" y="363334"/>
                  <a:pt x="1915885" y="413657"/>
                </a:cubicBezTo>
                <a:cubicBezTo>
                  <a:pt x="1927832" y="427311"/>
                  <a:pt x="1936282" y="443826"/>
                  <a:pt x="1948542" y="457200"/>
                </a:cubicBezTo>
                <a:cubicBezTo>
                  <a:pt x="1976282" y="487462"/>
                  <a:pt x="2012856" y="510128"/>
                  <a:pt x="2035628" y="544286"/>
                </a:cubicBezTo>
                <a:cubicBezTo>
                  <a:pt x="2102649" y="644815"/>
                  <a:pt x="2017119" y="521147"/>
                  <a:pt x="2079171" y="598715"/>
                </a:cubicBezTo>
                <a:cubicBezTo>
                  <a:pt x="2087344" y="608931"/>
                  <a:pt x="2093685" y="620486"/>
                  <a:pt x="2100942" y="631372"/>
                </a:cubicBezTo>
                <a:cubicBezTo>
                  <a:pt x="2104571" y="645886"/>
                  <a:pt x="2106575" y="660907"/>
                  <a:pt x="2111828" y="674915"/>
                </a:cubicBezTo>
                <a:cubicBezTo>
                  <a:pt x="2117526" y="690109"/>
                  <a:pt x="2127208" y="703542"/>
                  <a:pt x="2133600" y="718457"/>
                </a:cubicBezTo>
                <a:cubicBezTo>
                  <a:pt x="2141378" y="736606"/>
                  <a:pt x="2151920" y="777405"/>
                  <a:pt x="2155371" y="794657"/>
                </a:cubicBezTo>
                <a:cubicBezTo>
                  <a:pt x="2159700" y="816300"/>
                  <a:pt x="2161928" y="838329"/>
                  <a:pt x="2166257" y="859972"/>
                </a:cubicBezTo>
                <a:cubicBezTo>
                  <a:pt x="2169191" y="874642"/>
                  <a:pt x="2174466" y="888795"/>
                  <a:pt x="2177142" y="903515"/>
                </a:cubicBezTo>
                <a:cubicBezTo>
                  <a:pt x="2197154" y="1013583"/>
                  <a:pt x="2176559" y="945308"/>
                  <a:pt x="2198914" y="1012372"/>
                </a:cubicBezTo>
                <a:cubicBezTo>
                  <a:pt x="2202543" y="1052286"/>
                  <a:pt x="2204132" y="1092439"/>
                  <a:pt x="2209800" y="1132115"/>
                </a:cubicBezTo>
                <a:cubicBezTo>
                  <a:pt x="2211423" y="1143474"/>
                  <a:pt x="2220685" y="1153298"/>
                  <a:pt x="2220685" y="1164772"/>
                </a:cubicBezTo>
                <a:cubicBezTo>
                  <a:pt x="2220685" y="1233810"/>
                  <a:pt x="2223340" y="1303903"/>
                  <a:pt x="2209800" y="1371600"/>
                </a:cubicBezTo>
                <a:cubicBezTo>
                  <a:pt x="2207550" y="1382852"/>
                  <a:pt x="2187173" y="1376913"/>
                  <a:pt x="2177142" y="1382486"/>
                </a:cubicBezTo>
                <a:cubicBezTo>
                  <a:pt x="2154269" y="1395193"/>
                  <a:pt x="2136651" y="1417754"/>
                  <a:pt x="2111828" y="1426029"/>
                </a:cubicBezTo>
                <a:cubicBezTo>
                  <a:pt x="2029744" y="1453391"/>
                  <a:pt x="2130923" y="1416482"/>
                  <a:pt x="2046514" y="1458686"/>
                </a:cubicBezTo>
                <a:cubicBezTo>
                  <a:pt x="2028216" y="1467835"/>
                  <a:pt x="1987761" y="1475223"/>
                  <a:pt x="1970314" y="1480457"/>
                </a:cubicBezTo>
                <a:cubicBezTo>
                  <a:pt x="1948333" y="1487051"/>
                  <a:pt x="1927881" y="1500469"/>
                  <a:pt x="1905000" y="1502229"/>
                </a:cubicBezTo>
                <a:lnTo>
                  <a:pt x="1763485" y="1513115"/>
                </a:lnTo>
                <a:cubicBezTo>
                  <a:pt x="1732363" y="1523488"/>
                  <a:pt x="1721453" y="1528052"/>
                  <a:pt x="1687285" y="1534886"/>
                </a:cubicBezTo>
                <a:cubicBezTo>
                  <a:pt x="1665642" y="1539215"/>
                  <a:pt x="1643517" y="1540984"/>
                  <a:pt x="1621971" y="1545772"/>
                </a:cubicBezTo>
                <a:cubicBezTo>
                  <a:pt x="1610770" y="1548261"/>
                  <a:pt x="1600710" y="1555316"/>
                  <a:pt x="1589314" y="1556657"/>
                </a:cubicBezTo>
                <a:cubicBezTo>
                  <a:pt x="1494584" y="1567802"/>
                  <a:pt x="1483477" y="1567543"/>
                  <a:pt x="1426028" y="1567543"/>
                </a:cubicBezTo>
              </a:path>
            </a:pathLst>
          </a:custGeom>
          <a:noFill/>
          <a:ln cap="flat" cmpd="sng" w="38100">
            <a:solidFill>
              <a:srgbClr val="FF33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4646612" y="2697956"/>
            <a:ext cx="39498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chitects Daughter"/>
              <a:buNone/>
            </a:pPr>
            <a:r>
              <a:rPr b="1" i="0" lang="es-419" sz="25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La variable pun contiene una dirección (FAFB)</a:t>
            </a:r>
            <a:endParaRPr sz="1100"/>
          </a:p>
        </p:txBody>
      </p:sp>
      <p:sp>
        <p:nvSpPr>
          <p:cNvPr id="182" name="Google Shape;182;p19"/>
          <p:cNvSpPr txBox="1"/>
          <p:nvPr/>
        </p:nvSpPr>
        <p:spPr>
          <a:xfrm>
            <a:off x="2922587" y="4327922"/>
            <a:ext cx="97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‘a’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 rot="361174">
            <a:off x="6116315" y="4070060"/>
            <a:ext cx="2812106" cy="840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chitects Daughter"/>
              <a:buNone/>
            </a:pPr>
            <a:r>
              <a:rPr b="1" i="0" lang="es-419" sz="19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En la dirección FAFB se encuentra almacenado el valor</a:t>
            </a:r>
            <a:endParaRPr sz="900"/>
          </a:p>
        </p:txBody>
      </p:sp>
      <p:sp>
        <p:nvSpPr>
          <p:cNvPr id="184" name="Google Shape;184;p19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" name="Google Shape;185;p19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- Puntero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806575" y="951309"/>
            <a:ext cx="7004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Características:</a:t>
            </a:r>
            <a:endParaRPr/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953690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-36512" y="1832372"/>
            <a:ext cx="203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Puntero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2624137" y="1383506"/>
            <a:ext cx="631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s-419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un tipo de dato simple que contiene la dirección donde se encuentra almacenado el dato real. </a:t>
            </a:r>
            <a:endParaRPr sz="1000"/>
          </a:p>
        </p:txBody>
      </p:sp>
      <p:sp>
        <p:nvSpPr>
          <p:cNvPr id="196" name="Google Shape;196;p20"/>
          <p:cNvSpPr/>
          <p:nvPr/>
        </p:nvSpPr>
        <p:spPr>
          <a:xfrm>
            <a:off x="2195512" y="1582340"/>
            <a:ext cx="376200" cy="395400"/>
          </a:xfrm>
          <a:prstGeom prst="ellipse">
            <a:avLst/>
          </a:prstGeom>
          <a:solidFill>
            <a:srgbClr val="089CA3"/>
          </a:solidFill>
          <a:ln cap="flat" cmpd="sng" w="12700">
            <a:solidFill>
              <a:srgbClr val="089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195512" y="2484834"/>
            <a:ext cx="376200" cy="395400"/>
          </a:xfrm>
          <a:prstGeom prst="ellipse">
            <a:avLst/>
          </a:prstGeom>
          <a:solidFill>
            <a:srgbClr val="089CA3"/>
          </a:solidFill>
          <a:ln cap="flat" cmpd="sng" w="12700">
            <a:solidFill>
              <a:srgbClr val="089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195512" y="3418284"/>
            <a:ext cx="376200" cy="395400"/>
          </a:xfrm>
          <a:prstGeom prst="ellipse">
            <a:avLst/>
          </a:prstGeom>
          <a:solidFill>
            <a:srgbClr val="089CA3"/>
          </a:solidFill>
          <a:ln cap="flat" cmpd="sng" w="12700">
            <a:solidFill>
              <a:srgbClr val="089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195512" y="4239815"/>
            <a:ext cx="376200" cy="395400"/>
          </a:xfrm>
          <a:prstGeom prst="ellipse">
            <a:avLst/>
          </a:prstGeom>
          <a:solidFill>
            <a:srgbClr val="089CA3"/>
          </a:solidFill>
          <a:ln cap="flat" cmpd="sng" w="12700">
            <a:solidFill>
              <a:srgbClr val="089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695575" y="2409825"/>
            <a:ext cx="615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s-419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Pueden apuntar solamente a direcciones almacenadas en memoria dinámica (heap).</a:t>
            </a:r>
            <a:endParaRPr sz="1000"/>
          </a:p>
        </p:txBody>
      </p:sp>
      <p:sp>
        <p:nvSpPr>
          <p:cNvPr id="201" name="Google Shape;201;p20"/>
          <p:cNvSpPr txBox="1"/>
          <p:nvPr/>
        </p:nvSpPr>
        <p:spPr>
          <a:xfrm>
            <a:off x="2708275" y="3274219"/>
            <a:ext cx="622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s-419" sz="2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 variable de tipo puntero puede apuntar a un único tipo de dato.</a:t>
            </a:r>
            <a:endParaRPr sz="1100"/>
          </a:p>
        </p:txBody>
      </p:sp>
      <p:sp>
        <p:nvSpPr>
          <p:cNvPr id="202" name="Google Shape;202;p20"/>
          <p:cNvSpPr txBox="1"/>
          <p:nvPr/>
        </p:nvSpPr>
        <p:spPr>
          <a:xfrm>
            <a:off x="2743200" y="4083844"/>
            <a:ext cx="6191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s-419" sz="2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Una variable de tipo puntero se indica con</a:t>
            </a:r>
            <a:r>
              <a:rPr b="0" i="0" lang="es-419" sz="21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0" i="0" lang="es-419" sz="21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419" sz="2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ocupa </a:t>
            </a:r>
            <a:r>
              <a:rPr lang="es-419" sz="21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s-419" sz="2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bytes de memoria (stack) para su representación interna en </a:t>
            </a:r>
            <a:r>
              <a:rPr lang="es-419" sz="2100">
                <a:latin typeface="Calibri"/>
                <a:ea typeface="Calibri"/>
                <a:cs typeface="Calibri"/>
                <a:sym typeface="Calibri"/>
              </a:rPr>
              <a:t>C++</a:t>
            </a:r>
            <a:r>
              <a:rPr b="0" i="0" lang="es-419" sz="2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/>
          </a:p>
        </p:txBody>
      </p:sp>
      <p:sp>
        <p:nvSpPr>
          <p:cNvPr id="203" name="Google Shape;203;p20"/>
          <p:cNvSpPr txBox="1"/>
          <p:nvPr/>
        </p:nvSpPr>
        <p:spPr>
          <a:xfrm rot="-1304352">
            <a:off x="264122" y="3510199"/>
            <a:ext cx="1795712" cy="903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se declara?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20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- Declaración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 rot="-180015">
            <a:off x="64287" y="2800698"/>
            <a:ext cx="4682819" cy="145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Puede ser </a:t>
            </a:r>
            <a:r>
              <a:rPr b="1" i="0" lang="es-419" sz="36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cualquiera</a:t>
            </a:r>
            <a:r>
              <a:rPr b="1" i="0" lang="es-419" sz="32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de los tipos de datos que hemos visto hasta el momento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211137" y="1221581"/>
            <a:ext cx="89742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t/>
            </a:r>
            <a:endParaRPr/>
          </a:p>
          <a:p>
            <a:pPr indent="-319087" lvl="0" marL="3190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rPr b="1" i="0" lang="es-419" sz="3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s-419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tipoDeDato* nombrePuntero;</a:t>
            </a:r>
            <a:endParaRPr/>
          </a:p>
        </p:txBody>
      </p:sp>
      <p:cxnSp>
        <p:nvCxnSpPr>
          <p:cNvPr id="213" name="Google Shape;213;p21"/>
          <p:cNvCxnSpPr/>
          <p:nvPr/>
        </p:nvCxnSpPr>
        <p:spPr>
          <a:xfrm flipH="1" rot="10800000">
            <a:off x="1374725" y="2092503"/>
            <a:ext cx="1062000" cy="958500"/>
          </a:xfrm>
          <a:prstGeom prst="straightConnector1">
            <a:avLst/>
          </a:prstGeom>
          <a:noFill/>
          <a:ln cap="flat" cmpd="sng" w="57150">
            <a:solidFill>
              <a:srgbClr val="A5C24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14" name="Google Shape;214;p21"/>
          <p:cNvSpPr txBox="1"/>
          <p:nvPr/>
        </p:nvSpPr>
        <p:spPr>
          <a:xfrm rot="-180094">
            <a:off x="5913330" y="4104739"/>
            <a:ext cx="2738557" cy="584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4000"/>
              <a:buFont typeface="Architects Daughter"/>
              <a:buNone/>
            </a:pPr>
            <a:r>
              <a:rPr b="1" i="0" lang="es-419" sz="40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Ejemplos?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21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- Declaración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 rot="-180094">
            <a:off x="6037124" y="871947"/>
            <a:ext cx="2738557" cy="846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4000"/>
              <a:buFont typeface="Architects Daughter"/>
              <a:buNone/>
            </a:pPr>
            <a:r>
              <a:rPr b="1" i="0" lang="es-419" sz="40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Otros ejemplos?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222250" y="1098947"/>
            <a:ext cx="6108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t/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int* pun</a:t>
            </a: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num</a:t>
            </a: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22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22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7" name="Google Shape;227;p22"/>
          <p:cNvGrpSpPr/>
          <p:nvPr/>
        </p:nvGrpSpPr>
        <p:grpSpPr>
          <a:xfrm>
            <a:off x="6032516" y="2303812"/>
            <a:ext cx="2611543" cy="2451384"/>
            <a:chOff x="571500" y="1131590"/>
            <a:chExt cx="1643100" cy="3357600"/>
          </a:xfrm>
        </p:grpSpPr>
        <p:sp>
          <p:nvSpPr>
            <p:cNvPr id="228" name="Google Shape;228;p22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9" name="Google Shape;229;p22"/>
            <p:cNvCxnSpPr/>
            <p:nvPr/>
          </p:nvCxnSpPr>
          <p:spPr>
            <a:xfrm>
              <a:off x="571500" y="2074121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30" name="Google Shape;230;p22"/>
            <p:cNvCxnSpPr/>
            <p:nvPr/>
          </p:nvCxnSpPr>
          <p:spPr>
            <a:xfrm>
              <a:off x="571500" y="3714582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231" name="Google Shape;231;p22"/>
          <p:cNvSpPr txBox="1"/>
          <p:nvPr/>
        </p:nvSpPr>
        <p:spPr>
          <a:xfrm>
            <a:off x="6756400" y="4779169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357687" y="3214688"/>
            <a:ext cx="1554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Estática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357687" y="4179094"/>
            <a:ext cx="155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Calibri"/>
              <a:buNone/>
            </a:pPr>
            <a:r>
              <a:rPr b="1" i="0" lang="es-419" sz="2400" u="none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Dinámica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402387" y="3071813"/>
            <a:ext cx="2006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num: 536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384925" y="3654028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pun: ?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- Declaración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55575" y="753665"/>
            <a:ext cx="6156300" cy="38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int* pEntero;         // Puntero a un entero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float* pFlotante;     // Puntero a un flotante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char* pCaracter;      // Puntero a un caracter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double* pDouble;      // Puntero a un double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Persona {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nombre;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edad;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b="0" i="0" lang="es-419" sz="19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	 </a:t>
            </a:r>
            <a:endParaRPr sz="900"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Persona* ptr; // Puntero a struct Persona</a:t>
            </a:r>
            <a:endParaRPr sz="900"/>
          </a:p>
        </p:txBody>
      </p:sp>
      <p:sp>
        <p:nvSpPr>
          <p:cNvPr id="243" name="Google Shape;243;p23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p23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- Memoria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468312" y="844153"/>
            <a:ext cx="381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PUNTERO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4643437" y="858440"/>
            <a:ext cx="432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REFERENCIADA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250825" y="2507456"/>
            <a:ext cx="4321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variable de tipo puntero ocupa una cantidad de memoria fija, independiente del tipo de dato al que apunta.</a:t>
            </a:r>
            <a:endParaRPr sz="1100"/>
          </a:p>
        </p:txBody>
      </p:sp>
      <p:sp>
        <p:nvSpPr>
          <p:cNvPr id="254" name="Google Shape;254;p24"/>
          <p:cNvSpPr txBox="1"/>
          <p:nvPr/>
        </p:nvSpPr>
        <p:spPr>
          <a:xfrm>
            <a:off x="5003800" y="2507456"/>
            <a:ext cx="3960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dato referenciado o apuntado, como los ejemplos vistos, no tienen memoria asignada, o lo que es lo mismo no existe inicialmente espacio reservado en memoria para este dato.</a:t>
            </a:r>
            <a:endParaRPr sz="1100"/>
          </a:p>
        </p:txBody>
      </p:sp>
      <p:sp>
        <p:nvSpPr>
          <p:cNvPr id="255" name="Google Shape;255;p24"/>
          <p:cNvSpPr txBox="1"/>
          <p:nvPr/>
        </p:nvSpPr>
        <p:spPr>
          <a:xfrm>
            <a:off x="250825" y="3477040"/>
            <a:ext cx="4321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variable de tipo puntero puede reservar y liberar memoria durante la ejecución de un programa.</a:t>
            </a:r>
            <a:endParaRPr sz="1100"/>
          </a:p>
        </p:txBody>
      </p:sp>
      <p:sp>
        <p:nvSpPr>
          <p:cNvPr id="256" name="Google Shape;256;p24"/>
          <p:cNvSpPr txBox="1"/>
          <p:nvPr/>
        </p:nvSpPr>
        <p:spPr>
          <a:xfrm rot="-180266">
            <a:off x="3023635" y="4076298"/>
            <a:ext cx="3457152" cy="892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chitects Daughter"/>
              <a:buNone/>
            </a:pPr>
            <a:r>
              <a:rPr b="1" i="0" lang="es-419" sz="3100" u="none">
                <a:solidFill>
                  <a:srgbClr val="08509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Operaciones para el tipo puntero?</a:t>
            </a:r>
            <a:endParaRPr sz="900">
              <a:solidFill>
                <a:srgbClr val="085091"/>
              </a:solidFill>
            </a:endParaRPr>
          </a:p>
        </p:txBody>
      </p:sp>
      <p:sp>
        <p:nvSpPr>
          <p:cNvPr id="257" name="Google Shape;257;p24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24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950912" y="1285875"/>
            <a:ext cx="2232000" cy="1188300"/>
          </a:xfrm>
          <a:prstGeom prst="rightArrow">
            <a:avLst>
              <a:gd fmla="val 13934" name="adj1"/>
              <a:gd fmla="val 50000" name="adj2"/>
            </a:avLst>
          </a:prstGeom>
          <a:solidFill>
            <a:srgbClr val="FFFF66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0" name="Google Shape;260;p24"/>
          <p:cNvSpPr/>
          <p:nvPr/>
        </p:nvSpPr>
        <p:spPr>
          <a:xfrm flipH="1">
            <a:off x="5697562" y="1300163"/>
            <a:ext cx="2232000" cy="1188300"/>
          </a:xfrm>
          <a:prstGeom prst="rightArrow">
            <a:avLst>
              <a:gd fmla="val 13934" name="adj1"/>
              <a:gd fmla="val 50000" name="adj2"/>
            </a:avLst>
          </a:prstGeom>
          <a:solidFill>
            <a:srgbClr val="FF5050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860000">
            <a:off x="6086852" y="3220640"/>
            <a:ext cx="2038350" cy="135612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- Operaciones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214312" y="1182290"/>
            <a:ext cx="7561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una variable puntero.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Destrucción de una variable puntero.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Asignación entre variables puntero.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Asignación de un valor al contenido de una variable puntero.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Comparación de una variable puntero</a:t>
            </a:r>
            <a:endParaRPr sz="800"/>
          </a:p>
        </p:txBody>
      </p:sp>
      <p:sp>
        <p:nvSpPr>
          <p:cNvPr id="269" name="Google Shape;269;p25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p25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0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– Operaciones - Creación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79375" y="844153"/>
            <a:ext cx="8850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Creación de una variable puntero:</a:t>
            </a:r>
            <a:r>
              <a:rPr b="1" i="0" lang="es-419" sz="28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</a:t>
            </a:r>
            <a:r>
              <a:rPr b="1" i="0" lang="es-419" sz="28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new (variable punetero)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188912" y="1329928"/>
            <a:ext cx="46086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int* p;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228600" y="3424250"/>
            <a:ext cx="318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 = new int;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80" name="Google Shape;280;p26"/>
          <p:cNvGrpSpPr/>
          <p:nvPr/>
        </p:nvGrpSpPr>
        <p:grpSpPr>
          <a:xfrm>
            <a:off x="5232416" y="1869309"/>
            <a:ext cx="2611543" cy="2912382"/>
            <a:chOff x="571500" y="1131590"/>
            <a:chExt cx="1643100" cy="3357600"/>
          </a:xfrm>
        </p:grpSpPr>
        <p:sp>
          <p:nvSpPr>
            <p:cNvPr id="281" name="Google Shape;281;p26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82" name="Google Shape;282;p26"/>
            <p:cNvCxnSpPr/>
            <p:nvPr/>
          </p:nvCxnSpPr>
          <p:spPr>
            <a:xfrm>
              <a:off x="571500" y="2074618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3" name="Google Shape;283;p26"/>
            <p:cNvCxnSpPr/>
            <p:nvPr/>
          </p:nvCxnSpPr>
          <p:spPr>
            <a:xfrm>
              <a:off x="571500" y="3248255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284" name="Google Shape;284;p26"/>
          <p:cNvSpPr txBox="1"/>
          <p:nvPr/>
        </p:nvSpPr>
        <p:spPr>
          <a:xfrm>
            <a:off x="6084887" y="4783931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5600700" y="2638425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num: 536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583237" y="3219450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7821612" y="4020740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7818437" y="3669506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FAFA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5232400" y="3989784"/>
            <a:ext cx="2611500" cy="585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????</a:t>
            </a:r>
            <a:endParaRPr/>
          </a:p>
        </p:txBody>
      </p:sp>
      <p:grpSp>
        <p:nvGrpSpPr>
          <p:cNvPr id="290" name="Google Shape;290;p26"/>
          <p:cNvGrpSpPr/>
          <p:nvPr/>
        </p:nvGrpSpPr>
        <p:grpSpPr>
          <a:xfrm>
            <a:off x="4792560" y="3479975"/>
            <a:ext cx="715886" cy="765573"/>
            <a:chOff x="4792576" y="4640415"/>
            <a:chExt cx="715528" cy="1020900"/>
          </a:xfrm>
        </p:grpSpPr>
        <p:cxnSp>
          <p:nvCxnSpPr>
            <p:cNvPr id="291" name="Google Shape;291;p26"/>
            <p:cNvCxnSpPr/>
            <p:nvPr/>
          </p:nvCxnSpPr>
          <p:spPr>
            <a:xfrm rot="10800000">
              <a:off x="4797404" y="4653116"/>
              <a:ext cx="7107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2" name="Google Shape;292;p26"/>
            <p:cNvCxnSpPr/>
            <p:nvPr/>
          </p:nvCxnSpPr>
          <p:spPr>
            <a:xfrm flipH="1">
              <a:off x="4792576" y="4640415"/>
              <a:ext cx="17400" cy="102090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3" name="Google Shape;293;p26"/>
            <p:cNvCxnSpPr/>
            <p:nvPr/>
          </p:nvCxnSpPr>
          <p:spPr>
            <a:xfrm rot="10800000">
              <a:off x="4795730" y="5639021"/>
              <a:ext cx="7092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</p:grpSp>
      <p:sp>
        <p:nvSpPr>
          <p:cNvPr id="294" name="Google Shape;294;p26"/>
          <p:cNvSpPr txBox="1"/>
          <p:nvPr/>
        </p:nvSpPr>
        <p:spPr>
          <a:xfrm>
            <a:off x="6227762" y="3253978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5943600" y="3280171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7" name="Google Shape;297;p26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/>
          <p:nvPr/>
        </p:nvSpPr>
        <p:spPr>
          <a:xfrm>
            <a:off x="0" y="160734"/>
            <a:ext cx="8702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– Operaciones </a:t>
            </a:r>
            <a:r>
              <a:rPr b="1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Eliminación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79375" y="844153"/>
            <a:ext cx="8991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Eliminación de una variable puntero:</a:t>
            </a:r>
            <a:r>
              <a:rPr b="1" i="0" lang="es-419" sz="26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</a:t>
            </a:r>
            <a:r>
              <a:rPr b="1" i="0" lang="es-419" sz="26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dispose(variable punetero)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188912" y="1329928"/>
            <a:ext cx="46086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t/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t/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int* p;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228600" y="3202775"/>
            <a:ext cx="30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s-419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 = new int;</a:t>
            </a:r>
            <a:endParaRPr/>
          </a:p>
        </p:txBody>
      </p:sp>
      <p:grpSp>
        <p:nvGrpSpPr>
          <p:cNvPr id="306" name="Google Shape;306;p27"/>
          <p:cNvGrpSpPr/>
          <p:nvPr/>
        </p:nvGrpSpPr>
        <p:grpSpPr>
          <a:xfrm>
            <a:off x="5232416" y="1869309"/>
            <a:ext cx="2611543" cy="2912382"/>
            <a:chOff x="571500" y="1131590"/>
            <a:chExt cx="1643100" cy="3357600"/>
          </a:xfrm>
        </p:grpSpPr>
        <p:sp>
          <p:nvSpPr>
            <p:cNvPr id="307" name="Google Shape;307;p27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08" name="Google Shape;308;p27"/>
            <p:cNvCxnSpPr/>
            <p:nvPr/>
          </p:nvCxnSpPr>
          <p:spPr>
            <a:xfrm>
              <a:off x="571500" y="2074618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9" name="Google Shape;309;p27"/>
            <p:cNvCxnSpPr/>
            <p:nvPr/>
          </p:nvCxnSpPr>
          <p:spPr>
            <a:xfrm>
              <a:off x="571500" y="3248255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310" name="Google Shape;310;p27"/>
          <p:cNvSpPr txBox="1"/>
          <p:nvPr/>
        </p:nvSpPr>
        <p:spPr>
          <a:xfrm>
            <a:off x="6084887" y="4783931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5583237" y="3219450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7821612" y="4020740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7818437" y="3669506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FAFA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5232400" y="3989784"/>
            <a:ext cx="2611500" cy="585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????</a:t>
            </a:r>
            <a:endParaRPr/>
          </a:p>
        </p:txBody>
      </p:sp>
      <p:grpSp>
        <p:nvGrpSpPr>
          <p:cNvPr id="315" name="Google Shape;315;p27"/>
          <p:cNvGrpSpPr/>
          <p:nvPr/>
        </p:nvGrpSpPr>
        <p:grpSpPr>
          <a:xfrm>
            <a:off x="4792560" y="3479975"/>
            <a:ext cx="715886" cy="765573"/>
            <a:chOff x="4792576" y="4640415"/>
            <a:chExt cx="715528" cy="1020900"/>
          </a:xfrm>
        </p:grpSpPr>
        <p:cxnSp>
          <p:nvCxnSpPr>
            <p:cNvPr id="316" name="Google Shape;316;p27"/>
            <p:cNvCxnSpPr/>
            <p:nvPr/>
          </p:nvCxnSpPr>
          <p:spPr>
            <a:xfrm rot="10800000">
              <a:off x="4797404" y="4653116"/>
              <a:ext cx="7107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7" name="Google Shape;317;p27"/>
            <p:cNvCxnSpPr/>
            <p:nvPr/>
          </p:nvCxnSpPr>
          <p:spPr>
            <a:xfrm flipH="1">
              <a:off x="4792576" y="4640415"/>
              <a:ext cx="17400" cy="102090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8" name="Google Shape;318;p27"/>
            <p:cNvCxnSpPr/>
            <p:nvPr/>
          </p:nvCxnSpPr>
          <p:spPr>
            <a:xfrm rot="10800000">
              <a:off x="4795730" y="5639021"/>
              <a:ext cx="7092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</p:grpSp>
      <p:sp>
        <p:nvSpPr>
          <p:cNvPr id="319" name="Google Shape;319;p27"/>
          <p:cNvSpPr txBox="1"/>
          <p:nvPr/>
        </p:nvSpPr>
        <p:spPr>
          <a:xfrm>
            <a:off x="6180137" y="3268265"/>
            <a:ext cx="125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193675" y="4174331"/>
            <a:ext cx="294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s-419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delete p;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6007100" y="3261121"/>
            <a:ext cx="130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????</a:t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3" name="Google Shape;323;p27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42875" y="107156"/>
            <a:ext cx="77868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– Operaciones – 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Eliminación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79375" y="844153"/>
            <a:ext cx="899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Eliminación de una variable puntero:</a:t>
            </a:r>
            <a:r>
              <a:rPr b="1" i="0" lang="es-419" sz="26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</a:t>
            </a:r>
            <a:r>
              <a:rPr b="1" i="0" lang="es-419" sz="26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p=n</a:t>
            </a:r>
            <a:r>
              <a:rPr b="1" lang="es-419" sz="2600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</a:t>
            </a:r>
            <a:r>
              <a:rPr b="1" i="0" lang="es-419" sz="26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88912" y="1329928"/>
            <a:ext cx="46086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t/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int* p;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228600" y="3202775"/>
            <a:ext cx="301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s-419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 = new int;</a:t>
            </a:r>
            <a:endParaRPr/>
          </a:p>
        </p:txBody>
      </p:sp>
      <p:grpSp>
        <p:nvGrpSpPr>
          <p:cNvPr id="333" name="Google Shape;333;p28"/>
          <p:cNvGrpSpPr/>
          <p:nvPr/>
        </p:nvGrpSpPr>
        <p:grpSpPr>
          <a:xfrm>
            <a:off x="5232416" y="1869309"/>
            <a:ext cx="2611543" cy="2912382"/>
            <a:chOff x="571500" y="1131590"/>
            <a:chExt cx="1643100" cy="3357600"/>
          </a:xfrm>
        </p:grpSpPr>
        <p:sp>
          <p:nvSpPr>
            <p:cNvPr id="334" name="Google Shape;334;p28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35" name="Google Shape;335;p28"/>
            <p:cNvCxnSpPr/>
            <p:nvPr/>
          </p:nvCxnSpPr>
          <p:spPr>
            <a:xfrm>
              <a:off x="571500" y="2074618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6" name="Google Shape;336;p28"/>
            <p:cNvCxnSpPr/>
            <p:nvPr/>
          </p:nvCxnSpPr>
          <p:spPr>
            <a:xfrm>
              <a:off x="571500" y="3248255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337" name="Google Shape;337;p28"/>
          <p:cNvSpPr txBox="1"/>
          <p:nvPr/>
        </p:nvSpPr>
        <p:spPr>
          <a:xfrm>
            <a:off x="6084887" y="4783931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5583237" y="3219450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7821612" y="4020740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7818437" y="3669506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FAFA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5232400" y="3989784"/>
            <a:ext cx="2611500" cy="585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????</a:t>
            </a:r>
            <a:endParaRPr/>
          </a:p>
        </p:txBody>
      </p:sp>
      <p:grpSp>
        <p:nvGrpSpPr>
          <p:cNvPr id="342" name="Google Shape;342;p28"/>
          <p:cNvGrpSpPr/>
          <p:nvPr/>
        </p:nvGrpSpPr>
        <p:grpSpPr>
          <a:xfrm>
            <a:off x="4792560" y="3479975"/>
            <a:ext cx="715886" cy="765573"/>
            <a:chOff x="4792576" y="4640415"/>
            <a:chExt cx="715528" cy="1020900"/>
          </a:xfrm>
        </p:grpSpPr>
        <p:cxnSp>
          <p:nvCxnSpPr>
            <p:cNvPr id="343" name="Google Shape;343;p28"/>
            <p:cNvCxnSpPr/>
            <p:nvPr/>
          </p:nvCxnSpPr>
          <p:spPr>
            <a:xfrm rot="10800000">
              <a:off x="4797404" y="4653116"/>
              <a:ext cx="7107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4" name="Google Shape;344;p28"/>
            <p:cNvCxnSpPr/>
            <p:nvPr/>
          </p:nvCxnSpPr>
          <p:spPr>
            <a:xfrm flipH="1">
              <a:off x="4792576" y="4640415"/>
              <a:ext cx="17400" cy="102090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5" name="Google Shape;345;p28"/>
            <p:cNvCxnSpPr/>
            <p:nvPr/>
          </p:nvCxnSpPr>
          <p:spPr>
            <a:xfrm rot="10800000">
              <a:off x="4795730" y="5639021"/>
              <a:ext cx="7092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</p:grpSp>
      <p:sp>
        <p:nvSpPr>
          <p:cNvPr id="346" name="Google Shape;346;p28"/>
          <p:cNvSpPr txBox="1"/>
          <p:nvPr/>
        </p:nvSpPr>
        <p:spPr>
          <a:xfrm>
            <a:off x="6180137" y="3268265"/>
            <a:ext cx="125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193675" y="4174325"/>
            <a:ext cx="32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int* p = NULL;</a:t>
            </a:r>
            <a:endParaRPr sz="1000"/>
          </a:p>
        </p:txBody>
      </p:sp>
      <p:sp>
        <p:nvSpPr>
          <p:cNvPr id="348" name="Google Shape;348;p28"/>
          <p:cNvSpPr txBox="1"/>
          <p:nvPr/>
        </p:nvSpPr>
        <p:spPr>
          <a:xfrm>
            <a:off x="6019800" y="3244453"/>
            <a:ext cx="130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????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 rot="-1011550">
            <a:off x="2245604" y="2108844"/>
            <a:ext cx="2583957" cy="7649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3200"/>
              <a:buFont typeface="Architects Daughter"/>
              <a:buNone/>
            </a:pPr>
            <a:r>
              <a:rPr b="1" i="0" lang="es-419" sz="29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Diferencia n</a:t>
            </a:r>
            <a:r>
              <a:rPr b="1" lang="es-419" sz="2900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</a:t>
            </a:r>
            <a:r>
              <a:rPr b="1" i="0" lang="es-419" sz="29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 y </a:t>
            </a:r>
            <a:r>
              <a:rPr b="1" lang="es-419" sz="2900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delete</a:t>
            </a:r>
            <a:r>
              <a:rPr b="1" i="0" lang="es-419" sz="29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?</a:t>
            </a:r>
            <a:endParaRPr sz="1100"/>
          </a:p>
        </p:txBody>
      </p:sp>
      <p:sp>
        <p:nvSpPr>
          <p:cNvPr id="350" name="Google Shape;350;p28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p28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44450" y="14288"/>
            <a:ext cx="87042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– Operaciones -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6357937" y="857250"/>
            <a:ext cx="200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rPr b="0" i="0" lang="es-419" sz="3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s-419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419" sz="3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</a:t>
            </a:r>
            <a:r>
              <a:rPr lang="es-419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i="0" lang="es-419" sz="3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l;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714375" y="857250"/>
            <a:ext cx="330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rPr lang="es-419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 p;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4714875" y="3000375"/>
            <a:ext cx="4321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Libera la conexión que existe entre la variable y la posición de memoria.</a:t>
            </a:r>
            <a:endParaRPr sz="9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s-419" sz="2100" u="none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memoria</a:t>
            </a:r>
            <a:r>
              <a:rPr b="0" i="0" lang="es-419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sigue </a:t>
            </a:r>
            <a:r>
              <a:rPr b="1" i="0" lang="es-419" sz="2100" u="none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ocupada</a:t>
            </a:r>
            <a:r>
              <a:rPr b="0" i="0" lang="es-419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memoria no se puede referenciar ni utilizar.</a:t>
            </a:r>
            <a:endParaRPr sz="900"/>
          </a:p>
        </p:txBody>
      </p:sp>
      <p:sp>
        <p:nvSpPr>
          <p:cNvPr id="361" name="Google Shape;361;p29"/>
          <p:cNvSpPr txBox="1"/>
          <p:nvPr/>
        </p:nvSpPr>
        <p:spPr>
          <a:xfrm>
            <a:off x="107950" y="3011090"/>
            <a:ext cx="4365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Libera la conexión que existe entre la variable y la posición de memoria.</a:t>
            </a:r>
            <a:endParaRPr sz="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chitects Daughter"/>
              <a:buNone/>
            </a:pPr>
            <a:r>
              <a:rPr b="1" i="0" lang="es-419" sz="2000" u="none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Libera</a:t>
            </a:r>
            <a:r>
              <a:rPr b="0" i="0" lang="es-419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posición de </a:t>
            </a:r>
            <a:r>
              <a:rPr b="1" i="0" lang="es-419" sz="2000" u="none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memoria</a:t>
            </a:r>
            <a:r>
              <a:rPr b="0" i="0" lang="es-419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memoria liberada puede utilizarse en otro momento del programa.</a:t>
            </a:r>
            <a:endParaRPr sz="800"/>
          </a:p>
        </p:txBody>
      </p:sp>
      <p:sp>
        <p:nvSpPr>
          <p:cNvPr id="362" name="Google Shape;362;p29"/>
          <p:cNvSpPr/>
          <p:nvPr/>
        </p:nvSpPr>
        <p:spPr>
          <a:xfrm>
            <a:off x="714375" y="1690688"/>
            <a:ext cx="2232000" cy="1188300"/>
          </a:xfrm>
          <a:prstGeom prst="rightArrow">
            <a:avLst>
              <a:gd fmla="val 13934" name="adj1"/>
              <a:gd fmla="val 50000" name="adj2"/>
            </a:avLst>
          </a:prstGeom>
          <a:solidFill>
            <a:srgbClr val="FFFF66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3" name="Google Shape;363;p29"/>
          <p:cNvSpPr/>
          <p:nvPr/>
        </p:nvSpPr>
        <p:spPr>
          <a:xfrm flipH="1">
            <a:off x="6126187" y="1704975"/>
            <a:ext cx="2232000" cy="1188300"/>
          </a:xfrm>
          <a:prstGeom prst="rightArrow">
            <a:avLst>
              <a:gd fmla="val 13934" name="adj1"/>
              <a:gd fmla="val 50000" name="adj2"/>
            </a:avLst>
          </a:prstGeom>
          <a:solidFill>
            <a:srgbClr val="FF5050"/>
          </a:solidFill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4" name="Google Shape;364;p29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5" name="Google Shape;365;p29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371" name="Google Shape;371;p30"/>
          <p:cNvSpPr txBox="1"/>
          <p:nvPr/>
        </p:nvSpPr>
        <p:spPr>
          <a:xfrm>
            <a:off x="142875" y="107156"/>
            <a:ext cx="75009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– Operaciones – 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Asignación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79375" y="844153"/>
            <a:ext cx="830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Asignación de dos variables puntero:</a:t>
            </a:r>
            <a:r>
              <a:rPr b="1" i="0" lang="es-419" sz="28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</a:t>
            </a:r>
            <a:r>
              <a:rPr b="1" i="0" lang="es-419" sz="3600" u="none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=</a:t>
            </a:r>
            <a:endParaRPr/>
          </a:p>
        </p:txBody>
      </p:sp>
      <p:sp>
        <p:nvSpPr>
          <p:cNvPr id="373" name="Google Shape;373;p30"/>
          <p:cNvSpPr txBox="1"/>
          <p:nvPr/>
        </p:nvSpPr>
        <p:spPr>
          <a:xfrm>
            <a:off x="188912" y="1329928"/>
            <a:ext cx="46086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b="0" i="0" lang="es-419" sz="2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int* q;</a:t>
            </a:r>
            <a:r>
              <a:rPr b="0" i="0" lang="es-419" sz="2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b="0" i="0" lang="es-419" sz="2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int* p;</a:t>
            </a:r>
            <a:endParaRPr/>
          </a:p>
        </p:txBody>
      </p:sp>
      <p:sp>
        <p:nvSpPr>
          <p:cNvPr id="374" name="Google Shape;374;p30"/>
          <p:cNvSpPr txBox="1"/>
          <p:nvPr/>
        </p:nvSpPr>
        <p:spPr>
          <a:xfrm>
            <a:off x="228600" y="3424250"/>
            <a:ext cx="3159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s-419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 = new int;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b="0" i="0" lang="es-419" sz="2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lang="es-419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419" sz="2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t/>
            </a:r>
            <a:endParaRPr/>
          </a:p>
        </p:txBody>
      </p:sp>
      <p:grpSp>
        <p:nvGrpSpPr>
          <p:cNvPr id="375" name="Google Shape;375;p30"/>
          <p:cNvGrpSpPr/>
          <p:nvPr/>
        </p:nvGrpSpPr>
        <p:grpSpPr>
          <a:xfrm>
            <a:off x="5232416" y="1869309"/>
            <a:ext cx="2611543" cy="2912382"/>
            <a:chOff x="571500" y="1131590"/>
            <a:chExt cx="1643100" cy="3357600"/>
          </a:xfrm>
        </p:grpSpPr>
        <p:sp>
          <p:nvSpPr>
            <p:cNvPr id="376" name="Google Shape;376;p30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77" name="Google Shape;377;p30"/>
            <p:cNvCxnSpPr/>
            <p:nvPr/>
          </p:nvCxnSpPr>
          <p:spPr>
            <a:xfrm>
              <a:off x="571500" y="2074618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78" name="Google Shape;378;p30"/>
            <p:cNvCxnSpPr/>
            <p:nvPr/>
          </p:nvCxnSpPr>
          <p:spPr>
            <a:xfrm>
              <a:off x="571500" y="3248255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379" name="Google Shape;379;p30"/>
          <p:cNvSpPr txBox="1"/>
          <p:nvPr/>
        </p:nvSpPr>
        <p:spPr>
          <a:xfrm>
            <a:off x="6084887" y="4783931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5583237" y="3219450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7821612" y="4020740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7818437" y="3669506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FAFA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5232400" y="3989784"/>
            <a:ext cx="2611500" cy="585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????</a:t>
            </a:r>
            <a:endParaRPr/>
          </a:p>
        </p:txBody>
      </p:sp>
      <p:grpSp>
        <p:nvGrpSpPr>
          <p:cNvPr id="384" name="Google Shape;384;p30"/>
          <p:cNvGrpSpPr/>
          <p:nvPr/>
        </p:nvGrpSpPr>
        <p:grpSpPr>
          <a:xfrm>
            <a:off x="4792560" y="3479975"/>
            <a:ext cx="715886" cy="765573"/>
            <a:chOff x="4792576" y="4640415"/>
            <a:chExt cx="715528" cy="1020900"/>
          </a:xfrm>
        </p:grpSpPr>
        <p:cxnSp>
          <p:nvCxnSpPr>
            <p:cNvPr id="385" name="Google Shape;385;p30"/>
            <p:cNvCxnSpPr/>
            <p:nvPr/>
          </p:nvCxnSpPr>
          <p:spPr>
            <a:xfrm rot="10800000">
              <a:off x="4797404" y="4653116"/>
              <a:ext cx="7107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6" name="Google Shape;386;p30"/>
            <p:cNvCxnSpPr/>
            <p:nvPr/>
          </p:nvCxnSpPr>
          <p:spPr>
            <a:xfrm flipH="1">
              <a:off x="4792576" y="4640415"/>
              <a:ext cx="17400" cy="102090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7" name="Google Shape;387;p30"/>
            <p:cNvCxnSpPr/>
            <p:nvPr/>
          </p:nvCxnSpPr>
          <p:spPr>
            <a:xfrm rot="10800000">
              <a:off x="4795730" y="5639021"/>
              <a:ext cx="7092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</p:grpSp>
      <p:sp>
        <p:nvSpPr>
          <p:cNvPr id="388" name="Google Shape;388;p30"/>
          <p:cNvSpPr txBox="1"/>
          <p:nvPr/>
        </p:nvSpPr>
        <p:spPr>
          <a:xfrm>
            <a:off x="6227762" y="3253978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389" name="Google Shape;389;p30"/>
          <p:cNvSpPr txBox="1"/>
          <p:nvPr/>
        </p:nvSpPr>
        <p:spPr>
          <a:xfrm>
            <a:off x="6027737" y="2814638"/>
            <a:ext cx="102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5583237" y="2769394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5959475" y="3271838"/>
            <a:ext cx="102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grpSp>
        <p:nvGrpSpPr>
          <p:cNvPr id="392" name="Google Shape;392;p30"/>
          <p:cNvGrpSpPr/>
          <p:nvPr/>
        </p:nvGrpSpPr>
        <p:grpSpPr>
          <a:xfrm>
            <a:off x="4324249" y="3040788"/>
            <a:ext cx="715885" cy="1350242"/>
            <a:chOff x="4792577" y="4640415"/>
            <a:chExt cx="715527" cy="1020900"/>
          </a:xfrm>
        </p:grpSpPr>
        <p:cxnSp>
          <p:nvCxnSpPr>
            <p:cNvPr id="393" name="Google Shape;393;p30"/>
            <p:cNvCxnSpPr/>
            <p:nvPr/>
          </p:nvCxnSpPr>
          <p:spPr>
            <a:xfrm rot="10800000">
              <a:off x="4797404" y="4653018"/>
              <a:ext cx="7107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4" name="Google Shape;394;p30"/>
            <p:cNvCxnSpPr/>
            <p:nvPr/>
          </p:nvCxnSpPr>
          <p:spPr>
            <a:xfrm flipH="1">
              <a:off x="4792577" y="4640415"/>
              <a:ext cx="17400" cy="102090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5" name="Google Shape;395;p30"/>
            <p:cNvCxnSpPr/>
            <p:nvPr/>
          </p:nvCxnSpPr>
          <p:spPr>
            <a:xfrm rot="10800000">
              <a:off x="4795730" y="5638743"/>
              <a:ext cx="7092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</p:grpSp>
      <p:sp>
        <p:nvSpPr>
          <p:cNvPr id="396" name="Google Shape;396;p30"/>
          <p:cNvSpPr txBox="1"/>
          <p:nvPr/>
        </p:nvSpPr>
        <p:spPr>
          <a:xfrm>
            <a:off x="6249987" y="2813447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397" name="Google Shape;397;p30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8" name="Google Shape;398;p30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-365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– Operaciones – 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/>
          </a:p>
        </p:txBody>
      </p:sp>
      <p:sp>
        <p:nvSpPr>
          <p:cNvPr id="405" name="Google Shape;405;p31"/>
          <p:cNvSpPr txBox="1"/>
          <p:nvPr/>
        </p:nvSpPr>
        <p:spPr>
          <a:xfrm>
            <a:off x="79375" y="750094"/>
            <a:ext cx="8309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Para acceder al contenido de una variable puntero:</a:t>
            </a:r>
            <a:r>
              <a:rPr b="1" i="0" lang="es-419" sz="28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</a:t>
            </a:r>
            <a:r>
              <a:rPr b="1" lang="es-419" sz="3400">
                <a:solidFill>
                  <a:srgbClr val="FF5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*</a:t>
            </a: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188900" y="1796801"/>
            <a:ext cx="46086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t/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int* p;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188912" y="3274219"/>
            <a:ext cx="4608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s-419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 = new int;</a:t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4070350" y="1300163"/>
            <a:ext cx="4392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chitects Daughter"/>
              <a:buNone/>
            </a:pPr>
            <a:r>
              <a:rPr b="1" i="0" lang="es-419" sz="1600" u="none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La variable puntero debe tener una dirección asignada para poder darle contenido</a:t>
            </a:r>
            <a:endParaRPr sz="800"/>
          </a:p>
        </p:txBody>
      </p:sp>
      <p:sp>
        <p:nvSpPr>
          <p:cNvPr id="409" name="Google Shape;409;p31"/>
          <p:cNvSpPr txBox="1"/>
          <p:nvPr/>
        </p:nvSpPr>
        <p:spPr>
          <a:xfrm>
            <a:off x="1552575" y="4298156"/>
            <a:ext cx="3927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chitects Daughter"/>
              <a:buNone/>
            </a:pPr>
            <a:r>
              <a:rPr b="1" i="0" lang="es-419" sz="1600" u="none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Las operaciones permitidas para el contenido depende del tipo que se apunta</a:t>
            </a:r>
            <a:endParaRPr sz="800"/>
          </a:p>
        </p:txBody>
      </p:sp>
      <p:grpSp>
        <p:nvGrpSpPr>
          <p:cNvPr id="410" name="Google Shape;410;p31"/>
          <p:cNvGrpSpPr/>
          <p:nvPr/>
        </p:nvGrpSpPr>
        <p:grpSpPr>
          <a:xfrm>
            <a:off x="5699141" y="1869309"/>
            <a:ext cx="2611543" cy="2912382"/>
            <a:chOff x="571500" y="1131590"/>
            <a:chExt cx="1643100" cy="3357600"/>
          </a:xfrm>
        </p:grpSpPr>
        <p:sp>
          <p:nvSpPr>
            <p:cNvPr id="411" name="Google Shape;411;p31"/>
            <p:cNvSpPr txBox="1"/>
            <p:nvPr/>
          </p:nvSpPr>
          <p:spPr>
            <a:xfrm>
              <a:off x="571500" y="1131590"/>
              <a:ext cx="1643100" cy="3357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12" name="Google Shape;412;p31"/>
            <p:cNvCxnSpPr/>
            <p:nvPr/>
          </p:nvCxnSpPr>
          <p:spPr>
            <a:xfrm>
              <a:off x="571500" y="2074618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13" name="Google Shape;413;p31"/>
            <p:cNvCxnSpPr/>
            <p:nvPr/>
          </p:nvCxnSpPr>
          <p:spPr>
            <a:xfrm>
              <a:off x="571500" y="3248255"/>
              <a:ext cx="1643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414" name="Google Shape;414;p31"/>
          <p:cNvSpPr txBox="1"/>
          <p:nvPr/>
        </p:nvSpPr>
        <p:spPr>
          <a:xfrm>
            <a:off x="6551612" y="4783931"/>
            <a:ext cx="128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 P  U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6000750" y="3211115"/>
            <a:ext cx="20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8288337" y="4020740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417" name="Google Shape;417;p31"/>
          <p:cNvSpPr txBox="1"/>
          <p:nvPr/>
        </p:nvSpPr>
        <p:spPr>
          <a:xfrm>
            <a:off x="8285162" y="3669506"/>
            <a:ext cx="12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FAFA</a:t>
            </a:r>
            <a:endParaRPr/>
          </a:p>
        </p:txBody>
      </p:sp>
      <p:sp>
        <p:nvSpPr>
          <p:cNvPr id="418" name="Google Shape;418;p31"/>
          <p:cNvSpPr txBox="1"/>
          <p:nvPr/>
        </p:nvSpPr>
        <p:spPr>
          <a:xfrm>
            <a:off x="5699125" y="3989784"/>
            <a:ext cx="2611500" cy="585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????</a:t>
            </a:r>
            <a:endParaRPr/>
          </a:p>
        </p:txBody>
      </p:sp>
      <p:grpSp>
        <p:nvGrpSpPr>
          <p:cNvPr id="419" name="Google Shape;419;p31"/>
          <p:cNvGrpSpPr/>
          <p:nvPr/>
        </p:nvGrpSpPr>
        <p:grpSpPr>
          <a:xfrm>
            <a:off x="5259285" y="3479975"/>
            <a:ext cx="715886" cy="765573"/>
            <a:chOff x="4792576" y="4640415"/>
            <a:chExt cx="715528" cy="1020900"/>
          </a:xfrm>
        </p:grpSpPr>
        <p:cxnSp>
          <p:nvCxnSpPr>
            <p:cNvPr id="420" name="Google Shape;420;p31"/>
            <p:cNvCxnSpPr/>
            <p:nvPr/>
          </p:nvCxnSpPr>
          <p:spPr>
            <a:xfrm rot="10800000">
              <a:off x="4797404" y="4653116"/>
              <a:ext cx="7107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21" name="Google Shape;421;p31"/>
            <p:cNvCxnSpPr/>
            <p:nvPr/>
          </p:nvCxnSpPr>
          <p:spPr>
            <a:xfrm flipH="1">
              <a:off x="4792576" y="4640415"/>
              <a:ext cx="17400" cy="102090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22" name="Google Shape;422;p31"/>
            <p:cNvCxnSpPr/>
            <p:nvPr/>
          </p:nvCxnSpPr>
          <p:spPr>
            <a:xfrm rot="10800000">
              <a:off x="4795730" y="5639021"/>
              <a:ext cx="709200" cy="0"/>
            </a:xfrm>
            <a:prstGeom prst="straightConnector1">
              <a:avLst/>
            </a:prstGeom>
            <a:noFill/>
            <a:ln cap="flat" cmpd="sng" w="57150">
              <a:solidFill>
                <a:srgbClr val="7CCA62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</p:grpSp>
      <p:sp>
        <p:nvSpPr>
          <p:cNvPr id="423" name="Google Shape;423;p31"/>
          <p:cNvSpPr txBox="1"/>
          <p:nvPr/>
        </p:nvSpPr>
        <p:spPr>
          <a:xfrm>
            <a:off x="6646862" y="3268265"/>
            <a:ext cx="125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FAFB</a:t>
            </a:r>
            <a:endParaRPr/>
          </a:p>
        </p:txBody>
      </p:sp>
      <p:sp>
        <p:nvSpPr>
          <p:cNvPr id="424" name="Google Shape;424;p31"/>
          <p:cNvSpPr txBox="1"/>
          <p:nvPr/>
        </p:nvSpPr>
        <p:spPr>
          <a:xfrm>
            <a:off x="6416675" y="3252788"/>
            <a:ext cx="130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????</a:t>
            </a:r>
            <a:endParaRPr/>
          </a:p>
        </p:txBody>
      </p:sp>
      <p:sp>
        <p:nvSpPr>
          <p:cNvPr id="425" name="Google Shape;425;p31"/>
          <p:cNvSpPr txBox="1"/>
          <p:nvPr/>
        </p:nvSpPr>
        <p:spPr>
          <a:xfrm>
            <a:off x="519095" y="3919550"/>
            <a:ext cx="30003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s-419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*p = 123;</a:t>
            </a:r>
            <a:endParaRPr/>
          </a:p>
        </p:txBody>
      </p:sp>
      <p:sp>
        <p:nvSpPr>
          <p:cNvPr id="426" name="Google Shape;426;p31"/>
          <p:cNvSpPr txBox="1"/>
          <p:nvPr/>
        </p:nvSpPr>
        <p:spPr>
          <a:xfrm>
            <a:off x="5711825" y="3987403"/>
            <a:ext cx="2611500" cy="585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123</a:t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8" name="Google Shape;428;p31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2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434" name="Google Shape;434;p32"/>
          <p:cNvSpPr txBox="1"/>
          <p:nvPr/>
        </p:nvSpPr>
        <p:spPr>
          <a:xfrm>
            <a:off x="-36512" y="-20240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dato – Puntero – Operaciones -</a:t>
            </a:r>
            <a:endParaRPr/>
          </a:p>
        </p:txBody>
      </p:sp>
      <p:sp>
        <p:nvSpPr>
          <p:cNvPr id="435" name="Google Shape;435;p32"/>
          <p:cNvSpPr txBox="1"/>
          <p:nvPr/>
        </p:nvSpPr>
        <p:spPr>
          <a:xfrm>
            <a:off x="1806575" y="951309"/>
            <a:ext cx="7004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Operaciones:</a:t>
            </a:r>
            <a:endParaRPr/>
          </a:p>
        </p:txBody>
      </p:sp>
      <p:pic>
        <p:nvPicPr>
          <p:cNvPr id="436" name="Google Shape;43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953690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2"/>
          <p:cNvSpPr txBox="1"/>
          <p:nvPr/>
        </p:nvSpPr>
        <p:spPr>
          <a:xfrm>
            <a:off x="-36512" y="1832372"/>
            <a:ext cx="203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26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Repasamos</a:t>
            </a:r>
            <a:endParaRPr sz="1000"/>
          </a:p>
        </p:txBody>
      </p:sp>
      <p:sp>
        <p:nvSpPr>
          <p:cNvPr id="438" name="Google Shape;438;p32"/>
          <p:cNvSpPr txBox="1"/>
          <p:nvPr/>
        </p:nvSpPr>
        <p:spPr>
          <a:xfrm>
            <a:off x="2624137" y="1470422"/>
            <a:ext cx="6310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1" i="0" lang="es-419" sz="2600" u="none">
                <a:solidFill>
                  <a:srgbClr val="089CA3"/>
                </a:solidFill>
                <a:latin typeface="Calibri"/>
                <a:ea typeface="Calibri"/>
                <a:cs typeface="Calibri"/>
                <a:sym typeface="Calibri"/>
              </a:rPr>
              <a:t>(p = n</a:t>
            </a:r>
            <a:r>
              <a:rPr b="1" lang="es-419" sz="2600">
                <a:solidFill>
                  <a:srgbClr val="089CA3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i="0" lang="es-419" sz="2600" u="none">
                <a:solidFill>
                  <a:srgbClr val="089CA3"/>
                </a:solidFill>
                <a:latin typeface="Calibri"/>
                <a:ea typeface="Calibri"/>
                <a:cs typeface="Calibri"/>
                <a:sym typeface="Calibri"/>
              </a:rPr>
              <a:t>l) </a:t>
            </a:r>
            <a:r>
              <a:rPr b="0" i="0" lang="es-419" sz="2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compara si el puntero p no tiene dirección asignada.</a:t>
            </a:r>
            <a:endParaRPr/>
          </a:p>
        </p:txBody>
      </p:sp>
      <p:sp>
        <p:nvSpPr>
          <p:cNvPr id="439" name="Google Shape;439;p32"/>
          <p:cNvSpPr/>
          <p:nvPr/>
        </p:nvSpPr>
        <p:spPr>
          <a:xfrm>
            <a:off x="2195512" y="1582340"/>
            <a:ext cx="447600" cy="399000"/>
          </a:xfrm>
          <a:prstGeom prst="ellipse">
            <a:avLst/>
          </a:prstGeom>
          <a:solidFill>
            <a:srgbClr val="089CA3"/>
          </a:solidFill>
          <a:ln cap="flat" cmpd="sng" w="12700">
            <a:solidFill>
              <a:srgbClr val="089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0" name="Google Shape;440;p32"/>
          <p:cNvSpPr txBox="1"/>
          <p:nvPr/>
        </p:nvSpPr>
        <p:spPr>
          <a:xfrm>
            <a:off x="2624137" y="2441972"/>
            <a:ext cx="6310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1" i="0" lang="es-419" sz="2600" u="none">
                <a:solidFill>
                  <a:srgbClr val="089CA3"/>
                </a:solidFill>
                <a:latin typeface="Calibri"/>
                <a:ea typeface="Calibri"/>
                <a:cs typeface="Calibri"/>
                <a:sym typeface="Calibri"/>
              </a:rPr>
              <a:t>(p = q)</a:t>
            </a:r>
            <a:r>
              <a:rPr b="0" i="0" lang="es-419" sz="2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compara si los punteros p y q apuntan a la misma dirección de memoria.</a:t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2195512" y="2553890"/>
            <a:ext cx="447600" cy="399000"/>
          </a:xfrm>
          <a:prstGeom prst="ellipse">
            <a:avLst/>
          </a:prstGeom>
          <a:solidFill>
            <a:srgbClr val="089CA3"/>
          </a:solidFill>
          <a:ln cap="flat" cmpd="sng" w="12700">
            <a:solidFill>
              <a:srgbClr val="089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2" name="Google Shape;442;p32"/>
          <p:cNvSpPr txBox="1"/>
          <p:nvPr/>
        </p:nvSpPr>
        <p:spPr>
          <a:xfrm>
            <a:off x="2624137" y="3454003"/>
            <a:ext cx="6310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1" i="0" lang="es-419" sz="2600" u="none">
                <a:solidFill>
                  <a:srgbClr val="089CA3"/>
                </a:solidFill>
                <a:latin typeface="Calibri"/>
                <a:ea typeface="Calibri"/>
                <a:cs typeface="Calibri"/>
                <a:sym typeface="Calibri"/>
              </a:rPr>
              <a:t>(p</a:t>
            </a:r>
            <a:r>
              <a:rPr b="1" lang="es-419" sz="2600">
                <a:solidFill>
                  <a:srgbClr val="089CA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i="0" lang="es-419" sz="2600" u="none">
                <a:solidFill>
                  <a:srgbClr val="089CA3"/>
                </a:solidFill>
                <a:latin typeface="Calibri"/>
                <a:ea typeface="Calibri"/>
                <a:cs typeface="Calibri"/>
                <a:sym typeface="Calibri"/>
              </a:rPr>
              <a:t> = q</a:t>
            </a:r>
            <a:r>
              <a:rPr b="1" lang="es-419" sz="2600">
                <a:solidFill>
                  <a:srgbClr val="089CA3"/>
                </a:solidFill>
                <a:latin typeface="Calibri"/>
                <a:ea typeface="Calibri"/>
                <a:cs typeface="Calibri"/>
                <a:sym typeface="Calibri"/>
              </a:rPr>
              <a:t>*)</a:t>
            </a:r>
            <a:r>
              <a:rPr b="0" i="0" lang="es-419" sz="2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compara si los punteros p y q tienen el mismo contenido.</a:t>
            </a: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2195512" y="3565921"/>
            <a:ext cx="447600" cy="399000"/>
          </a:xfrm>
          <a:prstGeom prst="ellipse">
            <a:avLst/>
          </a:prstGeom>
          <a:solidFill>
            <a:srgbClr val="089CA3"/>
          </a:solidFill>
          <a:ln cap="flat" cmpd="sng" w="12700">
            <a:solidFill>
              <a:srgbClr val="089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" name="Google Shape;444;p32"/>
          <p:cNvSpPr/>
          <p:nvPr/>
        </p:nvSpPr>
        <p:spPr>
          <a:xfrm rot="-1608937">
            <a:off x="8021783" y="150375"/>
            <a:ext cx="460187" cy="294857"/>
          </a:xfrm>
          <a:prstGeom prst="rightArrow">
            <a:avLst>
              <a:gd fmla="val 13915" name="adj1"/>
              <a:gd fmla="val 50000" name="adj2"/>
            </a:avLst>
          </a:prstGeom>
          <a:solidFill>
            <a:srgbClr val="5FF3CA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5" name="Google Shape;445;p32"/>
          <p:cNvSpPr/>
          <p:nvPr/>
        </p:nvSpPr>
        <p:spPr>
          <a:xfrm rot="-9085704">
            <a:off x="8495254" y="162058"/>
            <a:ext cx="494295" cy="276228"/>
          </a:xfrm>
          <a:prstGeom prst="rightArrow">
            <a:avLst>
              <a:gd fmla="val 15018" name="adj1"/>
              <a:gd fmla="val 50000" name="adj2"/>
            </a:avLst>
          </a:prstGeom>
          <a:solidFill>
            <a:srgbClr val="0C9B74"/>
          </a:solidFill>
          <a:ln cap="flat" cmpd="sng" w="12700">
            <a:solidFill>
              <a:srgbClr val="0C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