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Architects Daughter"/>
      <p:regular r:id="rId26"/>
    </p:embeddedFont>
    <p:embeddedFont>
      <p:font typeface="Tahoma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chitectsDaughter-regular.fntdata"/><Relationship Id="rId25" Type="http://schemas.openxmlformats.org/officeDocument/2006/relationships/slide" Target="slides/slide20.xml"/><Relationship Id="rId28" Type="http://schemas.openxmlformats.org/officeDocument/2006/relationships/font" Target="fonts/Tahoma-bold.fntdata"/><Relationship Id="rId27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2051b7a04_0_0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4" name="Google Shape;64;g362051b7a04_0_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g362051b7a04_0_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Revisar los ejemplos y el orden de los ejercicios. Tal vez adelantar el de corte de control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2051b7a04_0_98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1" name="Google Shape;81;g362051b7a04_0_98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g362051b7a04_0_98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2051b7a04_0_209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8" name="Google Shape;118;g362051b7a04_0_209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g362051b7a04_0_209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2051b7a04_0_612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5" name="Google Shape;135;g362051b7a04_0_612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g362051b7a04_0_612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2051b7a04_0_715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1" name="Google Shape;161;g362051b7a04_0_715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g362051b7a04_0_715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2051b7a04_0_820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9" name="Google Shape;189;g362051b7a04_0_820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g362051b7a04_0_820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2051b7a04_0_917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9" name="Google Shape;209;g362051b7a04_0_917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g362051b7a04_0_917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62051b7a04_0_1014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9" name="Google Shape;229;g362051b7a04_0_1014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362051b7a04_0_1014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2051b7a04_0_1111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9" name="Google Shape;249;g362051b7a04_0_1111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g362051b7a04_0_1111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2051b7a04_0_1208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9" name="Google Shape;269;g362051b7a04_0_1208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g362051b7a04_0_1208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62051b7a04_0_1305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91" name="Google Shape;291;g362051b7a04_0_1305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g362051b7a04_0_1305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62051b7a04_0_1408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19" name="Google Shape;319;g362051b7a04_0_1408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g362051b7a04_0_1408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62051b7a04_0_1498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33" name="Google Shape;333;g362051b7a04_0_1498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g362051b7a04_0_1498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62051b7a04_0_1586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44" name="Google Shape;344;g362051b7a04_0_1586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g362051b7a04_0_1586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62051b7a04_0_1674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57" name="Google Shape;357;g362051b7a04_0_1674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g362051b7a04_0_1674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62051b7a04_0_1763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71" name="Google Shape;371;g362051b7a04_0_1763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g362051b7a04_0_1763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62051b7a04_0_1859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90" name="Google Shape;390;g362051b7a04_0_1859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g362051b7a04_0_1859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62051b7a04_0_1951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06" name="Google Shape;406;g362051b7a04_0_1951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g362051b7a04_0_1951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62051b7a04_0_2046:notes"/>
          <p:cNvSpPr txBox="1"/>
          <p:nvPr/>
        </p:nvSpPr>
        <p:spPr>
          <a:xfrm>
            <a:off x="3922520" y="8705228"/>
            <a:ext cx="2922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419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21" name="Google Shape;421;g362051b7a04_0_2046:notes"/>
          <p:cNvSpPr/>
          <p:nvPr>
            <p:ph idx="2" type="sldImg"/>
          </p:nvPr>
        </p:nvSpPr>
        <p:spPr>
          <a:xfrm>
            <a:off x="72622" y="702035"/>
            <a:ext cx="6699900" cy="344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g362051b7a04_0_2046:notes"/>
          <p:cNvSpPr txBox="1"/>
          <p:nvPr>
            <p:ph idx="1" type="body"/>
          </p:nvPr>
        </p:nvSpPr>
        <p:spPr>
          <a:xfrm>
            <a:off x="922946" y="4352614"/>
            <a:ext cx="49992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ahoma"/>
              <a:buNone/>
              <a:defRPr b="1" i="0" sz="9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ahoma"/>
              <a:buNone/>
              <a:defRPr b="1" i="0" sz="9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ahoma"/>
              <a:buNone/>
              <a:defRPr b="1" i="0" sz="9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ahoma"/>
              <a:buNone/>
              <a:defRPr b="1" i="0" sz="9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ahoma"/>
              <a:buNone/>
              <a:defRPr b="1" i="0" sz="9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ahoma"/>
              <a:buNone/>
              <a:defRPr b="1" i="0" sz="9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ahoma"/>
              <a:buNone/>
              <a:defRPr b="1" i="0" sz="9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ahoma"/>
              <a:buNone/>
              <a:defRPr b="1" i="0" sz="9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ahoma"/>
              <a:buNone/>
              <a:defRPr b="1" i="0" sz="9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 b="0"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Tipos de datos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Estructurados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8532812" y="4827984"/>
            <a:ext cx="4524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Temas de la clase de hoy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1058862" y="1635919"/>
            <a:ext cx="72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chitects Daughter"/>
              <a:buNone/>
            </a:pPr>
            <a:r>
              <a:rPr b="1" i="0" lang="es-419" sz="3200" u="none" cap="none" strike="noStrik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Tipo de dato estructurado</a:t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985837" y="2483644"/>
            <a:ext cx="7266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chitects Daughter"/>
              <a:buNone/>
            </a:pPr>
            <a:r>
              <a:rPr b="1" i="0" lang="es-419" sz="3200" u="none" cap="none" strike="noStrik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Clasificación de estructuras de datos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985837" y="3295650"/>
            <a:ext cx="72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chitects Daughter"/>
              <a:buNone/>
            </a:pPr>
            <a:r>
              <a:rPr b="1" i="0" lang="es-419" sz="3200" u="none" cap="none" strike="noStrik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Tipo de datos </a:t>
            </a:r>
            <a:r>
              <a:rPr b="1" lang="es-419" sz="3200">
                <a:latin typeface="Architects Daughter"/>
                <a:ea typeface="Architects Daughter"/>
                <a:cs typeface="Architects Daughter"/>
                <a:sym typeface="Architects Daughter"/>
              </a:rPr>
              <a:t>estructuras (struct)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323850" y="1634728"/>
            <a:ext cx="363600" cy="395400"/>
          </a:xfrm>
          <a:prstGeom prst="ellipse">
            <a:avLst/>
          </a:prstGeom>
          <a:solidFill>
            <a:srgbClr val="CC3399"/>
          </a:solidFill>
          <a:ln cap="flat" cmpd="sng" w="12700">
            <a:solidFill>
              <a:srgbClr val="CC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23850" y="2456259"/>
            <a:ext cx="363600" cy="395400"/>
          </a:xfrm>
          <a:prstGeom prst="ellipse">
            <a:avLst/>
          </a:prstGeom>
          <a:solidFill>
            <a:srgbClr val="CC3399"/>
          </a:solidFill>
          <a:ln cap="flat" cmpd="sng" w="12700">
            <a:solidFill>
              <a:srgbClr val="CC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323850" y="3305175"/>
            <a:ext cx="363600" cy="395400"/>
          </a:xfrm>
          <a:prstGeom prst="ellipse">
            <a:avLst/>
          </a:prstGeom>
          <a:solidFill>
            <a:srgbClr val="CC3399"/>
          </a:solidFill>
          <a:ln cap="flat" cmpd="sng" w="12700">
            <a:solidFill>
              <a:srgbClr val="CC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985837" y="4076700"/>
            <a:ext cx="72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Ejercicios</a:t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323850" y="4086225"/>
            <a:ext cx="363600" cy="395400"/>
          </a:xfrm>
          <a:prstGeom prst="ellipse">
            <a:avLst/>
          </a:prstGeom>
          <a:solidFill>
            <a:srgbClr val="CC3399"/>
          </a:solidFill>
          <a:ln cap="flat" cmpd="sng" w="12700">
            <a:solidFill>
              <a:srgbClr val="CC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8532812" y="4827984"/>
            <a:ext cx="4524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s-419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2843212" y="844153"/>
            <a:ext cx="3384600" cy="377400"/>
          </a:xfrm>
          <a:prstGeom prst="roundRect">
            <a:avLst>
              <a:gd fmla="val 16667" name="adj"/>
            </a:avLst>
          </a:prstGeom>
          <a:solidFill>
            <a:srgbClr val="838383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s-419" sz="3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TIPO DE DATO</a:t>
            </a:r>
            <a:endParaRPr/>
          </a:p>
        </p:txBody>
      </p:sp>
      <p:grpSp>
        <p:nvGrpSpPr>
          <p:cNvPr id="88" name="Google Shape;88;p16"/>
          <p:cNvGrpSpPr/>
          <p:nvPr/>
        </p:nvGrpSpPr>
        <p:grpSpPr>
          <a:xfrm>
            <a:off x="1130300" y="1221582"/>
            <a:ext cx="3405188" cy="1315537"/>
            <a:chOff x="1130300" y="1628775"/>
            <a:chExt cx="3405188" cy="1754050"/>
          </a:xfrm>
        </p:grpSpPr>
        <p:sp>
          <p:nvSpPr>
            <p:cNvPr id="89" name="Google Shape;89;p16"/>
            <p:cNvSpPr/>
            <p:nvPr/>
          </p:nvSpPr>
          <p:spPr>
            <a:xfrm>
              <a:off x="1130300" y="2879725"/>
              <a:ext cx="3384600" cy="5031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rPr b="1" i="0" lang="es-419" sz="30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SIMPLE</a:t>
              </a:r>
              <a:endParaRPr/>
            </a:p>
          </p:txBody>
        </p:sp>
        <p:cxnSp>
          <p:nvCxnSpPr>
            <p:cNvPr id="90" name="Google Shape;90;p16"/>
            <p:cNvCxnSpPr/>
            <p:nvPr/>
          </p:nvCxnSpPr>
          <p:spPr>
            <a:xfrm flipH="1">
              <a:off x="2822488" y="1628775"/>
              <a:ext cx="1713000" cy="1251000"/>
            </a:xfrm>
            <a:prstGeom prst="straightConnector1">
              <a:avLst/>
            </a:prstGeom>
            <a:noFill/>
            <a:ln cap="flat" cmpd="sng" w="38100">
              <a:solidFill>
                <a:srgbClr val="6F6F6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91" name="Google Shape;91;p16"/>
          <p:cNvGrpSpPr/>
          <p:nvPr/>
        </p:nvGrpSpPr>
        <p:grpSpPr>
          <a:xfrm>
            <a:off x="4535487" y="1221581"/>
            <a:ext cx="4429175" cy="1295297"/>
            <a:chOff x="4535488" y="1628775"/>
            <a:chExt cx="4429175" cy="1727063"/>
          </a:xfrm>
        </p:grpSpPr>
        <p:sp>
          <p:nvSpPr>
            <p:cNvPr id="92" name="Google Shape;92;p16"/>
            <p:cNvSpPr/>
            <p:nvPr/>
          </p:nvSpPr>
          <p:spPr>
            <a:xfrm>
              <a:off x="5580063" y="2852738"/>
              <a:ext cx="3384600" cy="5031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rPr b="1" i="0" lang="es-419" sz="30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COMPUESTO</a:t>
              </a:r>
              <a:endParaRPr/>
            </a:p>
          </p:txBody>
        </p:sp>
        <p:cxnSp>
          <p:nvCxnSpPr>
            <p:cNvPr id="93" name="Google Shape;93;p16"/>
            <p:cNvCxnSpPr/>
            <p:nvPr/>
          </p:nvCxnSpPr>
          <p:spPr>
            <a:xfrm>
              <a:off x="4535488" y="1628775"/>
              <a:ext cx="2736900" cy="1224000"/>
            </a:xfrm>
            <a:prstGeom prst="straightConnector1">
              <a:avLst/>
            </a:prstGeom>
            <a:noFill/>
            <a:ln cap="flat" cmpd="sng" w="38100">
              <a:solidFill>
                <a:srgbClr val="6F6F6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94" name="Google Shape;94;p16"/>
          <p:cNvGrpSpPr/>
          <p:nvPr/>
        </p:nvGrpSpPr>
        <p:grpSpPr>
          <a:xfrm>
            <a:off x="34925" y="2534840"/>
            <a:ext cx="2538450" cy="1128815"/>
            <a:chOff x="34925" y="3379788"/>
            <a:chExt cx="3384600" cy="1505087"/>
          </a:xfrm>
        </p:grpSpPr>
        <p:sp>
          <p:nvSpPr>
            <p:cNvPr id="95" name="Google Shape;95;p16"/>
            <p:cNvSpPr/>
            <p:nvPr/>
          </p:nvSpPr>
          <p:spPr>
            <a:xfrm>
              <a:off x="34925" y="4016375"/>
              <a:ext cx="3384600" cy="868500"/>
            </a:xfrm>
            <a:prstGeom prst="roundRect">
              <a:avLst>
                <a:gd fmla="val 16667" name="adj"/>
              </a:avLst>
            </a:prstGeom>
            <a:solidFill>
              <a:srgbClr val="DF5327"/>
            </a:solidFill>
            <a:ln cap="flat" cmpd="sng" w="12700">
              <a:solidFill>
                <a:srgbClr val="DF532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Calibri"/>
                <a:buNone/>
              </a:pPr>
              <a:r>
                <a:rPr b="1" i="0" lang="es-419" sz="22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DEFINIDO POR EL LENGUAJE</a:t>
              </a:r>
              <a:endParaRPr/>
            </a:p>
          </p:txBody>
        </p:sp>
        <p:cxnSp>
          <p:nvCxnSpPr>
            <p:cNvPr id="96" name="Google Shape;96;p16"/>
            <p:cNvCxnSpPr/>
            <p:nvPr/>
          </p:nvCxnSpPr>
          <p:spPr>
            <a:xfrm flipH="1">
              <a:off x="1728391" y="3379788"/>
              <a:ext cx="1045500" cy="636600"/>
            </a:xfrm>
            <a:prstGeom prst="straightConnector1">
              <a:avLst/>
            </a:prstGeom>
            <a:noFill/>
            <a:ln cap="flat" cmpd="sng" w="38100">
              <a:solidFill>
                <a:srgbClr val="6F6F6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97" name="Google Shape;97;p16"/>
          <p:cNvGrpSpPr/>
          <p:nvPr/>
        </p:nvGrpSpPr>
        <p:grpSpPr>
          <a:xfrm>
            <a:off x="2051072" y="2530079"/>
            <a:ext cx="3670375" cy="1103653"/>
            <a:chOff x="2773363" y="3400425"/>
            <a:chExt cx="4606973" cy="1471537"/>
          </a:xfrm>
        </p:grpSpPr>
        <p:sp>
          <p:nvSpPr>
            <p:cNvPr id="98" name="Google Shape;98;p16"/>
            <p:cNvSpPr/>
            <p:nvPr/>
          </p:nvSpPr>
          <p:spPr>
            <a:xfrm>
              <a:off x="3994836" y="4005262"/>
              <a:ext cx="3385500" cy="866700"/>
            </a:xfrm>
            <a:prstGeom prst="roundRect">
              <a:avLst>
                <a:gd fmla="val 16667" name="adj"/>
              </a:avLst>
            </a:prstGeom>
            <a:solidFill>
              <a:srgbClr val="DF5327"/>
            </a:solidFill>
            <a:ln cap="flat" cmpd="sng" w="12700">
              <a:solidFill>
                <a:srgbClr val="DF532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Calibri"/>
                <a:buNone/>
              </a:pPr>
              <a:r>
                <a:rPr b="1" i="0" lang="es-419" sz="22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DEFINIDO POR EL PROGRAMADOR</a:t>
              </a:r>
              <a:endParaRPr/>
            </a:p>
          </p:txBody>
        </p:sp>
        <p:cxnSp>
          <p:nvCxnSpPr>
            <p:cNvPr id="99" name="Google Shape;99;p16"/>
            <p:cNvCxnSpPr/>
            <p:nvPr/>
          </p:nvCxnSpPr>
          <p:spPr>
            <a:xfrm>
              <a:off x="2773363" y="3400425"/>
              <a:ext cx="2915100" cy="604800"/>
            </a:xfrm>
            <a:prstGeom prst="straightConnector1">
              <a:avLst/>
            </a:prstGeom>
            <a:noFill/>
            <a:ln cap="flat" cmpd="sng" w="38100">
              <a:solidFill>
                <a:srgbClr val="6F6F6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100" name="Google Shape;100;p16"/>
          <p:cNvGrpSpPr/>
          <p:nvPr/>
        </p:nvGrpSpPr>
        <p:grpSpPr>
          <a:xfrm>
            <a:off x="3346383" y="3690956"/>
            <a:ext cx="2206450" cy="596581"/>
            <a:chOff x="3900000" y="1547831"/>
            <a:chExt cx="9881100" cy="912064"/>
          </a:xfrm>
        </p:grpSpPr>
        <p:sp>
          <p:nvSpPr>
            <p:cNvPr id="101" name="Google Shape;101;p16"/>
            <p:cNvSpPr/>
            <p:nvPr/>
          </p:nvSpPr>
          <p:spPr>
            <a:xfrm>
              <a:off x="3900000" y="1957395"/>
              <a:ext cx="9881100" cy="5025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Calibri"/>
                <a:buNone/>
              </a:pPr>
              <a:r>
                <a:rPr b="1" lang="es-419" sz="3000">
                  <a:latin typeface="Calibri"/>
                  <a:ea typeface="Calibri"/>
                  <a:cs typeface="Calibri"/>
                  <a:sym typeface="Calibri"/>
                </a:rPr>
                <a:t>Enumeraciones</a:t>
              </a:r>
              <a:endParaRPr/>
            </a:p>
          </p:txBody>
        </p:sp>
        <p:cxnSp>
          <p:nvCxnSpPr>
            <p:cNvPr id="102" name="Google Shape;102;p16"/>
            <p:cNvCxnSpPr/>
            <p:nvPr/>
          </p:nvCxnSpPr>
          <p:spPr>
            <a:xfrm>
              <a:off x="4795699" y="1547831"/>
              <a:ext cx="71100" cy="753600"/>
            </a:xfrm>
            <a:prstGeom prst="straightConnector1">
              <a:avLst/>
            </a:prstGeom>
            <a:noFill/>
            <a:ln cap="flat" cmpd="sng" w="38100">
              <a:solidFill>
                <a:srgbClr val="6F6F6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103" name="Google Shape;103;p16"/>
          <p:cNvGrpSpPr/>
          <p:nvPr/>
        </p:nvGrpSpPr>
        <p:grpSpPr>
          <a:xfrm>
            <a:off x="5218174" y="2565740"/>
            <a:ext cx="2090578" cy="953726"/>
            <a:chOff x="-5332270" y="1552378"/>
            <a:chExt cx="15061800" cy="1456292"/>
          </a:xfrm>
        </p:grpSpPr>
        <p:sp>
          <p:nvSpPr>
            <p:cNvPr id="104" name="Google Shape;104;p16"/>
            <p:cNvSpPr/>
            <p:nvPr/>
          </p:nvSpPr>
          <p:spPr>
            <a:xfrm>
              <a:off x="-5332270" y="2504970"/>
              <a:ext cx="15061800" cy="5037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Calibri"/>
                <a:buNone/>
              </a:pPr>
              <a:r>
                <a:rPr b="1" i="0" lang="es-419" sz="30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String</a:t>
              </a:r>
              <a:endParaRPr/>
            </a:p>
          </p:txBody>
        </p:sp>
        <p:cxnSp>
          <p:nvCxnSpPr>
            <p:cNvPr id="105" name="Google Shape;105;p16"/>
            <p:cNvCxnSpPr/>
            <p:nvPr/>
          </p:nvCxnSpPr>
          <p:spPr>
            <a:xfrm>
              <a:off x="2204290" y="1552378"/>
              <a:ext cx="0" cy="998100"/>
            </a:xfrm>
            <a:prstGeom prst="straightConnector1">
              <a:avLst/>
            </a:prstGeom>
            <a:noFill/>
            <a:ln cap="flat" cmpd="sng" w="38100">
              <a:solidFill>
                <a:srgbClr val="6F6F6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106" name="Google Shape;106;p16"/>
          <p:cNvGrpSpPr/>
          <p:nvPr/>
        </p:nvGrpSpPr>
        <p:grpSpPr>
          <a:xfrm>
            <a:off x="6338952" y="2565798"/>
            <a:ext cx="2751328" cy="1103653"/>
            <a:chOff x="2728092" y="3400425"/>
            <a:chExt cx="3455140" cy="1471537"/>
          </a:xfrm>
        </p:grpSpPr>
        <p:sp>
          <p:nvSpPr>
            <p:cNvPr id="107" name="Google Shape;107;p16"/>
            <p:cNvSpPr/>
            <p:nvPr/>
          </p:nvSpPr>
          <p:spPr>
            <a:xfrm>
              <a:off x="3312232" y="4005262"/>
              <a:ext cx="2871000" cy="866700"/>
            </a:xfrm>
            <a:prstGeom prst="roundRect">
              <a:avLst>
                <a:gd fmla="val 16667" name="adj"/>
              </a:avLst>
            </a:prstGeom>
            <a:solidFill>
              <a:srgbClr val="DF5327"/>
            </a:solidFill>
            <a:ln cap="flat" cmpd="sng" w="12700">
              <a:solidFill>
                <a:srgbClr val="DF532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Calibri"/>
                <a:buNone/>
              </a:pPr>
              <a:r>
                <a:rPr b="1" i="0" lang="es-419" sz="22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DEFINIDO POR EL PROGRAMADOR</a:t>
              </a:r>
              <a:endParaRPr/>
            </a:p>
          </p:txBody>
        </p:sp>
        <p:cxnSp>
          <p:nvCxnSpPr>
            <p:cNvPr id="108" name="Google Shape;108;p16"/>
            <p:cNvCxnSpPr/>
            <p:nvPr/>
          </p:nvCxnSpPr>
          <p:spPr>
            <a:xfrm>
              <a:off x="2728092" y="3400425"/>
              <a:ext cx="2019600" cy="604800"/>
            </a:xfrm>
            <a:prstGeom prst="straightConnector1">
              <a:avLst/>
            </a:prstGeom>
            <a:noFill/>
            <a:ln cap="flat" cmpd="sng" w="38100">
              <a:solidFill>
                <a:srgbClr val="6F6F6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109" name="Google Shape;109;p16"/>
          <p:cNvGrpSpPr/>
          <p:nvPr/>
        </p:nvGrpSpPr>
        <p:grpSpPr>
          <a:xfrm>
            <a:off x="7142175" y="3726589"/>
            <a:ext cx="2001809" cy="613169"/>
            <a:chOff x="3475003" y="1547831"/>
            <a:chExt cx="10064400" cy="937711"/>
          </a:xfrm>
        </p:grpSpPr>
        <p:sp>
          <p:nvSpPr>
            <p:cNvPr id="110" name="Google Shape;110;p16"/>
            <p:cNvSpPr/>
            <p:nvPr/>
          </p:nvSpPr>
          <p:spPr>
            <a:xfrm>
              <a:off x="3475003" y="1908342"/>
              <a:ext cx="10064400" cy="577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Calibri"/>
                <a:buNone/>
              </a:pPr>
              <a:r>
                <a:rPr b="1" lang="es-419" sz="3000">
                  <a:latin typeface="Calibri"/>
                  <a:ea typeface="Calibri"/>
                  <a:cs typeface="Calibri"/>
                  <a:sym typeface="Calibri"/>
                </a:rPr>
                <a:t>Estructuras</a:t>
              </a:r>
              <a:endParaRPr b="1" sz="3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1" name="Google Shape;111;p16"/>
            <p:cNvCxnSpPr/>
            <p:nvPr/>
          </p:nvCxnSpPr>
          <p:spPr>
            <a:xfrm>
              <a:off x="4799922" y="1547831"/>
              <a:ext cx="71700" cy="753900"/>
            </a:xfrm>
            <a:prstGeom prst="straightConnector1">
              <a:avLst/>
            </a:prstGeom>
            <a:noFill/>
            <a:ln cap="flat" cmpd="sng" w="38100">
              <a:solidFill>
                <a:srgbClr val="6F6F6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112" name="Google Shape;112;p16"/>
          <p:cNvGrpSpPr/>
          <p:nvPr/>
        </p:nvGrpSpPr>
        <p:grpSpPr>
          <a:xfrm>
            <a:off x="34939" y="3685004"/>
            <a:ext cx="2538455" cy="1046569"/>
            <a:chOff x="2858406" y="1547831"/>
            <a:chExt cx="9881100" cy="1603200"/>
          </a:xfrm>
        </p:grpSpPr>
        <p:sp>
          <p:nvSpPr>
            <p:cNvPr id="113" name="Google Shape;113;p16"/>
            <p:cNvSpPr/>
            <p:nvPr/>
          </p:nvSpPr>
          <p:spPr>
            <a:xfrm>
              <a:off x="2858406" y="2219030"/>
              <a:ext cx="9881100" cy="501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Calibri"/>
                <a:buNone/>
              </a:pPr>
              <a:r>
                <a:rPr b="1" i="0" lang="es-419" sz="30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Numérico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Calibri"/>
                <a:buNone/>
              </a:pPr>
              <a:r>
                <a:rPr b="1" i="0" lang="es-419" sz="30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Caracter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Calibri"/>
                <a:buNone/>
              </a:pPr>
              <a:r>
                <a:rPr b="1" i="0" lang="es-419" sz="30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Booleano</a:t>
              </a:r>
              <a:endParaRPr/>
            </a:p>
          </p:txBody>
        </p:sp>
        <p:cxnSp>
          <p:nvCxnSpPr>
            <p:cNvPr id="114" name="Google Shape;114;p16"/>
            <p:cNvCxnSpPr/>
            <p:nvPr/>
          </p:nvCxnSpPr>
          <p:spPr>
            <a:xfrm>
              <a:off x="4798788" y="1547831"/>
              <a:ext cx="24600" cy="1603200"/>
            </a:xfrm>
            <a:prstGeom prst="straightConnector1">
              <a:avLst/>
            </a:prstGeom>
            <a:noFill/>
            <a:ln cap="flat" cmpd="sng" w="38100">
              <a:solidFill>
                <a:srgbClr val="6F6F6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115" name="Google Shape;115;p16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Tipos de Datos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2682875" y="4893469"/>
            <a:ext cx="3618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CADP 2015</a:t>
            </a:r>
            <a:endParaRPr/>
          </a:p>
        </p:txBody>
      </p:sp>
      <p:sp>
        <p:nvSpPr>
          <p:cNvPr id="123" name="Google Shape;123;p17"/>
          <p:cNvSpPr txBox="1"/>
          <p:nvPr>
            <p:ph idx="4294967295" type="subTitle"/>
          </p:nvPr>
        </p:nvSpPr>
        <p:spPr>
          <a:xfrm>
            <a:off x="250825" y="1025128"/>
            <a:ext cx="80550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es-419" sz="3200" u="none" cap="none" strike="noStrik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Supongamos que se quiere representar la información que se maneja de un </a:t>
            </a:r>
            <a:r>
              <a:rPr b="1" i="0" lang="es-419" sz="3200" u="none" cap="none" strike="noStrike">
                <a:solidFill>
                  <a:srgbClr val="FF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alumno</a:t>
            </a:r>
            <a:r>
              <a:rPr b="1" i="0" lang="es-419" sz="3200" u="none" cap="none" strike="noStrik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. </a:t>
            </a:r>
            <a:endParaRPr b="1" i="0" sz="3200" u="none" cap="none" strike="noStrike"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i="0" sz="3200" u="none"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8532812" y="4827984"/>
            <a:ext cx="4524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Tipos de Datos - Estruturados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1266825" y="2093119"/>
            <a:ext cx="726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Qué datos representan un alumno?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1193800" y="2940844"/>
            <a:ext cx="7266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Por qué conviene que estén agrupados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1193800" y="3752850"/>
            <a:ext cx="7266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Con qué tipo de datos visto represento un alumno?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531812" y="2091928"/>
            <a:ext cx="363600" cy="3954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531812" y="2913459"/>
            <a:ext cx="363600" cy="3954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531812" y="3762375"/>
            <a:ext cx="363600" cy="3954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139" name="Google Shape;139;p18"/>
          <p:cNvSpPr txBox="1"/>
          <p:nvPr>
            <p:ph idx="4294967295" type="subTitle"/>
          </p:nvPr>
        </p:nvSpPr>
        <p:spPr>
          <a:xfrm>
            <a:off x="1889125" y="978694"/>
            <a:ext cx="7004100" cy="13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s-419" sz="28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Permite al programador definir un tipo al que se asocian diferentes datos que tienen  valores lógicamente relacionados y asociados bajo un nombre único.</a:t>
            </a:r>
            <a:endParaRPr sz="1400"/>
          </a:p>
        </p:txBody>
      </p:sp>
      <p:sp>
        <p:nvSpPr>
          <p:cNvPr id="140" name="Google Shape;140;p18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8777287" y="4902994"/>
            <a:ext cx="4524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</a:t>
            </a:r>
            <a:endParaRPr/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897731"/>
            <a:ext cx="1169194" cy="86439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-36512" y="1776413"/>
            <a:ext cx="203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27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Estructura de Datos</a:t>
            </a:r>
            <a:endParaRPr sz="1100"/>
          </a:p>
        </p:txBody>
      </p:sp>
      <p:sp>
        <p:nvSpPr>
          <p:cNvPr id="145" name="Google Shape;145;p18"/>
          <p:cNvSpPr txBox="1"/>
          <p:nvPr/>
        </p:nvSpPr>
        <p:spPr>
          <a:xfrm rot="-270428">
            <a:off x="1482985" y="2880499"/>
            <a:ext cx="1580488" cy="389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chitects Daughter"/>
              <a:buNone/>
            </a:pPr>
            <a:r>
              <a:rPr b="1" i="0" lang="es-419" sz="2700" u="none">
                <a:solidFill>
                  <a:schemeClr val="accen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Nombre</a:t>
            </a:r>
            <a:endParaRPr sz="900"/>
          </a:p>
        </p:txBody>
      </p:sp>
      <p:sp>
        <p:nvSpPr>
          <p:cNvPr id="146" name="Google Shape;146;p18"/>
          <p:cNvSpPr txBox="1"/>
          <p:nvPr/>
        </p:nvSpPr>
        <p:spPr>
          <a:xfrm rot="-1059240">
            <a:off x="246135" y="3072578"/>
            <a:ext cx="1538243" cy="410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3200"/>
              <a:buFont typeface="Architects Daughter"/>
              <a:buNone/>
            </a:pPr>
            <a:r>
              <a:rPr b="1" i="0" lang="es-419" sz="2800" u="none">
                <a:solidFill>
                  <a:srgbClr val="FF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apellido</a:t>
            </a:r>
            <a:endParaRPr sz="1000"/>
          </a:p>
        </p:txBody>
      </p:sp>
      <p:sp>
        <p:nvSpPr>
          <p:cNvPr id="147" name="Google Shape;147;p18"/>
          <p:cNvSpPr txBox="1"/>
          <p:nvPr/>
        </p:nvSpPr>
        <p:spPr>
          <a:xfrm rot="-179532">
            <a:off x="253114" y="3685894"/>
            <a:ext cx="1316094" cy="423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3200"/>
              <a:buFont typeface="Architects Daughter"/>
              <a:buNone/>
            </a:pPr>
            <a:r>
              <a:rPr b="1" i="0" lang="es-419" sz="28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dni</a:t>
            </a:r>
            <a:endParaRPr sz="1000"/>
          </a:p>
        </p:txBody>
      </p:sp>
      <p:sp>
        <p:nvSpPr>
          <p:cNvPr id="148" name="Google Shape;148;p18"/>
          <p:cNvSpPr/>
          <p:nvPr/>
        </p:nvSpPr>
        <p:spPr>
          <a:xfrm>
            <a:off x="3594100" y="3019425"/>
            <a:ext cx="1439863" cy="794147"/>
          </a:xfrm>
          <a:custGeom>
            <a:rect b="b" l="l" r="r" t="t"/>
            <a:pathLst>
              <a:path extrusionOk="0" h="1058863" w="1439863">
                <a:moveTo>
                  <a:pt x="0" y="264716"/>
                </a:moveTo>
                <a:lnTo>
                  <a:pt x="33089" y="264716"/>
                </a:lnTo>
                <a:lnTo>
                  <a:pt x="33089" y="794147"/>
                </a:lnTo>
                <a:lnTo>
                  <a:pt x="0" y="794147"/>
                </a:lnTo>
                <a:lnTo>
                  <a:pt x="0" y="264716"/>
                </a:lnTo>
                <a:close/>
                <a:moveTo>
                  <a:pt x="66179" y="264716"/>
                </a:moveTo>
                <a:lnTo>
                  <a:pt x="132358" y="264716"/>
                </a:lnTo>
                <a:lnTo>
                  <a:pt x="132358" y="794147"/>
                </a:lnTo>
                <a:lnTo>
                  <a:pt x="66179" y="794147"/>
                </a:lnTo>
                <a:lnTo>
                  <a:pt x="66179" y="264716"/>
                </a:lnTo>
                <a:close/>
                <a:moveTo>
                  <a:pt x="165447" y="264716"/>
                </a:moveTo>
                <a:lnTo>
                  <a:pt x="910432" y="264716"/>
                </a:lnTo>
                <a:lnTo>
                  <a:pt x="910432" y="0"/>
                </a:lnTo>
                <a:lnTo>
                  <a:pt x="1439863" y="529432"/>
                </a:lnTo>
                <a:lnTo>
                  <a:pt x="910432" y="1058863"/>
                </a:lnTo>
                <a:lnTo>
                  <a:pt x="910432" y="794147"/>
                </a:lnTo>
                <a:lnTo>
                  <a:pt x="165447" y="794147"/>
                </a:lnTo>
                <a:lnTo>
                  <a:pt x="165447" y="264716"/>
                </a:lnTo>
                <a:close/>
              </a:path>
            </a:pathLst>
          </a:custGeom>
          <a:solidFill>
            <a:srgbClr val="FEC306"/>
          </a:solidFill>
          <a:ln cap="flat" cmpd="sng" w="12700">
            <a:solidFill>
              <a:srgbClr val="FEC306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9" name="Google Shape;149;p18"/>
          <p:cNvGrpSpPr/>
          <p:nvPr/>
        </p:nvGrpSpPr>
        <p:grpSpPr>
          <a:xfrm>
            <a:off x="5999162" y="2443163"/>
            <a:ext cx="2666475" cy="2685041"/>
            <a:chOff x="5999163" y="3257550"/>
            <a:chExt cx="2666475" cy="3580055"/>
          </a:xfrm>
        </p:grpSpPr>
        <p:sp>
          <p:nvSpPr>
            <p:cNvPr id="150" name="Google Shape;150;p18"/>
            <p:cNvSpPr/>
            <p:nvPr/>
          </p:nvSpPr>
          <p:spPr>
            <a:xfrm>
              <a:off x="5999163" y="3257550"/>
              <a:ext cx="2630595" cy="3268980"/>
            </a:xfrm>
            <a:custGeom>
              <a:rect b="b" l="l" r="r" t="t"/>
              <a:pathLst>
                <a:path extrusionOk="0" h="3268980" w="2630595">
                  <a:moveTo>
                    <a:pt x="584473" y="34290"/>
                  </a:moveTo>
                  <a:cubicBezTo>
                    <a:pt x="527323" y="36195"/>
                    <a:pt x="556342" y="81764"/>
                    <a:pt x="538753" y="102870"/>
                  </a:cubicBezTo>
                  <a:cubicBezTo>
                    <a:pt x="454178" y="204360"/>
                    <a:pt x="490363" y="139830"/>
                    <a:pt x="401593" y="228600"/>
                  </a:cubicBezTo>
                  <a:cubicBezTo>
                    <a:pt x="305240" y="324953"/>
                    <a:pt x="441673" y="204217"/>
                    <a:pt x="367303" y="297180"/>
                  </a:cubicBezTo>
                  <a:cubicBezTo>
                    <a:pt x="358721" y="307907"/>
                    <a:pt x="343443" y="311100"/>
                    <a:pt x="333013" y="320040"/>
                  </a:cubicBezTo>
                  <a:cubicBezTo>
                    <a:pt x="316649" y="334066"/>
                    <a:pt x="301215" y="349307"/>
                    <a:pt x="287293" y="365760"/>
                  </a:cubicBezTo>
                  <a:cubicBezTo>
                    <a:pt x="259233" y="398922"/>
                    <a:pt x="236637" y="436608"/>
                    <a:pt x="207283" y="468630"/>
                  </a:cubicBezTo>
                  <a:cubicBezTo>
                    <a:pt x="129450" y="553539"/>
                    <a:pt x="189866" y="448491"/>
                    <a:pt x="127273" y="548640"/>
                  </a:cubicBezTo>
                  <a:cubicBezTo>
                    <a:pt x="77337" y="628538"/>
                    <a:pt x="132853" y="560341"/>
                    <a:pt x="81553" y="662940"/>
                  </a:cubicBezTo>
                  <a:lnTo>
                    <a:pt x="58693" y="708660"/>
                  </a:lnTo>
                  <a:lnTo>
                    <a:pt x="35833" y="822960"/>
                  </a:lnTo>
                  <a:lnTo>
                    <a:pt x="24403" y="880110"/>
                  </a:lnTo>
                  <a:cubicBezTo>
                    <a:pt x="28326" y="948761"/>
                    <a:pt x="-61844" y="1241564"/>
                    <a:pt x="81553" y="1303020"/>
                  </a:cubicBezTo>
                  <a:cubicBezTo>
                    <a:pt x="95992" y="1309208"/>
                    <a:pt x="112168" y="1310134"/>
                    <a:pt x="127273" y="1314450"/>
                  </a:cubicBezTo>
                  <a:cubicBezTo>
                    <a:pt x="138858" y="1317760"/>
                    <a:pt x="150133" y="1322070"/>
                    <a:pt x="161563" y="1325880"/>
                  </a:cubicBezTo>
                  <a:cubicBezTo>
                    <a:pt x="172993" y="1337310"/>
                    <a:pt x="187286" y="1346463"/>
                    <a:pt x="195853" y="1360170"/>
                  </a:cubicBezTo>
                  <a:cubicBezTo>
                    <a:pt x="216594" y="1393356"/>
                    <a:pt x="219826" y="1426930"/>
                    <a:pt x="230143" y="1463040"/>
                  </a:cubicBezTo>
                  <a:cubicBezTo>
                    <a:pt x="233453" y="1474625"/>
                    <a:pt x="237763" y="1485900"/>
                    <a:pt x="241573" y="1497330"/>
                  </a:cubicBezTo>
                  <a:cubicBezTo>
                    <a:pt x="237763" y="1558290"/>
                    <a:pt x="235934" y="1619406"/>
                    <a:pt x="230143" y="1680210"/>
                  </a:cubicBezTo>
                  <a:cubicBezTo>
                    <a:pt x="228301" y="1699550"/>
                    <a:pt x="225534" y="1719170"/>
                    <a:pt x="218713" y="1737360"/>
                  </a:cubicBezTo>
                  <a:cubicBezTo>
                    <a:pt x="213890" y="1750222"/>
                    <a:pt x="203473" y="1760220"/>
                    <a:pt x="195853" y="1771650"/>
                  </a:cubicBezTo>
                  <a:cubicBezTo>
                    <a:pt x="165006" y="1925886"/>
                    <a:pt x="211640" y="1726031"/>
                    <a:pt x="150133" y="1885950"/>
                  </a:cubicBezTo>
                  <a:cubicBezTo>
                    <a:pt x="138855" y="1915274"/>
                    <a:pt x="144701" y="1951249"/>
                    <a:pt x="127273" y="1977390"/>
                  </a:cubicBezTo>
                  <a:cubicBezTo>
                    <a:pt x="106722" y="2008216"/>
                    <a:pt x="100870" y="2010478"/>
                    <a:pt x="92983" y="2045970"/>
                  </a:cubicBezTo>
                  <a:cubicBezTo>
                    <a:pt x="81582" y="2097276"/>
                    <a:pt x="75626" y="2167895"/>
                    <a:pt x="70123" y="2217420"/>
                  </a:cubicBezTo>
                  <a:cubicBezTo>
                    <a:pt x="73933" y="2266950"/>
                    <a:pt x="68753" y="2318011"/>
                    <a:pt x="81553" y="2366010"/>
                  </a:cubicBezTo>
                  <a:cubicBezTo>
                    <a:pt x="85093" y="2379283"/>
                    <a:pt x="104665" y="2380885"/>
                    <a:pt x="115843" y="2388870"/>
                  </a:cubicBezTo>
                  <a:cubicBezTo>
                    <a:pt x="131345" y="2399943"/>
                    <a:pt x="145108" y="2413561"/>
                    <a:pt x="161563" y="2423160"/>
                  </a:cubicBezTo>
                  <a:cubicBezTo>
                    <a:pt x="229707" y="2462911"/>
                    <a:pt x="232720" y="2462119"/>
                    <a:pt x="287293" y="2480310"/>
                  </a:cubicBezTo>
                  <a:cubicBezTo>
                    <a:pt x="283483" y="2499360"/>
                    <a:pt x="282684" y="2519270"/>
                    <a:pt x="275863" y="2537460"/>
                  </a:cubicBezTo>
                  <a:cubicBezTo>
                    <a:pt x="271040" y="2550322"/>
                    <a:pt x="260203" y="2560051"/>
                    <a:pt x="253003" y="2571750"/>
                  </a:cubicBezTo>
                  <a:cubicBezTo>
                    <a:pt x="229716" y="2609591"/>
                    <a:pt x="209069" y="2649080"/>
                    <a:pt x="184423" y="2686050"/>
                  </a:cubicBezTo>
                  <a:cubicBezTo>
                    <a:pt x="176803" y="2697480"/>
                    <a:pt x="167706" y="2708053"/>
                    <a:pt x="161563" y="2720340"/>
                  </a:cubicBezTo>
                  <a:cubicBezTo>
                    <a:pt x="123115" y="2797235"/>
                    <a:pt x="162795" y="2761429"/>
                    <a:pt x="104413" y="2800350"/>
                  </a:cubicBezTo>
                  <a:cubicBezTo>
                    <a:pt x="75683" y="2886539"/>
                    <a:pt x="114438" y="2780300"/>
                    <a:pt x="70123" y="2868930"/>
                  </a:cubicBezTo>
                  <a:cubicBezTo>
                    <a:pt x="60947" y="2887281"/>
                    <a:pt x="54883" y="2907030"/>
                    <a:pt x="47263" y="2926080"/>
                  </a:cubicBezTo>
                  <a:cubicBezTo>
                    <a:pt x="60105" y="3067340"/>
                    <a:pt x="13674" y="3151742"/>
                    <a:pt x="115843" y="3223260"/>
                  </a:cubicBezTo>
                  <a:cubicBezTo>
                    <a:pt x="136781" y="3237917"/>
                    <a:pt x="159995" y="3250034"/>
                    <a:pt x="184423" y="3257550"/>
                  </a:cubicBezTo>
                  <a:cubicBezTo>
                    <a:pt x="210172" y="3265473"/>
                    <a:pt x="237763" y="3265170"/>
                    <a:pt x="264433" y="3268980"/>
                  </a:cubicBezTo>
                  <a:cubicBezTo>
                    <a:pt x="382543" y="3265170"/>
                    <a:pt x="500940" y="3266613"/>
                    <a:pt x="618763" y="3257550"/>
                  </a:cubicBezTo>
                  <a:cubicBezTo>
                    <a:pt x="650089" y="3255140"/>
                    <a:pt x="679620" y="3241886"/>
                    <a:pt x="710203" y="3234690"/>
                  </a:cubicBezTo>
                  <a:cubicBezTo>
                    <a:pt x="744396" y="3226645"/>
                    <a:pt x="778995" y="3220349"/>
                    <a:pt x="813073" y="3211830"/>
                  </a:cubicBezTo>
                  <a:cubicBezTo>
                    <a:pt x="824762" y="3208908"/>
                    <a:pt x="835582" y="3202924"/>
                    <a:pt x="847363" y="3200400"/>
                  </a:cubicBezTo>
                  <a:cubicBezTo>
                    <a:pt x="889015" y="3191475"/>
                    <a:pt x="931183" y="3185160"/>
                    <a:pt x="973093" y="3177540"/>
                  </a:cubicBezTo>
                  <a:cubicBezTo>
                    <a:pt x="988333" y="3169920"/>
                    <a:pt x="1002528" y="3159691"/>
                    <a:pt x="1018813" y="3154680"/>
                  </a:cubicBezTo>
                  <a:cubicBezTo>
                    <a:pt x="1095993" y="3130932"/>
                    <a:pt x="1145084" y="3129220"/>
                    <a:pt x="1224553" y="3120390"/>
                  </a:cubicBezTo>
                  <a:lnTo>
                    <a:pt x="1315993" y="3074670"/>
                  </a:lnTo>
                  <a:cubicBezTo>
                    <a:pt x="1331233" y="3067050"/>
                    <a:pt x="1345005" y="3055152"/>
                    <a:pt x="1361713" y="3051810"/>
                  </a:cubicBezTo>
                  <a:lnTo>
                    <a:pt x="1418863" y="3040380"/>
                  </a:lnTo>
                  <a:cubicBezTo>
                    <a:pt x="1533781" y="2982921"/>
                    <a:pt x="1388789" y="3050405"/>
                    <a:pt x="1521733" y="3006090"/>
                  </a:cubicBezTo>
                  <a:cubicBezTo>
                    <a:pt x="1537897" y="3000702"/>
                    <a:pt x="1552659" y="2991684"/>
                    <a:pt x="1567453" y="2983230"/>
                  </a:cubicBezTo>
                  <a:cubicBezTo>
                    <a:pt x="1579380" y="2976414"/>
                    <a:pt x="1588534" y="2964144"/>
                    <a:pt x="1601743" y="2960370"/>
                  </a:cubicBezTo>
                  <a:cubicBezTo>
                    <a:pt x="1642701" y="2948668"/>
                    <a:pt x="1685606" y="2945360"/>
                    <a:pt x="1727473" y="2937510"/>
                  </a:cubicBezTo>
                  <a:cubicBezTo>
                    <a:pt x="1746568" y="2933930"/>
                    <a:pt x="1765346" y="2928490"/>
                    <a:pt x="1784623" y="2926080"/>
                  </a:cubicBezTo>
                  <a:cubicBezTo>
                    <a:pt x="2000626" y="2899080"/>
                    <a:pt x="2345230" y="2906123"/>
                    <a:pt x="2493283" y="2903220"/>
                  </a:cubicBezTo>
                  <a:cubicBezTo>
                    <a:pt x="2500903" y="2891790"/>
                    <a:pt x="2510000" y="2881217"/>
                    <a:pt x="2516143" y="2868930"/>
                  </a:cubicBezTo>
                  <a:cubicBezTo>
                    <a:pt x="2537664" y="2825889"/>
                    <a:pt x="2539519" y="2809715"/>
                    <a:pt x="2550433" y="2766060"/>
                  </a:cubicBezTo>
                  <a:cubicBezTo>
                    <a:pt x="2546623" y="2495550"/>
                    <a:pt x="2546215" y="2224971"/>
                    <a:pt x="2539003" y="1954530"/>
                  </a:cubicBezTo>
                  <a:cubicBezTo>
                    <a:pt x="2537978" y="1916088"/>
                    <a:pt x="2524274" y="1903862"/>
                    <a:pt x="2504713" y="1874520"/>
                  </a:cubicBezTo>
                  <a:cubicBezTo>
                    <a:pt x="2484290" y="1792829"/>
                    <a:pt x="2509557" y="1860573"/>
                    <a:pt x="2447563" y="1783080"/>
                  </a:cubicBezTo>
                  <a:cubicBezTo>
                    <a:pt x="2371363" y="1687830"/>
                    <a:pt x="2436133" y="1737360"/>
                    <a:pt x="2367553" y="1691640"/>
                  </a:cubicBezTo>
                  <a:cubicBezTo>
                    <a:pt x="2339725" y="1608157"/>
                    <a:pt x="2350537" y="1646437"/>
                    <a:pt x="2333263" y="1577340"/>
                  </a:cubicBezTo>
                  <a:cubicBezTo>
                    <a:pt x="2340883" y="1493520"/>
                    <a:pt x="2346476" y="1409491"/>
                    <a:pt x="2356123" y="1325880"/>
                  </a:cubicBezTo>
                  <a:cubicBezTo>
                    <a:pt x="2357924" y="1310275"/>
                    <a:pt x="2360528" y="1294211"/>
                    <a:pt x="2367553" y="1280160"/>
                  </a:cubicBezTo>
                  <a:cubicBezTo>
                    <a:pt x="2388956" y="1237354"/>
                    <a:pt x="2407537" y="1234465"/>
                    <a:pt x="2436133" y="1200150"/>
                  </a:cubicBezTo>
                  <a:cubicBezTo>
                    <a:pt x="2483758" y="1143000"/>
                    <a:pt x="2430418" y="1184910"/>
                    <a:pt x="2493283" y="1143000"/>
                  </a:cubicBezTo>
                  <a:cubicBezTo>
                    <a:pt x="2550599" y="1057026"/>
                    <a:pt x="2512726" y="1126260"/>
                    <a:pt x="2527573" y="925830"/>
                  </a:cubicBezTo>
                  <a:cubicBezTo>
                    <a:pt x="2533965" y="839543"/>
                    <a:pt x="2547496" y="709108"/>
                    <a:pt x="2561863" y="628650"/>
                  </a:cubicBezTo>
                  <a:cubicBezTo>
                    <a:pt x="2570799" y="578610"/>
                    <a:pt x="2585786" y="529823"/>
                    <a:pt x="2596153" y="480060"/>
                  </a:cubicBezTo>
                  <a:cubicBezTo>
                    <a:pt x="2604841" y="438358"/>
                    <a:pt x="2611393" y="396240"/>
                    <a:pt x="2619013" y="354330"/>
                  </a:cubicBezTo>
                  <a:cubicBezTo>
                    <a:pt x="2620798" y="329344"/>
                    <a:pt x="2644157" y="138136"/>
                    <a:pt x="2619013" y="91440"/>
                  </a:cubicBezTo>
                  <a:cubicBezTo>
                    <a:pt x="2605987" y="67250"/>
                    <a:pt x="2574553" y="58876"/>
                    <a:pt x="2550433" y="45720"/>
                  </a:cubicBezTo>
                  <a:cubicBezTo>
                    <a:pt x="2501882" y="19238"/>
                    <a:pt x="2443801" y="10678"/>
                    <a:pt x="2390413" y="0"/>
                  </a:cubicBezTo>
                  <a:lnTo>
                    <a:pt x="1373143" y="11430"/>
                  </a:lnTo>
                  <a:cubicBezTo>
                    <a:pt x="1357438" y="11768"/>
                    <a:pt x="1342918" y="20277"/>
                    <a:pt x="1327423" y="22860"/>
                  </a:cubicBezTo>
                  <a:cubicBezTo>
                    <a:pt x="1274275" y="31718"/>
                    <a:pt x="1220551" y="36862"/>
                    <a:pt x="1167403" y="45720"/>
                  </a:cubicBezTo>
                  <a:lnTo>
                    <a:pt x="1098823" y="57150"/>
                  </a:lnTo>
                  <a:cubicBezTo>
                    <a:pt x="1079709" y="60625"/>
                    <a:pt x="1060874" y="65626"/>
                    <a:pt x="1041673" y="68580"/>
                  </a:cubicBezTo>
                  <a:cubicBezTo>
                    <a:pt x="669755" y="125798"/>
                    <a:pt x="1174796" y="42583"/>
                    <a:pt x="881653" y="91440"/>
                  </a:cubicBezTo>
                  <a:cubicBezTo>
                    <a:pt x="588289" y="79705"/>
                    <a:pt x="641623" y="32385"/>
                    <a:pt x="584473" y="34290"/>
                  </a:cubicBez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1" name="Google Shape;151;p18"/>
            <p:cNvSpPr txBox="1"/>
            <p:nvPr/>
          </p:nvSpPr>
          <p:spPr>
            <a:xfrm>
              <a:off x="6628938" y="6226505"/>
              <a:ext cx="20367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chitects Daughter"/>
                <a:buNone/>
              </a:pPr>
              <a:r>
                <a:rPr b="1" i="0" lang="es-419" sz="32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Alumno</a:t>
              </a:r>
              <a:endParaRPr sz="600"/>
            </a:p>
          </p:txBody>
        </p:sp>
      </p:grpSp>
      <p:sp>
        <p:nvSpPr>
          <p:cNvPr id="152" name="Google Shape;152;p18"/>
          <p:cNvSpPr txBox="1"/>
          <p:nvPr/>
        </p:nvSpPr>
        <p:spPr>
          <a:xfrm rot="-543640">
            <a:off x="1429324" y="3360209"/>
            <a:ext cx="1765935" cy="39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chitects Daughter"/>
              <a:buNone/>
            </a:pPr>
            <a:r>
              <a:rPr b="1" i="0" lang="es-419" sz="2500" u="none">
                <a:solidFill>
                  <a:schemeClr val="accent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promedio</a:t>
            </a:r>
            <a:endParaRPr sz="700"/>
          </a:p>
        </p:txBody>
      </p:sp>
      <p:sp>
        <p:nvSpPr>
          <p:cNvPr id="153" name="Google Shape;153;p18"/>
          <p:cNvSpPr txBox="1"/>
          <p:nvPr/>
        </p:nvSpPr>
        <p:spPr>
          <a:xfrm rot="-270428">
            <a:off x="6653473" y="2973368"/>
            <a:ext cx="1580488" cy="389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chitects Daughter"/>
              <a:buNone/>
            </a:pPr>
            <a:r>
              <a:rPr b="1" i="0" lang="es-419" sz="2800" u="none">
                <a:solidFill>
                  <a:schemeClr val="accen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Nombre</a:t>
            </a:r>
            <a:endParaRPr sz="1000"/>
          </a:p>
        </p:txBody>
      </p:sp>
      <p:sp>
        <p:nvSpPr>
          <p:cNvPr id="154" name="Google Shape;154;p18"/>
          <p:cNvSpPr txBox="1"/>
          <p:nvPr/>
        </p:nvSpPr>
        <p:spPr>
          <a:xfrm>
            <a:off x="6748462" y="2599134"/>
            <a:ext cx="15924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3200"/>
              <a:buFont typeface="Architects Daughter"/>
              <a:buNone/>
            </a:pPr>
            <a:r>
              <a:rPr b="1" i="0" lang="es-419" sz="2900" u="none">
                <a:solidFill>
                  <a:srgbClr val="FF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apellido</a:t>
            </a:r>
            <a:endParaRPr sz="1100"/>
          </a:p>
        </p:txBody>
      </p:sp>
      <p:sp>
        <p:nvSpPr>
          <p:cNvPr id="155" name="Google Shape;155;p18"/>
          <p:cNvSpPr txBox="1"/>
          <p:nvPr/>
        </p:nvSpPr>
        <p:spPr>
          <a:xfrm rot="-179736">
            <a:off x="6747574" y="3387005"/>
            <a:ext cx="1314596" cy="423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3200"/>
              <a:buFont typeface="Architects Daughter"/>
              <a:buNone/>
            </a:pPr>
            <a:r>
              <a:rPr b="1" i="0" lang="es-419" sz="29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dni</a:t>
            </a:r>
            <a:endParaRPr sz="1100"/>
          </a:p>
        </p:txBody>
      </p:sp>
      <p:sp>
        <p:nvSpPr>
          <p:cNvPr id="156" name="Google Shape;156;p18"/>
          <p:cNvSpPr txBox="1"/>
          <p:nvPr/>
        </p:nvSpPr>
        <p:spPr>
          <a:xfrm rot="-180189">
            <a:off x="6535048" y="3806050"/>
            <a:ext cx="1780846" cy="388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chitects Daughter"/>
              <a:buNone/>
            </a:pPr>
            <a:r>
              <a:rPr b="1" i="0" lang="es-419" sz="2900" u="none">
                <a:solidFill>
                  <a:schemeClr val="accent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promedi</a:t>
            </a:r>
            <a:r>
              <a:rPr b="1" i="0" lang="es-419" sz="3200" u="none">
                <a:solidFill>
                  <a:schemeClr val="accent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o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 rot="-180147">
            <a:off x="1231563" y="3875077"/>
            <a:ext cx="2359739" cy="423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3200"/>
              <a:buFont typeface="Architects Daughter"/>
              <a:buNone/>
            </a:pPr>
            <a:r>
              <a:rPr b="1" i="0" lang="es-419" sz="28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nro Alumno</a:t>
            </a:r>
            <a:endParaRPr sz="1000"/>
          </a:p>
        </p:txBody>
      </p:sp>
      <p:sp>
        <p:nvSpPr>
          <p:cNvPr id="158" name="Google Shape;158;p18"/>
          <p:cNvSpPr txBox="1"/>
          <p:nvPr/>
        </p:nvSpPr>
        <p:spPr>
          <a:xfrm>
            <a:off x="6262687" y="4243388"/>
            <a:ext cx="23622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3200"/>
              <a:buFont typeface="Architects Daughter"/>
              <a:buNone/>
            </a:pPr>
            <a:r>
              <a:rPr b="1" i="0" lang="es-419" sz="29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nro Alumno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165" name="Google Shape;165;p19"/>
          <p:cNvSpPr txBox="1"/>
          <p:nvPr>
            <p:ph idx="4294967295" type="subTitle"/>
          </p:nvPr>
        </p:nvSpPr>
        <p:spPr>
          <a:xfrm>
            <a:off x="179387" y="1275159"/>
            <a:ext cx="19623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3200"/>
              <a:buFont typeface="Arial"/>
              <a:buNone/>
            </a:pPr>
            <a:r>
              <a:rPr b="1" i="0" lang="es-419" sz="3200" u="none">
                <a:solidFill>
                  <a:srgbClr val="FF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Elementos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656637" y="4827984"/>
            <a:ext cx="4524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Clasificación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2825750" y="1275159"/>
            <a:ext cx="19623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rgbClr val="FF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Acceso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4762500" y="1275159"/>
            <a:ext cx="1754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rgbClr val="FF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Tamaño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948487" y="1275159"/>
            <a:ext cx="22146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rgbClr val="FF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Linealidad</a:t>
            </a:r>
            <a:endParaRPr/>
          </a:p>
        </p:txBody>
      </p:sp>
      <p:cxnSp>
        <p:nvCxnSpPr>
          <p:cNvPr id="172" name="Google Shape;172;p19"/>
          <p:cNvCxnSpPr/>
          <p:nvPr/>
        </p:nvCxnSpPr>
        <p:spPr>
          <a:xfrm>
            <a:off x="2484437" y="1733550"/>
            <a:ext cx="0" cy="2134800"/>
          </a:xfrm>
          <a:prstGeom prst="straightConnector1">
            <a:avLst/>
          </a:prstGeom>
          <a:noFill/>
          <a:ln cap="flat" cmpd="sng" w="28575">
            <a:solidFill>
              <a:srgbClr val="6F6F6F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3" name="Google Shape;173;p19"/>
          <p:cNvCxnSpPr/>
          <p:nvPr/>
        </p:nvCxnSpPr>
        <p:spPr>
          <a:xfrm>
            <a:off x="4643437" y="1733550"/>
            <a:ext cx="0" cy="2134800"/>
          </a:xfrm>
          <a:prstGeom prst="straightConnector1">
            <a:avLst/>
          </a:prstGeom>
          <a:noFill/>
          <a:ln cap="flat" cmpd="sng" w="28575">
            <a:solidFill>
              <a:srgbClr val="6F6F6F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4" name="Google Shape;174;p19"/>
          <p:cNvCxnSpPr/>
          <p:nvPr/>
        </p:nvCxnSpPr>
        <p:spPr>
          <a:xfrm>
            <a:off x="6804025" y="1733550"/>
            <a:ext cx="0" cy="2134800"/>
          </a:xfrm>
          <a:prstGeom prst="straightConnector1">
            <a:avLst/>
          </a:prstGeom>
          <a:noFill/>
          <a:ln cap="flat" cmpd="sng" w="28575">
            <a:solidFill>
              <a:srgbClr val="6F6F6F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175" name="Google Shape;175;p19"/>
          <p:cNvGrpSpPr/>
          <p:nvPr/>
        </p:nvGrpSpPr>
        <p:grpSpPr>
          <a:xfrm>
            <a:off x="73025" y="2113359"/>
            <a:ext cx="2235300" cy="1052447"/>
            <a:chOff x="73025" y="2817813"/>
            <a:chExt cx="2235300" cy="1403262"/>
          </a:xfrm>
        </p:grpSpPr>
        <p:sp>
          <p:nvSpPr>
            <p:cNvPr id="176" name="Google Shape;176;p19"/>
            <p:cNvSpPr txBox="1"/>
            <p:nvPr/>
          </p:nvSpPr>
          <p:spPr>
            <a:xfrm>
              <a:off x="73025" y="2817813"/>
              <a:ext cx="22353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F6F6F"/>
                </a:buClr>
                <a:buSzPts val="3200"/>
                <a:buFont typeface="Architects Daughter"/>
                <a:buNone/>
              </a:pPr>
              <a:r>
                <a:rPr b="1" i="0" lang="es-419" sz="3200" u="none">
                  <a:solidFill>
                    <a:srgbClr val="6F6F6F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Homogénea</a:t>
              </a:r>
              <a:endParaRPr/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73025" y="3609975"/>
              <a:ext cx="22353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F6F6F"/>
                </a:buClr>
                <a:buSzPts val="3200"/>
                <a:buFont typeface="Architects Daughter"/>
                <a:buNone/>
              </a:pPr>
              <a:r>
                <a:rPr b="1" i="0" lang="es-419" sz="3200" u="none">
                  <a:solidFill>
                    <a:srgbClr val="6F6F6F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Heterogénea</a:t>
              </a:r>
              <a:endParaRPr/>
            </a:p>
          </p:txBody>
        </p:sp>
      </p:grpSp>
      <p:grpSp>
        <p:nvGrpSpPr>
          <p:cNvPr id="178" name="Google Shape;178;p19"/>
          <p:cNvGrpSpPr/>
          <p:nvPr/>
        </p:nvGrpSpPr>
        <p:grpSpPr>
          <a:xfrm>
            <a:off x="2555876" y="2113359"/>
            <a:ext cx="2087700" cy="1052447"/>
            <a:chOff x="2555875" y="2817813"/>
            <a:chExt cx="2087700" cy="1403262"/>
          </a:xfrm>
        </p:grpSpPr>
        <p:sp>
          <p:nvSpPr>
            <p:cNvPr id="179" name="Google Shape;179;p19"/>
            <p:cNvSpPr txBox="1"/>
            <p:nvPr/>
          </p:nvSpPr>
          <p:spPr>
            <a:xfrm>
              <a:off x="2555875" y="2817813"/>
              <a:ext cx="20877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F6F6F"/>
                </a:buClr>
                <a:buSzPts val="3200"/>
                <a:buFont typeface="Architects Daughter"/>
                <a:buNone/>
              </a:pPr>
              <a:r>
                <a:rPr b="1" i="0" lang="es-419" sz="3200" u="none">
                  <a:solidFill>
                    <a:srgbClr val="6F6F6F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Secuencial</a:t>
              </a:r>
              <a:endParaRPr/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2620963" y="3609975"/>
              <a:ext cx="16098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F6F6F"/>
                </a:buClr>
                <a:buSzPts val="3200"/>
                <a:buFont typeface="Architects Daughter"/>
                <a:buNone/>
              </a:pPr>
              <a:r>
                <a:rPr b="1" i="0" lang="es-419" sz="3200" u="none">
                  <a:solidFill>
                    <a:srgbClr val="6F6F6F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Directo</a:t>
              </a:r>
              <a:endParaRPr/>
            </a:p>
          </p:txBody>
        </p:sp>
      </p:grpSp>
      <p:grpSp>
        <p:nvGrpSpPr>
          <p:cNvPr id="181" name="Google Shape;181;p19"/>
          <p:cNvGrpSpPr/>
          <p:nvPr/>
        </p:nvGrpSpPr>
        <p:grpSpPr>
          <a:xfrm>
            <a:off x="4716462" y="2113359"/>
            <a:ext cx="2016000" cy="1052447"/>
            <a:chOff x="4716463" y="2817813"/>
            <a:chExt cx="2016000" cy="1403262"/>
          </a:xfrm>
        </p:grpSpPr>
        <p:sp>
          <p:nvSpPr>
            <p:cNvPr id="182" name="Google Shape;182;p19"/>
            <p:cNvSpPr txBox="1"/>
            <p:nvPr/>
          </p:nvSpPr>
          <p:spPr>
            <a:xfrm>
              <a:off x="4716463" y="2817813"/>
              <a:ext cx="20160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F6F6F"/>
                </a:buClr>
                <a:buSzPts val="3200"/>
                <a:buFont typeface="Architects Daughter"/>
                <a:buNone/>
              </a:pPr>
              <a:r>
                <a:rPr b="1" i="0" lang="es-419" sz="3200" u="none">
                  <a:solidFill>
                    <a:srgbClr val="6F6F6F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Dinámica</a:t>
              </a: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4716463" y="3609975"/>
              <a:ext cx="19431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F6F6F"/>
                </a:buClr>
                <a:buSzPts val="3200"/>
                <a:buFont typeface="Architects Daughter"/>
                <a:buNone/>
              </a:pPr>
              <a:r>
                <a:rPr b="1" i="0" lang="es-419" sz="3200" u="none">
                  <a:solidFill>
                    <a:srgbClr val="6F6F6F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Estática</a:t>
              </a:r>
              <a:endParaRPr/>
            </a:p>
          </p:txBody>
        </p:sp>
      </p:grpSp>
      <p:grpSp>
        <p:nvGrpSpPr>
          <p:cNvPr id="184" name="Google Shape;184;p19"/>
          <p:cNvGrpSpPr/>
          <p:nvPr/>
        </p:nvGrpSpPr>
        <p:grpSpPr>
          <a:xfrm>
            <a:off x="6907212" y="2132409"/>
            <a:ext cx="2236800" cy="1052447"/>
            <a:chOff x="6907213" y="2843213"/>
            <a:chExt cx="2236800" cy="1403262"/>
          </a:xfrm>
        </p:grpSpPr>
        <p:sp>
          <p:nvSpPr>
            <p:cNvPr id="185" name="Google Shape;185;p19"/>
            <p:cNvSpPr txBox="1"/>
            <p:nvPr/>
          </p:nvSpPr>
          <p:spPr>
            <a:xfrm>
              <a:off x="6907213" y="2843213"/>
              <a:ext cx="22368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F6F6F"/>
                </a:buClr>
                <a:buSzPts val="3200"/>
                <a:buFont typeface="Architects Daughter"/>
                <a:buNone/>
              </a:pPr>
              <a:r>
                <a:rPr b="1" i="0" lang="es-419" sz="3200" u="none">
                  <a:solidFill>
                    <a:srgbClr val="6F6F6F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Lineal</a:t>
              </a:r>
              <a:endParaRPr/>
            </a:p>
          </p:txBody>
        </p:sp>
        <p:sp>
          <p:nvSpPr>
            <p:cNvPr id="186" name="Google Shape;186;p19"/>
            <p:cNvSpPr txBox="1"/>
            <p:nvPr/>
          </p:nvSpPr>
          <p:spPr>
            <a:xfrm>
              <a:off x="6907213" y="3635375"/>
              <a:ext cx="22368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F6F6F"/>
                </a:buClr>
                <a:buSzPts val="3200"/>
                <a:buFont typeface="Architects Daughter"/>
                <a:buNone/>
              </a:pPr>
              <a:r>
                <a:rPr b="1" i="0" lang="es-419" sz="3200" u="none">
                  <a:solidFill>
                    <a:srgbClr val="6F6F6F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No Lineal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193" name="Google Shape;193;p20"/>
          <p:cNvSpPr txBox="1"/>
          <p:nvPr>
            <p:ph idx="4294967295" type="subTitle"/>
          </p:nvPr>
        </p:nvSpPr>
        <p:spPr>
          <a:xfrm>
            <a:off x="179387" y="951309"/>
            <a:ext cx="19623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3200"/>
              <a:buFont typeface="Arial"/>
              <a:buNone/>
            </a:pPr>
            <a:r>
              <a:rPr b="1" i="0" lang="es-419" sz="2900" u="none">
                <a:solidFill>
                  <a:srgbClr val="FF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Elementos</a:t>
            </a:r>
            <a:endParaRPr sz="1500"/>
          </a:p>
        </p:txBody>
      </p:sp>
      <p:sp>
        <p:nvSpPr>
          <p:cNvPr id="194" name="Google Shape;194;p20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8656637" y="4827984"/>
            <a:ext cx="4524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Clasificación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2916237" y="789384"/>
            <a:ext cx="49878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Detalla de qué tipo son sus elementos.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2122487" y="951309"/>
            <a:ext cx="720600" cy="323700"/>
          </a:xfrm>
          <a:prstGeom prst="chevron">
            <a:avLst>
              <a:gd fmla="val 15130" name="adj"/>
            </a:avLst>
          </a:prstGeom>
          <a:solidFill>
            <a:srgbClr val="6F6F6F"/>
          </a:solidFill>
          <a:ln cap="flat" cmpd="sng" w="12700">
            <a:solidFill>
              <a:srgbClr val="6F6F6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9" name="Google Shape;199;p20"/>
          <p:cNvGrpSpPr/>
          <p:nvPr/>
        </p:nvGrpSpPr>
        <p:grpSpPr>
          <a:xfrm>
            <a:off x="611187" y="1869281"/>
            <a:ext cx="8353350" cy="702450"/>
            <a:chOff x="611188" y="2492375"/>
            <a:chExt cx="8353350" cy="936600"/>
          </a:xfrm>
        </p:grpSpPr>
        <p:sp>
          <p:nvSpPr>
            <p:cNvPr id="200" name="Google Shape;200;p20"/>
            <p:cNvSpPr txBox="1"/>
            <p:nvPr/>
          </p:nvSpPr>
          <p:spPr>
            <a:xfrm>
              <a:off x="611188" y="2676525"/>
              <a:ext cx="22368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chitects Daughter"/>
                <a:buNone/>
              </a:pPr>
              <a:r>
                <a:rPr b="1" i="0" lang="es-419" sz="29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Homogénea</a:t>
              </a:r>
              <a:endParaRPr sz="1100"/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3640138" y="2492375"/>
              <a:ext cx="5324400" cy="9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chitects Daughter"/>
                <a:buNone/>
              </a:pPr>
              <a:r>
                <a:rPr b="1" i="0" lang="es-419" sz="28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Los elementos que la componen son del mismo tipo</a:t>
              </a:r>
              <a:endParaRPr sz="1000"/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2847975" y="2706688"/>
              <a:ext cx="720600" cy="431700"/>
            </a:xfrm>
            <a:prstGeom prst="chevron">
              <a:avLst>
                <a:gd fmla="val 15130" name="adj"/>
              </a:avLst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03" name="Google Shape;203;p20"/>
          <p:cNvGrpSpPr/>
          <p:nvPr/>
        </p:nvGrpSpPr>
        <p:grpSpPr>
          <a:xfrm>
            <a:off x="679450" y="3057525"/>
            <a:ext cx="8353350" cy="1026225"/>
            <a:chOff x="679450" y="4076700"/>
            <a:chExt cx="8353350" cy="1368300"/>
          </a:xfrm>
        </p:grpSpPr>
        <p:sp>
          <p:nvSpPr>
            <p:cNvPr id="204" name="Google Shape;204;p20"/>
            <p:cNvSpPr txBox="1"/>
            <p:nvPr/>
          </p:nvSpPr>
          <p:spPr>
            <a:xfrm>
              <a:off x="679450" y="4260850"/>
              <a:ext cx="22368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chitects Daughter"/>
                <a:buNone/>
              </a:pPr>
              <a:r>
                <a:rPr b="1" i="0" lang="es-419" sz="26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Heterogénea</a:t>
              </a:r>
              <a:endParaRPr sz="800"/>
            </a:p>
          </p:txBody>
        </p:sp>
        <p:sp>
          <p:nvSpPr>
            <p:cNvPr id="205" name="Google Shape;205;p20"/>
            <p:cNvSpPr txBox="1"/>
            <p:nvPr/>
          </p:nvSpPr>
          <p:spPr>
            <a:xfrm>
              <a:off x="3708400" y="4076700"/>
              <a:ext cx="5324400" cy="13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chitects Daughter"/>
                <a:buNone/>
              </a:pPr>
              <a:r>
                <a:rPr b="1" i="0" lang="es-419" sz="27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Los elementos que la componen pueden ser de distinto tipo</a:t>
              </a:r>
              <a:endParaRPr sz="900"/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2916238" y="4291013"/>
              <a:ext cx="719100" cy="431700"/>
            </a:xfrm>
            <a:prstGeom prst="chevron">
              <a:avLst>
                <a:gd fmla="val 15115" name="adj"/>
              </a:avLst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213" name="Google Shape;213;p21"/>
          <p:cNvSpPr txBox="1"/>
          <p:nvPr>
            <p:ph idx="4294967295" type="subTitle"/>
          </p:nvPr>
        </p:nvSpPr>
        <p:spPr>
          <a:xfrm>
            <a:off x="179387" y="1087040"/>
            <a:ext cx="19623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3200"/>
              <a:buFont typeface="Arial"/>
              <a:buNone/>
            </a:pPr>
            <a:r>
              <a:rPr b="1" i="0" lang="es-419" sz="3200" u="none">
                <a:solidFill>
                  <a:srgbClr val="FF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Tamaño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8656637" y="4827984"/>
            <a:ext cx="4524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Clasificación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2916237" y="964406"/>
            <a:ext cx="6048300" cy="11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3200"/>
              <a:buFont typeface="Architects Daughter"/>
              <a:buNone/>
            </a:pPr>
            <a:r>
              <a:rPr b="1" i="0" lang="es-419" sz="27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Hace referencia a si la estructura puede variar su tamaño durante la ejecución del programa.</a:t>
            </a:r>
            <a:endParaRPr sz="900"/>
          </a:p>
        </p:txBody>
      </p:sp>
      <p:sp>
        <p:nvSpPr>
          <p:cNvPr id="218" name="Google Shape;218;p21"/>
          <p:cNvSpPr/>
          <p:nvPr/>
        </p:nvSpPr>
        <p:spPr>
          <a:xfrm>
            <a:off x="2122487" y="1113234"/>
            <a:ext cx="720600" cy="323700"/>
          </a:xfrm>
          <a:prstGeom prst="chevron">
            <a:avLst>
              <a:gd fmla="val 15130" name="adj"/>
            </a:avLst>
          </a:prstGeom>
          <a:solidFill>
            <a:srgbClr val="6F6F6F"/>
          </a:solidFill>
          <a:ln cap="flat" cmpd="sng" w="12700">
            <a:solidFill>
              <a:srgbClr val="6F6F6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19" name="Google Shape;219;p21"/>
          <p:cNvGrpSpPr/>
          <p:nvPr/>
        </p:nvGrpSpPr>
        <p:grpSpPr>
          <a:xfrm>
            <a:off x="611187" y="2516983"/>
            <a:ext cx="8353350" cy="1077525"/>
            <a:chOff x="611188" y="3355975"/>
            <a:chExt cx="8353350" cy="1436700"/>
          </a:xfrm>
        </p:grpSpPr>
        <p:sp>
          <p:nvSpPr>
            <p:cNvPr id="220" name="Google Shape;220;p21"/>
            <p:cNvSpPr txBox="1"/>
            <p:nvPr/>
          </p:nvSpPr>
          <p:spPr>
            <a:xfrm>
              <a:off x="611188" y="3540125"/>
              <a:ext cx="22368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chitects Daughter"/>
                <a:buNone/>
              </a:pPr>
              <a:r>
                <a:rPr b="1" i="0" lang="es-419" sz="32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Estática</a:t>
              </a:r>
              <a:endParaRPr/>
            </a:p>
          </p:txBody>
        </p:sp>
        <p:sp>
          <p:nvSpPr>
            <p:cNvPr id="221" name="Google Shape;221;p21"/>
            <p:cNvSpPr txBox="1"/>
            <p:nvPr/>
          </p:nvSpPr>
          <p:spPr>
            <a:xfrm>
              <a:off x="3640138" y="3355975"/>
              <a:ext cx="5324400" cy="14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chitects Daughter"/>
                <a:buNone/>
              </a:pPr>
              <a:r>
                <a:rPr b="1" i="0" lang="es-419" sz="27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El tamaño de la estructura no varía durante la ejecución del programa</a:t>
              </a:r>
              <a:endParaRPr sz="900"/>
            </a:p>
          </p:txBody>
        </p:sp>
        <p:sp>
          <p:nvSpPr>
            <p:cNvPr id="222" name="Google Shape;222;p21"/>
            <p:cNvSpPr/>
            <p:nvPr/>
          </p:nvSpPr>
          <p:spPr>
            <a:xfrm>
              <a:off x="2847975" y="3571875"/>
              <a:ext cx="720600" cy="431700"/>
            </a:xfrm>
            <a:prstGeom prst="chevron">
              <a:avLst>
                <a:gd fmla="val 15130" name="adj"/>
              </a:avLst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23" name="Google Shape;223;p21"/>
          <p:cNvGrpSpPr/>
          <p:nvPr/>
        </p:nvGrpSpPr>
        <p:grpSpPr>
          <a:xfrm>
            <a:off x="679450" y="3744515"/>
            <a:ext cx="8280325" cy="1077525"/>
            <a:chOff x="679450" y="4992688"/>
            <a:chExt cx="8280325" cy="1436700"/>
          </a:xfrm>
        </p:grpSpPr>
        <p:sp>
          <p:nvSpPr>
            <p:cNvPr id="224" name="Google Shape;224;p21"/>
            <p:cNvSpPr txBox="1"/>
            <p:nvPr/>
          </p:nvSpPr>
          <p:spPr>
            <a:xfrm>
              <a:off x="679450" y="5124450"/>
              <a:ext cx="22368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chitects Daughter"/>
                <a:buNone/>
              </a:pPr>
              <a:r>
                <a:rPr b="1" i="0" lang="es-419" sz="32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Dinámica</a:t>
              </a:r>
              <a:endParaRPr/>
            </a:p>
          </p:txBody>
        </p:sp>
        <p:sp>
          <p:nvSpPr>
            <p:cNvPr id="225" name="Google Shape;225;p21"/>
            <p:cNvSpPr/>
            <p:nvPr/>
          </p:nvSpPr>
          <p:spPr>
            <a:xfrm>
              <a:off x="2916238" y="5154613"/>
              <a:ext cx="719100" cy="433500"/>
            </a:xfrm>
            <a:prstGeom prst="chevron">
              <a:avLst>
                <a:gd fmla="val 15091" name="adj"/>
              </a:avLst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6" name="Google Shape;226;p21"/>
            <p:cNvSpPr txBox="1"/>
            <p:nvPr/>
          </p:nvSpPr>
          <p:spPr>
            <a:xfrm>
              <a:off x="3635375" y="4992688"/>
              <a:ext cx="5324400" cy="14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chitects Daughter"/>
                <a:buNone/>
              </a:pPr>
              <a:r>
                <a:rPr b="1" i="0" lang="es-419" sz="26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El tamaño de la estructura no varía durante la ejecución del programa</a:t>
              </a:r>
              <a:endParaRPr sz="8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233" name="Google Shape;233;p22"/>
          <p:cNvSpPr txBox="1"/>
          <p:nvPr>
            <p:ph idx="4294967295" type="subTitle"/>
          </p:nvPr>
        </p:nvSpPr>
        <p:spPr>
          <a:xfrm>
            <a:off x="179387" y="1087040"/>
            <a:ext cx="19623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3200"/>
              <a:buFont typeface="Arial"/>
              <a:buNone/>
            </a:pPr>
            <a:r>
              <a:rPr b="1" i="0" lang="es-419" sz="3200" u="none">
                <a:solidFill>
                  <a:srgbClr val="FF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Acceso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8656637" y="4827984"/>
            <a:ext cx="4524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Clasificación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2916237" y="964406"/>
            <a:ext cx="6048300" cy="11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3200"/>
              <a:buFont typeface="Architects Daughter"/>
              <a:buNone/>
            </a:pPr>
            <a:r>
              <a:rPr b="1" i="0" lang="es-419" sz="28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Hace referencia a como se pueden acceder a los elementos que la componen.</a:t>
            </a:r>
            <a:endParaRPr sz="1000"/>
          </a:p>
        </p:txBody>
      </p:sp>
      <p:sp>
        <p:nvSpPr>
          <p:cNvPr id="238" name="Google Shape;238;p22"/>
          <p:cNvSpPr/>
          <p:nvPr/>
        </p:nvSpPr>
        <p:spPr>
          <a:xfrm>
            <a:off x="2122487" y="1113234"/>
            <a:ext cx="720600" cy="323700"/>
          </a:xfrm>
          <a:prstGeom prst="chevron">
            <a:avLst>
              <a:gd fmla="val 15130" name="adj"/>
            </a:avLst>
          </a:prstGeom>
          <a:solidFill>
            <a:srgbClr val="6F6F6F"/>
          </a:solidFill>
          <a:ln cap="flat" cmpd="sng" w="12700">
            <a:solidFill>
              <a:srgbClr val="6F6F6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39" name="Google Shape;239;p22"/>
          <p:cNvGrpSpPr/>
          <p:nvPr/>
        </p:nvGrpSpPr>
        <p:grpSpPr>
          <a:xfrm>
            <a:off x="323850" y="2085976"/>
            <a:ext cx="8713750" cy="1546650"/>
            <a:chOff x="323528" y="2781300"/>
            <a:chExt cx="8713750" cy="2062200"/>
          </a:xfrm>
        </p:grpSpPr>
        <p:sp>
          <p:nvSpPr>
            <p:cNvPr id="240" name="Google Shape;240;p22"/>
            <p:cNvSpPr txBox="1"/>
            <p:nvPr/>
          </p:nvSpPr>
          <p:spPr>
            <a:xfrm>
              <a:off x="323528" y="2965450"/>
              <a:ext cx="22368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chitects Daughter"/>
                <a:buNone/>
              </a:pPr>
              <a:r>
                <a:rPr b="1" i="0" lang="es-419" sz="32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Secuencial</a:t>
              </a:r>
              <a:endParaRPr/>
            </a:p>
          </p:txBody>
        </p:sp>
        <p:sp>
          <p:nvSpPr>
            <p:cNvPr id="241" name="Google Shape;241;p22"/>
            <p:cNvSpPr txBox="1"/>
            <p:nvPr/>
          </p:nvSpPr>
          <p:spPr>
            <a:xfrm>
              <a:off x="3060378" y="2781300"/>
              <a:ext cx="5976900" cy="20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chitects Daughter"/>
                <a:buNone/>
              </a:pPr>
              <a:r>
                <a:rPr b="1" i="0" lang="es-419" sz="23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Para acceder a un elemento particular se debe respetar un orden predeterminado, por ejemplo, pasando por todos los elementos que le preceden, por ese orden.</a:t>
              </a:r>
              <a:endParaRPr sz="900"/>
            </a:p>
          </p:txBody>
        </p:sp>
        <p:sp>
          <p:nvSpPr>
            <p:cNvPr id="242" name="Google Shape;242;p22"/>
            <p:cNvSpPr/>
            <p:nvPr/>
          </p:nvSpPr>
          <p:spPr>
            <a:xfrm>
              <a:off x="2341241" y="2995613"/>
              <a:ext cx="719100" cy="431700"/>
            </a:xfrm>
            <a:prstGeom prst="chevron">
              <a:avLst>
                <a:gd fmla="val 15115" name="adj"/>
              </a:avLst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43" name="Google Shape;243;p22"/>
          <p:cNvGrpSpPr/>
          <p:nvPr/>
        </p:nvGrpSpPr>
        <p:grpSpPr>
          <a:xfrm>
            <a:off x="319087" y="3651646"/>
            <a:ext cx="8640850" cy="1399050"/>
            <a:chOff x="319088" y="4868863"/>
            <a:chExt cx="8640850" cy="1865400"/>
          </a:xfrm>
        </p:grpSpPr>
        <p:sp>
          <p:nvSpPr>
            <p:cNvPr id="244" name="Google Shape;244;p22"/>
            <p:cNvSpPr txBox="1"/>
            <p:nvPr/>
          </p:nvSpPr>
          <p:spPr>
            <a:xfrm>
              <a:off x="319088" y="5000625"/>
              <a:ext cx="22368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chitects Daughter"/>
                <a:buNone/>
              </a:pPr>
              <a:r>
                <a:rPr b="1" i="0" lang="es-419" sz="32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Directo</a:t>
              </a:r>
              <a:endParaRPr/>
            </a:p>
          </p:txBody>
        </p:sp>
        <p:sp>
          <p:nvSpPr>
            <p:cNvPr id="245" name="Google Shape;245;p22"/>
            <p:cNvSpPr/>
            <p:nvPr/>
          </p:nvSpPr>
          <p:spPr>
            <a:xfrm>
              <a:off x="2335213" y="5030788"/>
              <a:ext cx="720600" cy="431700"/>
            </a:xfrm>
            <a:prstGeom prst="chevron">
              <a:avLst>
                <a:gd fmla="val 15130" name="adj"/>
              </a:avLst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6" name="Google Shape;246;p22"/>
            <p:cNvSpPr txBox="1"/>
            <p:nvPr/>
          </p:nvSpPr>
          <p:spPr>
            <a:xfrm>
              <a:off x="3055938" y="4868863"/>
              <a:ext cx="5904000" cy="186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chitects Daughter"/>
                <a:buNone/>
              </a:pPr>
              <a:r>
                <a:rPr b="1" i="0" lang="es-419" sz="22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Se puede acceder a un elemento particular, directamente, sin necesidad de pasar por los anteriores a él, por ejemplo, referenciando una posición.</a:t>
              </a:r>
              <a:endParaRPr sz="80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253" name="Google Shape;253;p23"/>
          <p:cNvSpPr txBox="1"/>
          <p:nvPr>
            <p:ph idx="4294967295" type="subTitle"/>
          </p:nvPr>
        </p:nvSpPr>
        <p:spPr>
          <a:xfrm>
            <a:off x="179387" y="1087040"/>
            <a:ext cx="2089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3200"/>
              <a:buFont typeface="Arial"/>
              <a:buNone/>
            </a:pPr>
            <a:r>
              <a:rPr b="1" i="0" lang="es-419" sz="3200" u="none">
                <a:solidFill>
                  <a:srgbClr val="FF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Linealidad 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Clasificación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2916237" y="964406"/>
            <a:ext cx="6048300" cy="11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3200"/>
              <a:buFont typeface="Architects Daughter"/>
              <a:buNone/>
            </a:pPr>
            <a:r>
              <a:rPr b="1" i="0" lang="es-419" sz="28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Hace referencia a como se encuentran almacenados los elementos que la componen.</a:t>
            </a:r>
            <a:endParaRPr sz="1000"/>
          </a:p>
        </p:txBody>
      </p:sp>
      <p:sp>
        <p:nvSpPr>
          <p:cNvPr id="258" name="Google Shape;258;p23"/>
          <p:cNvSpPr/>
          <p:nvPr/>
        </p:nvSpPr>
        <p:spPr>
          <a:xfrm>
            <a:off x="2195512" y="1113234"/>
            <a:ext cx="720600" cy="323700"/>
          </a:xfrm>
          <a:prstGeom prst="chevron">
            <a:avLst>
              <a:gd fmla="val 15130" name="adj"/>
            </a:avLst>
          </a:prstGeom>
          <a:solidFill>
            <a:srgbClr val="6F6F6F"/>
          </a:solidFill>
          <a:ln cap="flat" cmpd="sng" w="12700">
            <a:solidFill>
              <a:srgbClr val="6F6F6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59" name="Google Shape;259;p23"/>
          <p:cNvGrpSpPr/>
          <p:nvPr/>
        </p:nvGrpSpPr>
        <p:grpSpPr>
          <a:xfrm>
            <a:off x="250825" y="2213372"/>
            <a:ext cx="8713750" cy="1546650"/>
            <a:chOff x="250825" y="2951163"/>
            <a:chExt cx="8713750" cy="2062200"/>
          </a:xfrm>
        </p:grpSpPr>
        <p:sp>
          <p:nvSpPr>
            <p:cNvPr id="260" name="Google Shape;260;p23"/>
            <p:cNvSpPr txBox="1"/>
            <p:nvPr/>
          </p:nvSpPr>
          <p:spPr>
            <a:xfrm>
              <a:off x="250825" y="3135313"/>
              <a:ext cx="22368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chitects Daughter"/>
                <a:buNone/>
              </a:pPr>
              <a:r>
                <a:rPr b="1" i="0" lang="es-419" sz="32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Lineal</a:t>
              </a:r>
              <a:endParaRPr/>
            </a:p>
          </p:txBody>
        </p:sp>
        <p:sp>
          <p:nvSpPr>
            <p:cNvPr id="261" name="Google Shape;261;p23"/>
            <p:cNvSpPr txBox="1"/>
            <p:nvPr/>
          </p:nvSpPr>
          <p:spPr>
            <a:xfrm>
              <a:off x="2987675" y="2951163"/>
              <a:ext cx="5976900" cy="20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chitects Daughter"/>
                <a:buNone/>
              </a:pPr>
              <a:r>
                <a:rPr b="1" i="0" lang="es-419" sz="22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Está formada por ninguno, uno o varios  elementos que guardan una relación de adyacencia ordenada donde a cada elemento le sigue uno y le precede uno, solamente.</a:t>
              </a:r>
              <a:endParaRPr sz="800"/>
            </a:p>
          </p:txBody>
        </p:sp>
        <p:sp>
          <p:nvSpPr>
            <p:cNvPr id="262" name="Google Shape;262;p23"/>
            <p:cNvSpPr/>
            <p:nvPr/>
          </p:nvSpPr>
          <p:spPr>
            <a:xfrm>
              <a:off x="2268538" y="3165475"/>
              <a:ext cx="719100" cy="433500"/>
            </a:xfrm>
            <a:prstGeom prst="chevron">
              <a:avLst>
                <a:gd fmla="val 15091" name="adj"/>
              </a:avLst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63" name="Google Shape;263;p23"/>
          <p:cNvGrpSpPr/>
          <p:nvPr/>
        </p:nvGrpSpPr>
        <p:grpSpPr>
          <a:xfrm>
            <a:off x="395287" y="3868340"/>
            <a:ext cx="8640850" cy="1025100"/>
            <a:chOff x="395734" y="5157788"/>
            <a:chExt cx="8640850" cy="1366800"/>
          </a:xfrm>
        </p:grpSpPr>
        <p:sp>
          <p:nvSpPr>
            <p:cNvPr id="264" name="Google Shape;264;p23"/>
            <p:cNvSpPr txBox="1"/>
            <p:nvPr/>
          </p:nvSpPr>
          <p:spPr>
            <a:xfrm>
              <a:off x="395734" y="5287963"/>
              <a:ext cx="22368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chitects Daughter"/>
                <a:buNone/>
              </a:pPr>
              <a:r>
                <a:rPr b="1" i="0" lang="es-419" sz="32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No lineal</a:t>
              </a: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2411859" y="5319713"/>
              <a:ext cx="720600" cy="431700"/>
            </a:xfrm>
            <a:prstGeom prst="chevron">
              <a:avLst>
                <a:gd fmla="val 15130" name="adj"/>
              </a:avLst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6" name="Google Shape;266;p23"/>
            <p:cNvSpPr txBox="1"/>
            <p:nvPr/>
          </p:nvSpPr>
          <p:spPr>
            <a:xfrm>
              <a:off x="3132584" y="5157788"/>
              <a:ext cx="5904000" cy="13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chitects Daughter"/>
                <a:buNone/>
              </a:pPr>
              <a:r>
                <a:rPr b="1" i="0" lang="es-419" sz="22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Para un elemento dado pueden existir 0, 1 ó mas elementos que le suceden y 0, 1 ó mas elementos que le preceden.</a:t>
              </a:r>
              <a:endParaRPr sz="8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3843337" y="2653903"/>
            <a:ext cx="5142000" cy="17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tects Daughter"/>
              <a:buNone/>
            </a:pPr>
            <a:r>
              <a:rPr b="1" i="0" lang="es-419" sz="24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Una manera natural y lógica de agrupar los datos de cada alumno en una sola estructura es declarar un tipo</a:t>
            </a:r>
            <a:r>
              <a:rPr b="1" lang="es-419" sz="2400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Struct</a:t>
            </a:r>
            <a:r>
              <a:rPr b="1" i="0" lang="es-419" sz="24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asociando el conjunto de datos de cada alumno.</a:t>
            </a:r>
            <a:endParaRPr sz="1000"/>
          </a:p>
        </p:txBody>
      </p:sp>
      <p:sp>
        <p:nvSpPr>
          <p:cNvPr id="277" name="Google Shape;277;p24"/>
          <p:cNvSpPr txBox="1"/>
          <p:nvPr/>
        </p:nvSpPr>
        <p:spPr>
          <a:xfrm>
            <a:off x="1889125" y="978694"/>
            <a:ext cx="7004100" cy="13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29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Es uno de los tipos de datos estructurados, que permiten agrupar diferentes clases de datos en una estructura única.</a:t>
            </a:r>
            <a:endParaRPr sz="1100"/>
          </a:p>
        </p:txBody>
      </p:sp>
      <p:pic>
        <p:nvPicPr>
          <p:cNvPr id="278" name="Google Shape;27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897731"/>
            <a:ext cx="1169194" cy="86439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 txBox="1"/>
          <p:nvPr/>
        </p:nvSpPr>
        <p:spPr>
          <a:xfrm>
            <a:off x="-36512" y="1776413"/>
            <a:ext cx="203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lang="es-419" sz="3000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Struct</a:t>
            </a:r>
            <a:endParaRPr/>
          </a:p>
        </p:txBody>
      </p:sp>
      <p:grpSp>
        <p:nvGrpSpPr>
          <p:cNvPr id="280" name="Google Shape;280;p24"/>
          <p:cNvGrpSpPr/>
          <p:nvPr/>
        </p:nvGrpSpPr>
        <p:grpSpPr>
          <a:xfrm>
            <a:off x="733425" y="2369344"/>
            <a:ext cx="2986025" cy="2688366"/>
            <a:chOff x="5999163" y="3257550"/>
            <a:chExt cx="2986025" cy="3584488"/>
          </a:xfrm>
        </p:grpSpPr>
        <p:sp>
          <p:nvSpPr>
            <p:cNvPr id="281" name="Google Shape;281;p24"/>
            <p:cNvSpPr/>
            <p:nvPr/>
          </p:nvSpPr>
          <p:spPr>
            <a:xfrm>
              <a:off x="5999163" y="3257550"/>
              <a:ext cx="2630595" cy="3268980"/>
            </a:xfrm>
            <a:custGeom>
              <a:rect b="b" l="l" r="r" t="t"/>
              <a:pathLst>
                <a:path extrusionOk="0" h="3268980" w="2630595">
                  <a:moveTo>
                    <a:pt x="584473" y="34290"/>
                  </a:moveTo>
                  <a:cubicBezTo>
                    <a:pt x="527323" y="36195"/>
                    <a:pt x="556342" y="81764"/>
                    <a:pt x="538753" y="102870"/>
                  </a:cubicBezTo>
                  <a:cubicBezTo>
                    <a:pt x="454178" y="204360"/>
                    <a:pt x="490363" y="139830"/>
                    <a:pt x="401593" y="228600"/>
                  </a:cubicBezTo>
                  <a:cubicBezTo>
                    <a:pt x="305240" y="324953"/>
                    <a:pt x="441673" y="204217"/>
                    <a:pt x="367303" y="297180"/>
                  </a:cubicBezTo>
                  <a:cubicBezTo>
                    <a:pt x="358721" y="307907"/>
                    <a:pt x="343443" y="311100"/>
                    <a:pt x="333013" y="320040"/>
                  </a:cubicBezTo>
                  <a:cubicBezTo>
                    <a:pt x="316649" y="334066"/>
                    <a:pt x="301215" y="349307"/>
                    <a:pt x="287293" y="365760"/>
                  </a:cubicBezTo>
                  <a:cubicBezTo>
                    <a:pt x="259233" y="398922"/>
                    <a:pt x="236637" y="436608"/>
                    <a:pt x="207283" y="468630"/>
                  </a:cubicBezTo>
                  <a:cubicBezTo>
                    <a:pt x="129450" y="553539"/>
                    <a:pt x="189866" y="448491"/>
                    <a:pt x="127273" y="548640"/>
                  </a:cubicBezTo>
                  <a:cubicBezTo>
                    <a:pt x="77337" y="628538"/>
                    <a:pt x="132853" y="560341"/>
                    <a:pt x="81553" y="662940"/>
                  </a:cubicBezTo>
                  <a:lnTo>
                    <a:pt x="58693" y="708660"/>
                  </a:lnTo>
                  <a:lnTo>
                    <a:pt x="35833" y="822960"/>
                  </a:lnTo>
                  <a:lnTo>
                    <a:pt x="24403" y="880110"/>
                  </a:lnTo>
                  <a:cubicBezTo>
                    <a:pt x="28326" y="948761"/>
                    <a:pt x="-61844" y="1241564"/>
                    <a:pt x="81553" y="1303020"/>
                  </a:cubicBezTo>
                  <a:cubicBezTo>
                    <a:pt x="95992" y="1309208"/>
                    <a:pt x="112168" y="1310134"/>
                    <a:pt x="127273" y="1314450"/>
                  </a:cubicBezTo>
                  <a:cubicBezTo>
                    <a:pt x="138858" y="1317760"/>
                    <a:pt x="150133" y="1322070"/>
                    <a:pt x="161563" y="1325880"/>
                  </a:cubicBezTo>
                  <a:cubicBezTo>
                    <a:pt x="172993" y="1337310"/>
                    <a:pt x="187286" y="1346463"/>
                    <a:pt x="195853" y="1360170"/>
                  </a:cubicBezTo>
                  <a:cubicBezTo>
                    <a:pt x="216594" y="1393356"/>
                    <a:pt x="219826" y="1426930"/>
                    <a:pt x="230143" y="1463040"/>
                  </a:cubicBezTo>
                  <a:cubicBezTo>
                    <a:pt x="233453" y="1474625"/>
                    <a:pt x="237763" y="1485900"/>
                    <a:pt x="241573" y="1497330"/>
                  </a:cubicBezTo>
                  <a:cubicBezTo>
                    <a:pt x="237763" y="1558290"/>
                    <a:pt x="235934" y="1619406"/>
                    <a:pt x="230143" y="1680210"/>
                  </a:cubicBezTo>
                  <a:cubicBezTo>
                    <a:pt x="228301" y="1699550"/>
                    <a:pt x="225534" y="1719170"/>
                    <a:pt x="218713" y="1737360"/>
                  </a:cubicBezTo>
                  <a:cubicBezTo>
                    <a:pt x="213890" y="1750222"/>
                    <a:pt x="203473" y="1760220"/>
                    <a:pt x="195853" y="1771650"/>
                  </a:cubicBezTo>
                  <a:cubicBezTo>
                    <a:pt x="165006" y="1925886"/>
                    <a:pt x="211640" y="1726031"/>
                    <a:pt x="150133" y="1885950"/>
                  </a:cubicBezTo>
                  <a:cubicBezTo>
                    <a:pt x="138855" y="1915274"/>
                    <a:pt x="144701" y="1951249"/>
                    <a:pt x="127273" y="1977390"/>
                  </a:cubicBezTo>
                  <a:cubicBezTo>
                    <a:pt x="106722" y="2008216"/>
                    <a:pt x="100870" y="2010478"/>
                    <a:pt x="92983" y="2045970"/>
                  </a:cubicBezTo>
                  <a:cubicBezTo>
                    <a:pt x="81582" y="2097276"/>
                    <a:pt x="75626" y="2167895"/>
                    <a:pt x="70123" y="2217420"/>
                  </a:cubicBezTo>
                  <a:cubicBezTo>
                    <a:pt x="73933" y="2266950"/>
                    <a:pt x="68753" y="2318011"/>
                    <a:pt x="81553" y="2366010"/>
                  </a:cubicBezTo>
                  <a:cubicBezTo>
                    <a:pt x="85093" y="2379283"/>
                    <a:pt x="104665" y="2380885"/>
                    <a:pt x="115843" y="2388870"/>
                  </a:cubicBezTo>
                  <a:cubicBezTo>
                    <a:pt x="131345" y="2399943"/>
                    <a:pt x="145108" y="2413561"/>
                    <a:pt x="161563" y="2423160"/>
                  </a:cubicBezTo>
                  <a:cubicBezTo>
                    <a:pt x="229707" y="2462911"/>
                    <a:pt x="232720" y="2462119"/>
                    <a:pt x="287293" y="2480310"/>
                  </a:cubicBezTo>
                  <a:cubicBezTo>
                    <a:pt x="283483" y="2499360"/>
                    <a:pt x="282684" y="2519270"/>
                    <a:pt x="275863" y="2537460"/>
                  </a:cubicBezTo>
                  <a:cubicBezTo>
                    <a:pt x="271040" y="2550322"/>
                    <a:pt x="260203" y="2560051"/>
                    <a:pt x="253003" y="2571750"/>
                  </a:cubicBezTo>
                  <a:cubicBezTo>
                    <a:pt x="229716" y="2609591"/>
                    <a:pt x="209069" y="2649080"/>
                    <a:pt x="184423" y="2686050"/>
                  </a:cubicBezTo>
                  <a:cubicBezTo>
                    <a:pt x="176803" y="2697480"/>
                    <a:pt x="167706" y="2708053"/>
                    <a:pt x="161563" y="2720340"/>
                  </a:cubicBezTo>
                  <a:cubicBezTo>
                    <a:pt x="123115" y="2797235"/>
                    <a:pt x="162795" y="2761429"/>
                    <a:pt x="104413" y="2800350"/>
                  </a:cubicBezTo>
                  <a:cubicBezTo>
                    <a:pt x="75683" y="2886539"/>
                    <a:pt x="114438" y="2780300"/>
                    <a:pt x="70123" y="2868930"/>
                  </a:cubicBezTo>
                  <a:cubicBezTo>
                    <a:pt x="60947" y="2887281"/>
                    <a:pt x="54883" y="2907030"/>
                    <a:pt x="47263" y="2926080"/>
                  </a:cubicBezTo>
                  <a:cubicBezTo>
                    <a:pt x="60105" y="3067340"/>
                    <a:pt x="13674" y="3151742"/>
                    <a:pt x="115843" y="3223260"/>
                  </a:cubicBezTo>
                  <a:cubicBezTo>
                    <a:pt x="136781" y="3237917"/>
                    <a:pt x="159995" y="3250034"/>
                    <a:pt x="184423" y="3257550"/>
                  </a:cubicBezTo>
                  <a:cubicBezTo>
                    <a:pt x="210172" y="3265473"/>
                    <a:pt x="237763" y="3265170"/>
                    <a:pt x="264433" y="3268980"/>
                  </a:cubicBezTo>
                  <a:cubicBezTo>
                    <a:pt x="382543" y="3265170"/>
                    <a:pt x="500940" y="3266613"/>
                    <a:pt x="618763" y="3257550"/>
                  </a:cubicBezTo>
                  <a:cubicBezTo>
                    <a:pt x="650089" y="3255140"/>
                    <a:pt x="679620" y="3241886"/>
                    <a:pt x="710203" y="3234690"/>
                  </a:cubicBezTo>
                  <a:cubicBezTo>
                    <a:pt x="744396" y="3226645"/>
                    <a:pt x="778995" y="3220349"/>
                    <a:pt x="813073" y="3211830"/>
                  </a:cubicBezTo>
                  <a:cubicBezTo>
                    <a:pt x="824762" y="3208908"/>
                    <a:pt x="835582" y="3202924"/>
                    <a:pt x="847363" y="3200400"/>
                  </a:cubicBezTo>
                  <a:cubicBezTo>
                    <a:pt x="889015" y="3191475"/>
                    <a:pt x="931183" y="3185160"/>
                    <a:pt x="973093" y="3177540"/>
                  </a:cubicBezTo>
                  <a:cubicBezTo>
                    <a:pt x="988333" y="3169920"/>
                    <a:pt x="1002528" y="3159691"/>
                    <a:pt x="1018813" y="3154680"/>
                  </a:cubicBezTo>
                  <a:cubicBezTo>
                    <a:pt x="1095993" y="3130932"/>
                    <a:pt x="1145084" y="3129220"/>
                    <a:pt x="1224553" y="3120390"/>
                  </a:cubicBezTo>
                  <a:lnTo>
                    <a:pt x="1315993" y="3074670"/>
                  </a:lnTo>
                  <a:cubicBezTo>
                    <a:pt x="1331233" y="3067050"/>
                    <a:pt x="1345005" y="3055152"/>
                    <a:pt x="1361713" y="3051810"/>
                  </a:cubicBezTo>
                  <a:lnTo>
                    <a:pt x="1418863" y="3040380"/>
                  </a:lnTo>
                  <a:cubicBezTo>
                    <a:pt x="1533781" y="2982921"/>
                    <a:pt x="1388789" y="3050405"/>
                    <a:pt x="1521733" y="3006090"/>
                  </a:cubicBezTo>
                  <a:cubicBezTo>
                    <a:pt x="1537897" y="3000702"/>
                    <a:pt x="1552659" y="2991684"/>
                    <a:pt x="1567453" y="2983230"/>
                  </a:cubicBezTo>
                  <a:cubicBezTo>
                    <a:pt x="1579380" y="2976414"/>
                    <a:pt x="1588534" y="2964144"/>
                    <a:pt x="1601743" y="2960370"/>
                  </a:cubicBezTo>
                  <a:cubicBezTo>
                    <a:pt x="1642701" y="2948668"/>
                    <a:pt x="1685606" y="2945360"/>
                    <a:pt x="1727473" y="2937510"/>
                  </a:cubicBezTo>
                  <a:cubicBezTo>
                    <a:pt x="1746568" y="2933930"/>
                    <a:pt x="1765346" y="2928490"/>
                    <a:pt x="1784623" y="2926080"/>
                  </a:cubicBezTo>
                  <a:cubicBezTo>
                    <a:pt x="2000626" y="2899080"/>
                    <a:pt x="2345230" y="2906123"/>
                    <a:pt x="2493283" y="2903220"/>
                  </a:cubicBezTo>
                  <a:cubicBezTo>
                    <a:pt x="2500903" y="2891790"/>
                    <a:pt x="2510000" y="2881217"/>
                    <a:pt x="2516143" y="2868930"/>
                  </a:cubicBezTo>
                  <a:cubicBezTo>
                    <a:pt x="2537664" y="2825889"/>
                    <a:pt x="2539519" y="2809715"/>
                    <a:pt x="2550433" y="2766060"/>
                  </a:cubicBezTo>
                  <a:cubicBezTo>
                    <a:pt x="2546623" y="2495550"/>
                    <a:pt x="2546215" y="2224971"/>
                    <a:pt x="2539003" y="1954530"/>
                  </a:cubicBezTo>
                  <a:cubicBezTo>
                    <a:pt x="2537978" y="1916088"/>
                    <a:pt x="2524274" y="1903862"/>
                    <a:pt x="2504713" y="1874520"/>
                  </a:cubicBezTo>
                  <a:cubicBezTo>
                    <a:pt x="2484290" y="1792829"/>
                    <a:pt x="2509557" y="1860573"/>
                    <a:pt x="2447563" y="1783080"/>
                  </a:cubicBezTo>
                  <a:cubicBezTo>
                    <a:pt x="2371363" y="1687830"/>
                    <a:pt x="2436133" y="1737360"/>
                    <a:pt x="2367553" y="1691640"/>
                  </a:cubicBezTo>
                  <a:cubicBezTo>
                    <a:pt x="2339725" y="1608157"/>
                    <a:pt x="2350537" y="1646437"/>
                    <a:pt x="2333263" y="1577340"/>
                  </a:cubicBezTo>
                  <a:cubicBezTo>
                    <a:pt x="2340883" y="1493520"/>
                    <a:pt x="2346476" y="1409491"/>
                    <a:pt x="2356123" y="1325880"/>
                  </a:cubicBezTo>
                  <a:cubicBezTo>
                    <a:pt x="2357924" y="1310275"/>
                    <a:pt x="2360528" y="1294211"/>
                    <a:pt x="2367553" y="1280160"/>
                  </a:cubicBezTo>
                  <a:cubicBezTo>
                    <a:pt x="2388956" y="1237354"/>
                    <a:pt x="2407537" y="1234465"/>
                    <a:pt x="2436133" y="1200150"/>
                  </a:cubicBezTo>
                  <a:cubicBezTo>
                    <a:pt x="2483758" y="1143000"/>
                    <a:pt x="2430418" y="1184910"/>
                    <a:pt x="2493283" y="1143000"/>
                  </a:cubicBezTo>
                  <a:cubicBezTo>
                    <a:pt x="2550599" y="1057026"/>
                    <a:pt x="2512726" y="1126260"/>
                    <a:pt x="2527573" y="925830"/>
                  </a:cubicBezTo>
                  <a:cubicBezTo>
                    <a:pt x="2533965" y="839543"/>
                    <a:pt x="2547496" y="709108"/>
                    <a:pt x="2561863" y="628650"/>
                  </a:cubicBezTo>
                  <a:cubicBezTo>
                    <a:pt x="2570799" y="578610"/>
                    <a:pt x="2585786" y="529823"/>
                    <a:pt x="2596153" y="480060"/>
                  </a:cubicBezTo>
                  <a:cubicBezTo>
                    <a:pt x="2604841" y="438358"/>
                    <a:pt x="2611393" y="396240"/>
                    <a:pt x="2619013" y="354330"/>
                  </a:cubicBezTo>
                  <a:cubicBezTo>
                    <a:pt x="2620798" y="329344"/>
                    <a:pt x="2644157" y="138136"/>
                    <a:pt x="2619013" y="91440"/>
                  </a:cubicBezTo>
                  <a:cubicBezTo>
                    <a:pt x="2605987" y="67250"/>
                    <a:pt x="2574553" y="58876"/>
                    <a:pt x="2550433" y="45720"/>
                  </a:cubicBezTo>
                  <a:cubicBezTo>
                    <a:pt x="2501882" y="19238"/>
                    <a:pt x="2443801" y="10678"/>
                    <a:pt x="2390413" y="0"/>
                  </a:cubicBezTo>
                  <a:lnTo>
                    <a:pt x="1373143" y="11430"/>
                  </a:lnTo>
                  <a:cubicBezTo>
                    <a:pt x="1357438" y="11768"/>
                    <a:pt x="1342918" y="20277"/>
                    <a:pt x="1327423" y="22860"/>
                  </a:cubicBezTo>
                  <a:cubicBezTo>
                    <a:pt x="1274275" y="31718"/>
                    <a:pt x="1220551" y="36862"/>
                    <a:pt x="1167403" y="45720"/>
                  </a:cubicBezTo>
                  <a:lnTo>
                    <a:pt x="1098823" y="57150"/>
                  </a:lnTo>
                  <a:cubicBezTo>
                    <a:pt x="1079709" y="60625"/>
                    <a:pt x="1060874" y="65626"/>
                    <a:pt x="1041673" y="68580"/>
                  </a:cubicBezTo>
                  <a:cubicBezTo>
                    <a:pt x="669755" y="125798"/>
                    <a:pt x="1174796" y="42583"/>
                    <a:pt x="881653" y="91440"/>
                  </a:cubicBezTo>
                  <a:cubicBezTo>
                    <a:pt x="588289" y="79705"/>
                    <a:pt x="641623" y="32385"/>
                    <a:pt x="584473" y="34290"/>
                  </a:cubicBez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82" name="Google Shape;282;p24"/>
            <p:cNvSpPr txBox="1"/>
            <p:nvPr/>
          </p:nvSpPr>
          <p:spPr>
            <a:xfrm>
              <a:off x="6948488" y="6230938"/>
              <a:ext cx="20367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Architects Daughter"/>
                <a:buNone/>
              </a:pPr>
              <a:r>
                <a:rPr b="1" i="0" lang="es-419" sz="33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Alumno</a:t>
              </a:r>
              <a:endParaRPr sz="700"/>
            </a:p>
          </p:txBody>
        </p:sp>
      </p:grpSp>
      <p:sp>
        <p:nvSpPr>
          <p:cNvPr id="283" name="Google Shape;283;p24"/>
          <p:cNvSpPr txBox="1"/>
          <p:nvPr/>
        </p:nvSpPr>
        <p:spPr>
          <a:xfrm rot="-270428">
            <a:off x="1387735" y="2899549"/>
            <a:ext cx="1580488" cy="389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chemeClr val="accen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Nombre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1482725" y="2525315"/>
            <a:ext cx="15924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rgbClr val="FF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apellido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 rot="-179532">
            <a:off x="1480252" y="3313228"/>
            <a:ext cx="1316094" cy="423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dni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 rot="-180189">
            <a:off x="1269310" y="3732232"/>
            <a:ext cx="1780846" cy="388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chemeClr val="accent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promedio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995362" y="4169569"/>
            <a:ext cx="23637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nro Alumno</a:t>
            </a:r>
            <a:endParaRPr/>
          </a:p>
        </p:txBody>
      </p:sp>
      <p:pic>
        <p:nvPicPr>
          <p:cNvPr id="288" name="Google Shape;288;p24"/>
          <p:cNvPicPr preferRelativeResize="0"/>
          <p:nvPr/>
        </p:nvPicPr>
        <p:blipFill rotWithShape="1">
          <a:blip r:embed="rId4">
            <a:alphaModFix/>
          </a:blip>
          <a:srcRect b="12987" l="23520" r="22719" t="13091"/>
          <a:stretch/>
        </p:blipFill>
        <p:spPr>
          <a:xfrm>
            <a:off x="339725" y="3189684"/>
            <a:ext cx="779462" cy="802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188912" y="104775"/>
            <a:ext cx="8486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-107950" y="903684"/>
            <a:ext cx="203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lang="es-419" sz="3000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Struct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2051050" y="853678"/>
            <a:ext cx="22368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25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Heterogénea</a:t>
            </a:r>
            <a:endParaRPr sz="700"/>
          </a:p>
        </p:txBody>
      </p:sp>
      <p:sp>
        <p:nvSpPr>
          <p:cNvPr id="300" name="Google Shape;300;p25"/>
          <p:cNvSpPr txBox="1"/>
          <p:nvPr/>
        </p:nvSpPr>
        <p:spPr>
          <a:xfrm>
            <a:off x="3419475" y="1182290"/>
            <a:ext cx="55101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3000"/>
              <a:buFont typeface="Architects Daughter"/>
              <a:buNone/>
            </a:pPr>
            <a:r>
              <a:rPr b="1" i="0" lang="es-419" sz="26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Los elementos pueden ser de distinto tipo (puede haber registros con todos elementos del mismo tipo)</a:t>
            </a:r>
            <a:endParaRPr sz="1000"/>
          </a:p>
        </p:txBody>
      </p:sp>
      <p:sp>
        <p:nvSpPr>
          <p:cNvPr id="301" name="Google Shape;301;p25"/>
          <p:cNvSpPr/>
          <p:nvPr/>
        </p:nvSpPr>
        <p:spPr>
          <a:xfrm>
            <a:off x="2560637" y="1270397"/>
            <a:ext cx="720600" cy="323700"/>
          </a:xfrm>
          <a:prstGeom prst="chevron">
            <a:avLst>
              <a:gd fmla="val 15130" name="adj"/>
            </a:avLst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2" name="Google Shape;302;p25"/>
          <p:cNvSpPr txBox="1"/>
          <p:nvPr/>
        </p:nvSpPr>
        <p:spPr>
          <a:xfrm>
            <a:off x="2111375" y="2594372"/>
            <a:ext cx="22368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28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Estática</a:t>
            </a:r>
            <a:endParaRPr sz="1000"/>
          </a:p>
        </p:txBody>
      </p:sp>
      <p:sp>
        <p:nvSpPr>
          <p:cNvPr id="303" name="Google Shape;303;p25"/>
          <p:cNvSpPr txBox="1"/>
          <p:nvPr/>
        </p:nvSpPr>
        <p:spPr>
          <a:xfrm>
            <a:off x="3435350" y="2893219"/>
            <a:ext cx="54942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3000"/>
              <a:buFont typeface="Architects Daughter"/>
              <a:buNone/>
            </a:pPr>
            <a:r>
              <a:rPr b="1" i="0" lang="es-419" sz="27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El tamaño no cambia durante la ejecución (se calcula en el momento de compilación)</a:t>
            </a:r>
            <a:endParaRPr sz="1100"/>
          </a:p>
        </p:txBody>
      </p:sp>
      <p:sp>
        <p:nvSpPr>
          <p:cNvPr id="304" name="Google Shape;304;p25"/>
          <p:cNvSpPr/>
          <p:nvPr/>
        </p:nvSpPr>
        <p:spPr>
          <a:xfrm>
            <a:off x="2717800" y="2977753"/>
            <a:ext cx="719100" cy="323700"/>
          </a:xfrm>
          <a:prstGeom prst="chevron">
            <a:avLst>
              <a:gd fmla="val 15115" name="adj"/>
            </a:avLst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5" name="Google Shape;305;p25"/>
          <p:cNvSpPr txBox="1"/>
          <p:nvPr/>
        </p:nvSpPr>
        <p:spPr>
          <a:xfrm>
            <a:off x="2151062" y="4237434"/>
            <a:ext cx="22368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26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Campos</a:t>
            </a:r>
            <a:endParaRPr sz="800"/>
          </a:p>
        </p:txBody>
      </p:sp>
      <p:sp>
        <p:nvSpPr>
          <p:cNvPr id="306" name="Google Shape;306;p25"/>
          <p:cNvSpPr txBox="1"/>
          <p:nvPr/>
        </p:nvSpPr>
        <p:spPr>
          <a:xfrm>
            <a:off x="3624262" y="4220765"/>
            <a:ext cx="53055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3000"/>
              <a:buFont typeface="Architects Daughter"/>
              <a:buNone/>
            </a:pPr>
            <a:r>
              <a:rPr b="1" i="0" lang="es-419" sz="27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Representan cada uno de los datos que forman el registro</a:t>
            </a:r>
            <a:endParaRPr sz="1100"/>
          </a:p>
        </p:txBody>
      </p:sp>
      <p:sp>
        <p:nvSpPr>
          <p:cNvPr id="307" name="Google Shape;307;p25"/>
          <p:cNvSpPr/>
          <p:nvPr/>
        </p:nvSpPr>
        <p:spPr>
          <a:xfrm>
            <a:off x="2509837" y="4589859"/>
            <a:ext cx="720600" cy="323700"/>
          </a:xfrm>
          <a:prstGeom prst="chevron">
            <a:avLst>
              <a:gd fmla="val 15130" name="adj"/>
            </a:avLst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08" name="Google Shape;308;p25"/>
          <p:cNvPicPr preferRelativeResize="0"/>
          <p:nvPr/>
        </p:nvPicPr>
        <p:blipFill rotWithShape="1">
          <a:blip r:embed="rId3">
            <a:alphaModFix/>
          </a:blip>
          <a:srcRect b="12987" l="23520" r="22719" t="13091"/>
          <a:stretch/>
        </p:blipFill>
        <p:spPr>
          <a:xfrm>
            <a:off x="746152" y="1425158"/>
            <a:ext cx="452400" cy="4679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9" name="Google Shape;309;p25"/>
          <p:cNvGrpSpPr/>
          <p:nvPr/>
        </p:nvGrpSpPr>
        <p:grpSpPr>
          <a:xfrm>
            <a:off x="34838" y="1761974"/>
            <a:ext cx="2474905" cy="2483476"/>
            <a:chOff x="5999163" y="3257550"/>
            <a:chExt cx="2986131" cy="3711112"/>
          </a:xfrm>
        </p:grpSpPr>
        <p:sp>
          <p:nvSpPr>
            <p:cNvPr id="310" name="Google Shape;310;p25"/>
            <p:cNvSpPr/>
            <p:nvPr/>
          </p:nvSpPr>
          <p:spPr>
            <a:xfrm>
              <a:off x="5999163" y="3257550"/>
              <a:ext cx="2630595" cy="3268980"/>
            </a:xfrm>
            <a:custGeom>
              <a:rect b="b" l="l" r="r" t="t"/>
              <a:pathLst>
                <a:path extrusionOk="0" h="3268980" w="2630595">
                  <a:moveTo>
                    <a:pt x="584473" y="34290"/>
                  </a:moveTo>
                  <a:cubicBezTo>
                    <a:pt x="527323" y="36195"/>
                    <a:pt x="556342" y="81764"/>
                    <a:pt x="538753" y="102870"/>
                  </a:cubicBezTo>
                  <a:cubicBezTo>
                    <a:pt x="454178" y="204360"/>
                    <a:pt x="490363" y="139830"/>
                    <a:pt x="401593" y="228600"/>
                  </a:cubicBezTo>
                  <a:cubicBezTo>
                    <a:pt x="305240" y="324953"/>
                    <a:pt x="441673" y="204217"/>
                    <a:pt x="367303" y="297180"/>
                  </a:cubicBezTo>
                  <a:cubicBezTo>
                    <a:pt x="358721" y="307907"/>
                    <a:pt x="343443" y="311100"/>
                    <a:pt x="333013" y="320040"/>
                  </a:cubicBezTo>
                  <a:cubicBezTo>
                    <a:pt x="316649" y="334066"/>
                    <a:pt x="301215" y="349307"/>
                    <a:pt x="287293" y="365760"/>
                  </a:cubicBezTo>
                  <a:cubicBezTo>
                    <a:pt x="259233" y="398922"/>
                    <a:pt x="236637" y="436608"/>
                    <a:pt x="207283" y="468630"/>
                  </a:cubicBezTo>
                  <a:cubicBezTo>
                    <a:pt x="129450" y="553539"/>
                    <a:pt x="189866" y="448491"/>
                    <a:pt x="127273" y="548640"/>
                  </a:cubicBezTo>
                  <a:cubicBezTo>
                    <a:pt x="77337" y="628538"/>
                    <a:pt x="132853" y="560341"/>
                    <a:pt x="81553" y="662940"/>
                  </a:cubicBezTo>
                  <a:lnTo>
                    <a:pt x="58693" y="708660"/>
                  </a:lnTo>
                  <a:lnTo>
                    <a:pt x="35833" y="822960"/>
                  </a:lnTo>
                  <a:lnTo>
                    <a:pt x="24403" y="880110"/>
                  </a:lnTo>
                  <a:cubicBezTo>
                    <a:pt x="28326" y="948761"/>
                    <a:pt x="-61844" y="1241564"/>
                    <a:pt x="81553" y="1303020"/>
                  </a:cubicBezTo>
                  <a:cubicBezTo>
                    <a:pt x="95992" y="1309208"/>
                    <a:pt x="112168" y="1310134"/>
                    <a:pt x="127273" y="1314450"/>
                  </a:cubicBezTo>
                  <a:cubicBezTo>
                    <a:pt x="138858" y="1317760"/>
                    <a:pt x="150133" y="1322070"/>
                    <a:pt x="161563" y="1325880"/>
                  </a:cubicBezTo>
                  <a:cubicBezTo>
                    <a:pt x="172993" y="1337310"/>
                    <a:pt x="187286" y="1346463"/>
                    <a:pt x="195853" y="1360170"/>
                  </a:cubicBezTo>
                  <a:cubicBezTo>
                    <a:pt x="216594" y="1393356"/>
                    <a:pt x="219826" y="1426930"/>
                    <a:pt x="230143" y="1463040"/>
                  </a:cubicBezTo>
                  <a:cubicBezTo>
                    <a:pt x="233453" y="1474625"/>
                    <a:pt x="237763" y="1485900"/>
                    <a:pt x="241573" y="1497330"/>
                  </a:cubicBezTo>
                  <a:cubicBezTo>
                    <a:pt x="237763" y="1558290"/>
                    <a:pt x="235934" y="1619406"/>
                    <a:pt x="230143" y="1680210"/>
                  </a:cubicBezTo>
                  <a:cubicBezTo>
                    <a:pt x="228301" y="1699550"/>
                    <a:pt x="225534" y="1719170"/>
                    <a:pt x="218713" y="1737360"/>
                  </a:cubicBezTo>
                  <a:cubicBezTo>
                    <a:pt x="213890" y="1750222"/>
                    <a:pt x="203473" y="1760220"/>
                    <a:pt x="195853" y="1771650"/>
                  </a:cubicBezTo>
                  <a:cubicBezTo>
                    <a:pt x="165006" y="1925886"/>
                    <a:pt x="211640" y="1726031"/>
                    <a:pt x="150133" y="1885950"/>
                  </a:cubicBezTo>
                  <a:cubicBezTo>
                    <a:pt x="138855" y="1915274"/>
                    <a:pt x="144701" y="1951249"/>
                    <a:pt x="127273" y="1977390"/>
                  </a:cubicBezTo>
                  <a:cubicBezTo>
                    <a:pt x="106722" y="2008216"/>
                    <a:pt x="100870" y="2010478"/>
                    <a:pt x="92983" y="2045970"/>
                  </a:cubicBezTo>
                  <a:cubicBezTo>
                    <a:pt x="81582" y="2097276"/>
                    <a:pt x="75626" y="2167895"/>
                    <a:pt x="70123" y="2217420"/>
                  </a:cubicBezTo>
                  <a:cubicBezTo>
                    <a:pt x="73933" y="2266950"/>
                    <a:pt x="68753" y="2318011"/>
                    <a:pt x="81553" y="2366010"/>
                  </a:cubicBezTo>
                  <a:cubicBezTo>
                    <a:pt x="85093" y="2379283"/>
                    <a:pt x="104665" y="2380885"/>
                    <a:pt x="115843" y="2388870"/>
                  </a:cubicBezTo>
                  <a:cubicBezTo>
                    <a:pt x="131345" y="2399943"/>
                    <a:pt x="145108" y="2413561"/>
                    <a:pt x="161563" y="2423160"/>
                  </a:cubicBezTo>
                  <a:cubicBezTo>
                    <a:pt x="229707" y="2462911"/>
                    <a:pt x="232720" y="2462119"/>
                    <a:pt x="287293" y="2480310"/>
                  </a:cubicBezTo>
                  <a:cubicBezTo>
                    <a:pt x="283483" y="2499360"/>
                    <a:pt x="282684" y="2519270"/>
                    <a:pt x="275863" y="2537460"/>
                  </a:cubicBezTo>
                  <a:cubicBezTo>
                    <a:pt x="271040" y="2550322"/>
                    <a:pt x="260203" y="2560051"/>
                    <a:pt x="253003" y="2571750"/>
                  </a:cubicBezTo>
                  <a:cubicBezTo>
                    <a:pt x="229716" y="2609591"/>
                    <a:pt x="209069" y="2649080"/>
                    <a:pt x="184423" y="2686050"/>
                  </a:cubicBezTo>
                  <a:cubicBezTo>
                    <a:pt x="176803" y="2697480"/>
                    <a:pt x="167706" y="2708053"/>
                    <a:pt x="161563" y="2720340"/>
                  </a:cubicBezTo>
                  <a:cubicBezTo>
                    <a:pt x="123115" y="2797235"/>
                    <a:pt x="162795" y="2761429"/>
                    <a:pt x="104413" y="2800350"/>
                  </a:cubicBezTo>
                  <a:cubicBezTo>
                    <a:pt x="75683" y="2886539"/>
                    <a:pt x="114438" y="2780300"/>
                    <a:pt x="70123" y="2868930"/>
                  </a:cubicBezTo>
                  <a:cubicBezTo>
                    <a:pt x="60947" y="2887281"/>
                    <a:pt x="54883" y="2907030"/>
                    <a:pt x="47263" y="2926080"/>
                  </a:cubicBezTo>
                  <a:cubicBezTo>
                    <a:pt x="60105" y="3067340"/>
                    <a:pt x="13674" y="3151742"/>
                    <a:pt x="115843" y="3223260"/>
                  </a:cubicBezTo>
                  <a:cubicBezTo>
                    <a:pt x="136781" y="3237917"/>
                    <a:pt x="159995" y="3250034"/>
                    <a:pt x="184423" y="3257550"/>
                  </a:cubicBezTo>
                  <a:cubicBezTo>
                    <a:pt x="210172" y="3265473"/>
                    <a:pt x="237763" y="3265170"/>
                    <a:pt x="264433" y="3268980"/>
                  </a:cubicBezTo>
                  <a:cubicBezTo>
                    <a:pt x="382543" y="3265170"/>
                    <a:pt x="500940" y="3266613"/>
                    <a:pt x="618763" y="3257550"/>
                  </a:cubicBezTo>
                  <a:cubicBezTo>
                    <a:pt x="650089" y="3255140"/>
                    <a:pt x="679620" y="3241886"/>
                    <a:pt x="710203" y="3234690"/>
                  </a:cubicBezTo>
                  <a:cubicBezTo>
                    <a:pt x="744396" y="3226645"/>
                    <a:pt x="778995" y="3220349"/>
                    <a:pt x="813073" y="3211830"/>
                  </a:cubicBezTo>
                  <a:cubicBezTo>
                    <a:pt x="824762" y="3208908"/>
                    <a:pt x="835582" y="3202924"/>
                    <a:pt x="847363" y="3200400"/>
                  </a:cubicBezTo>
                  <a:cubicBezTo>
                    <a:pt x="889015" y="3191475"/>
                    <a:pt x="931183" y="3185160"/>
                    <a:pt x="973093" y="3177540"/>
                  </a:cubicBezTo>
                  <a:cubicBezTo>
                    <a:pt x="988333" y="3169920"/>
                    <a:pt x="1002528" y="3159691"/>
                    <a:pt x="1018813" y="3154680"/>
                  </a:cubicBezTo>
                  <a:cubicBezTo>
                    <a:pt x="1095993" y="3130932"/>
                    <a:pt x="1145084" y="3129220"/>
                    <a:pt x="1224553" y="3120390"/>
                  </a:cubicBezTo>
                  <a:lnTo>
                    <a:pt x="1315993" y="3074670"/>
                  </a:lnTo>
                  <a:cubicBezTo>
                    <a:pt x="1331233" y="3067050"/>
                    <a:pt x="1345005" y="3055152"/>
                    <a:pt x="1361713" y="3051810"/>
                  </a:cubicBezTo>
                  <a:lnTo>
                    <a:pt x="1418863" y="3040380"/>
                  </a:lnTo>
                  <a:cubicBezTo>
                    <a:pt x="1533781" y="2982921"/>
                    <a:pt x="1388789" y="3050405"/>
                    <a:pt x="1521733" y="3006090"/>
                  </a:cubicBezTo>
                  <a:cubicBezTo>
                    <a:pt x="1537897" y="3000702"/>
                    <a:pt x="1552659" y="2991684"/>
                    <a:pt x="1567453" y="2983230"/>
                  </a:cubicBezTo>
                  <a:cubicBezTo>
                    <a:pt x="1579380" y="2976414"/>
                    <a:pt x="1588534" y="2964144"/>
                    <a:pt x="1601743" y="2960370"/>
                  </a:cubicBezTo>
                  <a:cubicBezTo>
                    <a:pt x="1642701" y="2948668"/>
                    <a:pt x="1685606" y="2945360"/>
                    <a:pt x="1727473" y="2937510"/>
                  </a:cubicBezTo>
                  <a:cubicBezTo>
                    <a:pt x="1746568" y="2933930"/>
                    <a:pt x="1765346" y="2928490"/>
                    <a:pt x="1784623" y="2926080"/>
                  </a:cubicBezTo>
                  <a:cubicBezTo>
                    <a:pt x="2000626" y="2899080"/>
                    <a:pt x="2345230" y="2906123"/>
                    <a:pt x="2493283" y="2903220"/>
                  </a:cubicBezTo>
                  <a:cubicBezTo>
                    <a:pt x="2500903" y="2891790"/>
                    <a:pt x="2510000" y="2881217"/>
                    <a:pt x="2516143" y="2868930"/>
                  </a:cubicBezTo>
                  <a:cubicBezTo>
                    <a:pt x="2537664" y="2825889"/>
                    <a:pt x="2539519" y="2809715"/>
                    <a:pt x="2550433" y="2766060"/>
                  </a:cubicBezTo>
                  <a:cubicBezTo>
                    <a:pt x="2546623" y="2495550"/>
                    <a:pt x="2546215" y="2224971"/>
                    <a:pt x="2539003" y="1954530"/>
                  </a:cubicBezTo>
                  <a:cubicBezTo>
                    <a:pt x="2537978" y="1916088"/>
                    <a:pt x="2524274" y="1903862"/>
                    <a:pt x="2504713" y="1874520"/>
                  </a:cubicBezTo>
                  <a:cubicBezTo>
                    <a:pt x="2484290" y="1792829"/>
                    <a:pt x="2509557" y="1860573"/>
                    <a:pt x="2447563" y="1783080"/>
                  </a:cubicBezTo>
                  <a:cubicBezTo>
                    <a:pt x="2371363" y="1687830"/>
                    <a:pt x="2436133" y="1737360"/>
                    <a:pt x="2367553" y="1691640"/>
                  </a:cubicBezTo>
                  <a:cubicBezTo>
                    <a:pt x="2339725" y="1608157"/>
                    <a:pt x="2350537" y="1646437"/>
                    <a:pt x="2333263" y="1577340"/>
                  </a:cubicBezTo>
                  <a:cubicBezTo>
                    <a:pt x="2340883" y="1493520"/>
                    <a:pt x="2346476" y="1409491"/>
                    <a:pt x="2356123" y="1325880"/>
                  </a:cubicBezTo>
                  <a:cubicBezTo>
                    <a:pt x="2357924" y="1310275"/>
                    <a:pt x="2360528" y="1294211"/>
                    <a:pt x="2367553" y="1280160"/>
                  </a:cubicBezTo>
                  <a:cubicBezTo>
                    <a:pt x="2388956" y="1237354"/>
                    <a:pt x="2407537" y="1234465"/>
                    <a:pt x="2436133" y="1200150"/>
                  </a:cubicBezTo>
                  <a:cubicBezTo>
                    <a:pt x="2483758" y="1143000"/>
                    <a:pt x="2430418" y="1184910"/>
                    <a:pt x="2493283" y="1143000"/>
                  </a:cubicBezTo>
                  <a:cubicBezTo>
                    <a:pt x="2550599" y="1057026"/>
                    <a:pt x="2512726" y="1126260"/>
                    <a:pt x="2527573" y="925830"/>
                  </a:cubicBezTo>
                  <a:cubicBezTo>
                    <a:pt x="2533965" y="839543"/>
                    <a:pt x="2547496" y="709108"/>
                    <a:pt x="2561863" y="628650"/>
                  </a:cubicBezTo>
                  <a:cubicBezTo>
                    <a:pt x="2570799" y="578610"/>
                    <a:pt x="2585786" y="529823"/>
                    <a:pt x="2596153" y="480060"/>
                  </a:cubicBezTo>
                  <a:cubicBezTo>
                    <a:pt x="2604841" y="438358"/>
                    <a:pt x="2611393" y="396240"/>
                    <a:pt x="2619013" y="354330"/>
                  </a:cubicBezTo>
                  <a:cubicBezTo>
                    <a:pt x="2620798" y="329344"/>
                    <a:pt x="2644157" y="138136"/>
                    <a:pt x="2619013" y="91440"/>
                  </a:cubicBezTo>
                  <a:cubicBezTo>
                    <a:pt x="2605987" y="67250"/>
                    <a:pt x="2574553" y="58876"/>
                    <a:pt x="2550433" y="45720"/>
                  </a:cubicBezTo>
                  <a:cubicBezTo>
                    <a:pt x="2501882" y="19238"/>
                    <a:pt x="2443801" y="10678"/>
                    <a:pt x="2390413" y="0"/>
                  </a:cubicBezTo>
                  <a:lnTo>
                    <a:pt x="1373143" y="11430"/>
                  </a:lnTo>
                  <a:cubicBezTo>
                    <a:pt x="1357438" y="11768"/>
                    <a:pt x="1342918" y="20277"/>
                    <a:pt x="1327423" y="22860"/>
                  </a:cubicBezTo>
                  <a:cubicBezTo>
                    <a:pt x="1274275" y="31718"/>
                    <a:pt x="1220551" y="36862"/>
                    <a:pt x="1167403" y="45720"/>
                  </a:cubicBezTo>
                  <a:lnTo>
                    <a:pt x="1098823" y="57150"/>
                  </a:lnTo>
                  <a:cubicBezTo>
                    <a:pt x="1079709" y="60625"/>
                    <a:pt x="1060874" y="65626"/>
                    <a:pt x="1041673" y="68580"/>
                  </a:cubicBezTo>
                  <a:cubicBezTo>
                    <a:pt x="669755" y="125798"/>
                    <a:pt x="1174796" y="42583"/>
                    <a:pt x="881653" y="91440"/>
                  </a:cubicBezTo>
                  <a:cubicBezTo>
                    <a:pt x="588289" y="79705"/>
                    <a:pt x="641623" y="32385"/>
                    <a:pt x="584473" y="34290"/>
                  </a:cubicBez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11" name="Google Shape;311;p25"/>
            <p:cNvSpPr txBox="1"/>
            <p:nvPr/>
          </p:nvSpPr>
          <p:spPr>
            <a:xfrm>
              <a:off x="6949194" y="6356662"/>
              <a:ext cx="2036100" cy="61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chitects Daughter"/>
                <a:buNone/>
              </a:pPr>
              <a:r>
                <a:rPr b="1" i="0" lang="es-419" sz="32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Alumno</a:t>
              </a:r>
              <a:endParaRPr/>
            </a:p>
          </p:txBody>
        </p:sp>
      </p:grpSp>
      <p:sp>
        <p:nvSpPr>
          <p:cNvPr id="312" name="Google Shape;312;p25"/>
          <p:cNvSpPr txBox="1"/>
          <p:nvPr/>
        </p:nvSpPr>
        <p:spPr>
          <a:xfrm rot="-270710">
            <a:off x="370008" y="2239875"/>
            <a:ext cx="1468250" cy="389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chitects Daughter"/>
              <a:buNone/>
            </a:pPr>
            <a:r>
              <a:rPr b="1" i="0" lang="es-419" sz="2600" u="none">
                <a:solidFill>
                  <a:schemeClr val="accent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Nombre</a:t>
            </a:r>
            <a:endParaRPr sz="1200"/>
          </a:p>
        </p:txBody>
      </p:sp>
      <p:sp>
        <p:nvSpPr>
          <p:cNvPr id="313" name="Google Shape;313;p25"/>
          <p:cNvSpPr txBox="1"/>
          <p:nvPr/>
        </p:nvSpPr>
        <p:spPr>
          <a:xfrm>
            <a:off x="466725" y="1869281"/>
            <a:ext cx="14796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2800"/>
              <a:buFont typeface="Architects Daughter"/>
              <a:buNone/>
            </a:pPr>
            <a:r>
              <a:rPr b="1" i="0" lang="es-419" sz="2600" u="none">
                <a:solidFill>
                  <a:srgbClr val="FF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apellido</a:t>
            </a:r>
            <a:endParaRPr sz="1200"/>
          </a:p>
        </p:txBody>
      </p:sp>
      <p:sp>
        <p:nvSpPr>
          <p:cNvPr id="314" name="Google Shape;314;p25"/>
          <p:cNvSpPr txBox="1"/>
          <p:nvPr/>
        </p:nvSpPr>
        <p:spPr>
          <a:xfrm rot="-179968">
            <a:off x="445091" y="2654724"/>
            <a:ext cx="1221173" cy="424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2800"/>
              <a:buFont typeface="Architects Daughter"/>
              <a:buNone/>
            </a:pPr>
            <a:r>
              <a:rPr b="1" i="0" lang="es-419" sz="28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dni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 rot="-180112">
            <a:off x="265944" y="3072645"/>
            <a:ext cx="1655572" cy="388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chitects Daughter"/>
              <a:buNone/>
            </a:pPr>
            <a:r>
              <a:rPr b="1" i="0" lang="es-419" sz="2600" u="none">
                <a:solidFill>
                  <a:schemeClr val="accent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promedio</a:t>
            </a:r>
            <a:endParaRPr sz="1200"/>
          </a:p>
        </p:txBody>
      </p:sp>
      <p:sp>
        <p:nvSpPr>
          <p:cNvPr id="316" name="Google Shape;316;p25"/>
          <p:cNvSpPr txBox="1"/>
          <p:nvPr/>
        </p:nvSpPr>
        <p:spPr>
          <a:xfrm>
            <a:off x="34925" y="3387328"/>
            <a:ext cx="21939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2800"/>
              <a:buFont typeface="Architects Daughter"/>
              <a:buNone/>
            </a:pPr>
            <a:r>
              <a:rPr b="1" i="0" lang="es-419" sz="26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nro Alumno</a:t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6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611187" y="917972"/>
            <a:ext cx="48243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Nombre {</a:t>
            </a:r>
            <a:endParaRPr sz="3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Tipo campo1;</a:t>
            </a:r>
            <a:endParaRPr sz="3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Tipo campo2;</a:t>
            </a:r>
            <a:endParaRPr sz="3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...</a:t>
            </a:r>
            <a:endParaRPr sz="3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3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Nombre variable;</a:t>
            </a:r>
            <a:endParaRPr sz="3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None/>
            </a:pPr>
            <a:r>
              <a:t/>
            </a:r>
            <a:endParaRPr sz="3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27" name="Google Shape;327;p26"/>
          <p:cNvGrpSpPr/>
          <p:nvPr/>
        </p:nvGrpSpPr>
        <p:grpSpPr>
          <a:xfrm>
            <a:off x="4787900" y="1017984"/>
            <a:ext cx="4124275" cy="2245397"/>
            <a:chOff x="4787900" y="1357313"/>
            <a:chExt cx="4124275" cy="2993862"/>
          </a:xfrm>
        </p:grpSpPr>
        <p:sp>
          <p:nvSpPr>
            <p:cNvPr id="328" name="Google Shape;328;p26"/>
            <p:cNvSpPr txBox="1"/>
            <p:nvPr/>
          </p:nvSpPr>
          <p:spPr>
            <a:xfrm>
              <a:off x="5133975" y="2073275"/>
              <a:ext cx="3778200" cy="22779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83838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chitects Daughter"/>
                <a:buNone/>
              </a:pPr>
              <a:r>
                <a:rPr b="1" i="0" lang="es-419" sz="21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Se nombra cada campo.</a:t>
              </a:r>
              <a:endParaRPr sz="7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chitects Daughter"/>
                <a:buNone/>
              </a:pPr>
              <a:r>
                <a:rPr b="1" i="0" lang="es-419" sz="21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Se asigna un tipo a cada campo.</a:t>
              </a:r>
              <a:endParaRPr sz="7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chitects Daughter"/>
                <a:buNone/>
              </a:pPr>
              <a:r>
                <a:rPr b="1" i="0" lang="es-419" sz="21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Los tipos de los campos  deben ser estáticos.</a:t>
              </a:r>
              <a:endParaRPr sz="700"/>
            </a:p>
          </p:txBody>
        </p:sp>
        <p:pic>
          <p:nvPicPr>
            <p:cNvPr id="329" name="Google Shape;329;p26"/>
            <p:cNvPicPr preferRelativeResize="0"/>
            <p:nvPr/>
          </p:nvPicPr>
          <p:blipFill rotWithShape="1">
            <a:blip r:embed="rId3">
              <a:alphaModFix/>
            </a:blip>
            <a:srcRect b="8366" l="0" r="0" t="0"/>
            <a:stretch/>
          </p:blipFill>
          <p:spPr>
            <a:xfrm>
              <a:off x="4787900" y="1357313"/>
              <a:ext cx="838200" cy="8143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26"/>
          <p:cNvSpPr txBox="1"/>
          <p:nvPr/>
        </p:nvSpPr>
        <p:spPr>
          <a:xfrm rot="360967">
            <a:off x="5784164" y="3619380"/>
            <a:ext cx="2782223" cy="895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chitects Daughter"/>
              <a:buNone/>
            </a:pPr>
            <a:r>
              <a:rPr b="1" i="0" lang="es-419" sz="2600" u="none">
                <a:solidFill>
                  <a:schemeClr val="accent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Cómo declaro el registro alumno?</a:t>
            </a:r>
            <a:endParaRPr sz="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7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337" name="Google Shape;337;p27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38" name="Google Shape;338;p27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39" name="Google Shape;339;p27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Definición</a:t>
            </a:r>
            <a:endParaRPr/>
          </a:p>
        </p:txBody>
      </p:sp>
      <p:sp>
        <p:nvSpPr>
          <p:cNvPr id="340" name="Google Shape;340;p27"/>
          <p:cNvSpPr txBox="1"/>
          <p:nvPr/>
        </p:nvSpPr>
        <p:spPr>
          <a:xfrm>
            <a:off x="611187" y="844153"/>
            <a:ext cx="48243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#include &lt;iostream&gt;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#include &lt;string&gt;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using namespace std;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struct Alumno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string apynom;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string dni;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int nroAlu;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float promedio;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};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int main()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Alumno a1, a2;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None/>
            </a:pPr>
            <a:r>
              <a:rPr lang="es-419"/>
              <a:t>}</a:t>
            </a:r>
            <a:endParaRPr/>
          </a:p>
        </p:txBody>
      </p:sp>
      <p:sp>
        <p:nvSpPr>
          <p:cNvPr id="341" name="Google Shape;341;p27"/>
          <p:cNvSpPr txBox="1"/>
          <p:nvPr/>
        </p:nvSpPr>
        <p:spPr>
          <a:xfrm rot="360967">
            <a:off x="5501567" y="1849540"/>
            <a:ext cx="2782223" cy="2316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chitects Daughter"/>
              <a:buNone/>
            </a:pPr>
            <a:r>
              <a:rPr b="1" i="0" lang="es-419" sz="3600" u="none">
                <a:solidFill>
                  <a:schemeClr val="accent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Qué operaciones se pueden realizar?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8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348" name="Google Shape;348;p28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49" name="Google Shape;349;p28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50" name="Google Shape;350;p28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Operaciones</a:t>
            </a:r>
            <a:endParaRPr/>
          </a:p>
        </p:txBody>
      </p:sp>
      <p:sp>
        <p:nvSpPr>
          <p:cNvPr id="351" name="Google Shape;351;p28"/>
          <p:cNvSpPr txBox="1"/>
          <p:nvPr/>
        </p:nvSpPr>
        <p:spPr>
          <a:xfrm>
            <a:off x="4595812" y="1275159"/>
            <a:ext cx="4548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200"/>
              <a:buFont typeface="Architects Daughter"/>
              <a:buNone/>
            </a:pPr>
            <a:r>
              <a:rPr b="1" i="0" lang="es-419" sz="27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Con la variable </a:t>
            </a:r>
            <a:r>
              <a:rPr b="1" lang="es-419" sz="2700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struct</a:t>
            </a:r>
            <a:endParaRPr sz="900"/>
          </a:p>
        </p:txBody>
      </p:sp>
      <p:sp>
        <p:nvSpPr>
          <p:cNvPr id="352" name="Google Shape;352;p28"/>
          <p:cNvSpPr txBox="1"/>
          <p:nvPr/>
        </p:nvSpPr>
        <p:spPr>
          <a:xfrm>
            <a:off x="5746750" y="1810940"/>
            <a:ext cx="22368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b="1" i="0" lang="es-419" sz="32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Asignación</a:t>
            </a:r>
            <a:endParaRPr/>
          </a:p>
        </p:txBody>
      </p:sp>
      <p:sp>
        <p:nvSpPr>
          <p:cNvPr id="353" name="Google Shape;353;p28"/>
          <p:cNvSpPr txBox="1"/>
          <p:nvPr/>
        </p:nvSpPr>
        <p:spPr>
          <a:xfrm>
            <a:off x="6643687" y="2319338"/>
            <a:ext cx="223680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lang="es-419" sz="3200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int main{</a:t>
            </a:r>
            <a:endParaRPr sz="3200"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lang="es-419" sz="3200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	a1 = a2;</a:t>
            </a:r>
            <a:endParaRPr sz="3200"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tects Daughter"/>
              <a:buNone/>
            </a:pPr>
            <a:r>
              <a:rPr lang="es-419" sz="3200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}</a:t>
            </a:r>
            <a:endParaRPr sz="3200"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354" name="Google Shape;354;p28"/>
          <p:cNvSpPr txBox="1"/>
          <p:nvPr/>
        </p:nvSpPr>
        <p:spPr>
          <a:xfrm>
            <a:off x="377825" y="1044178"/>
            <a:ext cx="48243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#include &lt;iostream&gt;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#include &lt;string&gt;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using namespace std;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struct Alumno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string apynom;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string dni;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int nroAlu;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float promedio;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};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int main()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Alumno a1, a2;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None/>
            </a:pPr>
            <a:r>
              <a:rPr lang="es-419">
                <a:solidFill>
                  <a:schemeClr val="dk1"/>
                </a:solidFill>
              </a:rPr>
              <a:t>}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9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361" name="Google Shape;361;p29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62" name="Google Shape;362;p29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63" name="Google Shape;363;p29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Operaciones</a:t>
            </a:r>
            <a:endParaRPr/>
          </a:p>
        </p:txBody>
      </p:sp>
      <p:sp>
        <p:nvSpPr>
          <p:cNvPr id="364" name="Google Shape;364;p29"/>
          <p:cNvSpPr txBox="1"/>
          <p:nvPr/>
        </p:nvSpPr>
        <p:spPr>
          <a:xfrm>
            <a:off x="3995737" y="1301353"/>
            <a:ext cx="46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99"/>
              </a:buClr>
              <a:buSzPts val="3000"/>
              <a:buFont typeface="Architects Daughter"/>
              <a:buNone/>
            </a:pPr>
            <a:r>
              <a:rPr b="1" i="0" lang="es-419" sz="2300" u="none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Con los campos del </a:t>
            </a:r>
            <a:r>
              <a:rPr b="1" lang="es-419" sz="2300">
                <a:solidFill>
                  <a:srgbClr val="CC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struct</a:t>
            </a:r>
            <a:endParaRPr sz="700"/>
          </a:p>
        </p:txBody>
      </p:sp>
      <p:sp>
        <p:nvSpPr>
          <p:cNvPr id="365" name="Google Shape;365;p29"/>
          <p:cNvSpPr txBox="1"/>
          <p:nvPr/>
        </p:nvSpPr>
        <p:spPr>
          <a:xfrm>
            <a:off x="4325937" y="1810940"/>
            <a:ext cx="44943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tects Daughter"/>
              <a:buNone/>
            </a:pPr>
            <a:r>
              <a:rPr b="1" i="0" lang="es-419" sz="26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Las permitidas para cada campo</a:t>
            </a:r>
            <a:endParaRPr sz="1000"/>
          </a:p>
        </p:txBody>
      </p:sp>
      <p:sp>
        <p:nvSpPr>
          <p:cNvPr id="366" name="Google Shape;366;p29"/>
          <p:cNvSpPr txBox="1"/>
          <p:nvPr/>
        </p:nvSpPr>
        <p:spPr>
          <a:xfrm>
            <a:off x="4325937" y="3009900"/>
            <a:ext cx="47100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tects Daughter"/>
              <a:buNone/>
            </a:pPr>
            <a:r>
              <a:rPr b="1" i="0" lang="es-419" sz="24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Para acceder a un campo:</a:t>
            </a:r>
            <a:endParaRPr sz="1000"/>
          </a:p>
          <a:p>
            <a:pPr indent="0" lvl="0" marL="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tects Daughter"/>
              <a:buNone/>
            </a:pPr>
            <a:r>
              <a:rPr b="1" i="0" lang="es-419" sz="24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variable</a:t>
            </a:r>
            <a:r>
              <a:rPr b="1" lang="es-419" sz="2400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struct</a:t>
            </a:r>
            <a:r>
              <a:rPr b="1" i="0" lang="es-419" sz="24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.nombrecampo</a:t>
            </a:r>
            <a:endParaRPr sz="1000"/>
          </a:p>
          <a:p>
            <a:pPr indent="0" lvl="0" marL="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tects Daughter"/>
              <a:buNone/>
            </a:pPr>
            <a:r>
              <a:rPr b="1" i="0" lang="es-419" sz="2800" u="non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        </a:t>
            </a:r>
            <a:r>
              <a:rPr b="1" i="0" lang="es-419" sz="2800" u="none">
                <a:solidFill>
                  <a:srgbClr val="FF3399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a1.dni</a:t>
            </a:r>
            <a:endParaRPr/>
          </a:p>
        </p:txBody>
      </p:sp>
      <p:sp>
        <p:nvSpPr>
          <p:cNvPr id="367" name="Google Shape;367;p29"/>
          <p:cNvSpPr/>
          <p:nvPr/>
        </p:nvSpPr>
        <p:spPr>
          <a:xfrm rot="5400000">
            <a:off x="6342824" y="2457853"/>
            <a:ext cx="462000" cy="473100"/>
          </a:xfrm>
          <a:prstGeom prst="rightArrow">
            <a:avLst>
              <a:gd fmla="val 13305" name="adj1"/>
              <a:gd fmla="val 50000" name="adj2"/>
            </a:avLst>
          </a:prstGeom>
          <a:solidFill>
            <a:srgbClr val="6F6F6F"/>
          </a:solidFill>
          <a:ln cap="flat" cmpd="sng" w="12700">
            <a:solidFill>
              <a:srgbClr val="9E9E9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8" name="Google Shape;368;p29"/>
          <p:cNvSpPr txBox="1"/>
          <p:nvPr/>
        </p:nvSpPr>
        <p:spPr>
          <a:xfrm>
            <a:off x="179387" y="1044178"/>
            <a:ext cx="39609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#include &lt;iostream&gt;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#include &lt;string&gt;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using namespace std;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struct Alumno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string apynom;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string dni;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int nroAlu;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float promedio;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};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int main()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Alumno a1, a2;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None/>
            </a:pPr>
            <a:r>
              <a:rPr lang="es-419">
                <a:solidFill>
                  <a:schemeClr val="dk1"/>
                </a:solidFill>
              </a:rPr>
              <a:t>}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0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375" name="Google Shape;375;p30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76" name="Google Shape;376;p30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77" name="Google Shape;377;p30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Cargar</a:t>
            </a:r>
            <a:endParaRPr/>
          </a:p>
        </p:txBody>
      </p:sp>
      <p:sp>
        <p:nvSpPr>
          <p:cNvPr id="378" name="Google Shape;378;p30"/>
          <p:cNvSpPr txBox="1"/>
          <p:nvPr/>
        </p:nvSpPr>
        <p:spPr>
          <a:xfrm>
            <a:off x="34925" y="789384"/>
            <a:ext cx="37449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#include &lt;iostream&gt;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#include &lt;string&gt;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using namespace std;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struct Alumno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string apynom;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string dni;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int nroAlu;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float promedio;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};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int main()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Alumno a1, a2;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None/>
            </a:pPr>
            <a:r>
              <a:rPr lang="es-419">
                <a:solidFill>
                  <a:schemeClr val="dk1"/>
                </a:solidFill>
              </a:rPr>
              <a:t>}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" name="Google Shape;379;p30"/>
          <p:cNvSpPr txBox="1"/>
          <p:nvPr/>
        </p:nvSpPr>
        <p:spPr>
          <a:xfrm rot="-406470">
            <a:off x="3531055" y="901774"/>
            <a:ext cx="3089974" cy="658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tects Daughter"/>
              <a:buNone/>
            </a:pPr>
            <a:r>
              <a:rPr b="1" i="0" lang="es-419" sz="2100" u="none">
                <a:solidFill>
                  <a:schemeClr val="accent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Cómo le doy valor a un </a:t>
            </a:r>
            <a:r>
              <a:rPr b="1" lang="es-419" sz="2100">
                <a:solidFill>
                  <a:schemeClr val="accent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Struct</a:t>
            </a:r>
            <a:r>
              <a:rPr b="1" i="0" lang="es-419" sz="2100" u="none">
                <a:solidFill>
                  <a:schemeClr val="accent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?</a:t>
            </a:r>
            <a:endParaRPr sz="500"/>
          </a:p>
        </p:txBody>
      </p:sp>
      <p:grpSp>
        <p:nvGrpSpPr>
          <p:cNvPr id="380" name="Google Shape;380;p30"/>
          <p:cNvGrpSpPr/>
          <p:nvPr/>
        </p:nvGrpSpPr>
        <p:grpSpPr>
          <a:xfrm>
            <a:off x="3968750" y="1600201"/>
            <a:ext cx="4943575" cy="910800"/>
            <a:chOff x="3968750" y="2133600"/>
            <a:chExt cx="4943575" cy="1214400"/>
          </a:xfrm>
        </p:grpSpPr>
        <p:sp>
          <p:nvSpPr>
            <p:cNvPr id="381" name="Google Shape;381;p30"/>
            <p:cNvSpPr txBox="1"/>
            <p:nvPr/>
          </p:nvSpPr>
          <p:spPr>
            <a:xfrm>
              <a:off x="5076825" y="2133600"/>
              <a:ext cx="3835500" cy="12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99"/>
                </a:buClr>
                <a:buSzPts val="2800"/>
                <a:buFont typeface="Architects Daughter"/>
                <a:buNone/>
              </a:pPr>
              <a:r>
                <a:rPr b="1" i="0" lang="es-419" sz="2200" u="none">
                  <a:solidFill>
                    <a:srgbClr val="FF3399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NO</a:t>
              </a:r>
              <a:r>
                <a:rPr b="1" i="0" lang="es-419" sz="22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 se puede leer directamente una variable tipo </a:t>
              </a:r>
              <a:r>
                <a:rPr b="1" lang="es-419" sz="2200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Struct</a:t>
              </a:r>
              <a:r>
                <a:rPr b="1" i="0" lang="es-419" sz="22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.</a:t>
              </a:r>
              <a:endParaRPr sz="800"/>
            </a:p>
          </p:txBody>
        </p:sp>
        <p:pic>
          <p:nvPicPr>
            <p:cNvPr id="382" name="Google Shape;382;p30"/>
            <p:cNvPicPr preferRelativeResize="0"/>
            <p:nvPr/>
          </p:nvPicPr>
          <p:blipFill rotWithShape="1">
            <a:blip r:embed="rId3">
              <a:alphaModFix/>
            </a:blip>
            <a:srcRect b="25184" l="2873" r="48257" t="15752"/>
            <a:stretch/>
          </p:blipFill>
          <p:spPr>
            <a:xfrm>
              <a:off x="3968750" y="2252663"/>
              <a:ext cx="1108075" cy="9763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3" name="Google Shape;383;p30"/>
          <p:cNvSpPr txBox="1"/>
          <p:nvPr/>
        </p:nvSpPr>
        <p:spPr>
          <a:xfrm>
            <a:off x="34925" y="3685475"/>
            <a:ext cx="4770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a1.apynom = "Laura Perez";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a1.dni = "27.556.321";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a1.nroAlu = 1000;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a1.promedio = 7.56f;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4" name="Google Shape;384;p30"/>
          <p:cNvSpPr txBox="1"/>
          <p:nvPr/>
        </p:nvSpPr>
        <p:spPr>
          <a:xfrm>
            <a:off x="3563937" y="2700875"/>
            <a:ext cx="28272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2800"/>
              <a:buFont typeface="Architects Daughter"/>
              <a:buNone/>
            </a:pPr>
            <a:r>
              <a:rPr b="1" i="0" lang="es-419" sz="23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Qué ocurre si no le doy valor a todos los campos?</a:t>
            </a:r>
            <a:endParaRPr sz="900"/>
          </a:p>
        </p:txBody>
      </p:sp>
      <p:sp>
        <p:nvSpPr>
          <p:cNvPr id="385" name="Google Shape;385;p30"/>
          <p:cNvSpPr txBox="1"/>
          <p:nvPr/>
        </p:nvSpPr>
        <p:spPr>
          <a:xfrm>
            <a:off x="6496050" y="2842022"/>
            <a:ext cx="26130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2800"/>
              <a:buFont typeface="Architects Daughter"/>
              <a:buNone/>
            </a:pPr>
            <a:r>
              <a:rPr b="1" i="0" lang="es-419" sz="28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Puedo utilizar el </a:t>
            </a:r>
            <a:r>
              <a:rPr b="1" lang="es-419" sz="2800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cin</a:t>
            </a:r>
            <a:r>
              <a:rPr b="1" i="0" lang="es-419" sz="2800" u="none">
                <a:solidFill>
                  <a:srgbClr val="6F6F6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?</a:t>
            </a:r>
            <a:endParaRPr/>
          </a:p>
        </p:txBody>
      </p:sp>
      <p:sp>
        <p:nvSpPr>
          <p:cNvPr id="386" name="Google Shape;386;p30"/>
          <p:cNvSpPr txBox="1"/>
          <p:nvPr/>
        </p:nvSpPr>
        <p:spPr>
          <a:xfrm>
            <a:off x="5041575" y="3718275"/>
            <a:ext cx="3633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getline(cin, a1.apynom);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getline(cin, a1.dni);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a1.nroAlu;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cin &gt;&gt; a1.promedio;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t/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7" name="Google Shape;387;p30"/>
          <p:cNvSpPr txBox="1"/>
          <p:nvPr/>
        </p:nvSpPr>
        <p:spPr>
          <a:xfrm rot="-406180">
            <a:off x="3454609" y="4406962"/>
            <a:ext cx="2399932" cy="429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3000"/>
              <a:buFont typeface="Architects Daughter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1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394" name="Google Shape;394;p31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95" name="Google Shape;395;p31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396" name="Google Shape;396;p31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Imprimir</a:t>
            </a:r>
            <a:endParaRPr/>
          </a:p>
        </p:txBody>
      </p:sp>
      <p:sp>
        <p:nvSpPr>
          <p:cNvPr id="397" name="Google Shape;397;p31"/>
          <p:cNvSpPr txBox="1"/>
          <p:nvPr/>
        </p:nvSpPr>
        <p:spPr>
          <a:xfrm>
            <a:off x="34925" y="789384"/>
            <a:ext cx="37449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#include &lt;iostream&gt;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#include &lt;string&gt;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using namespace std;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struct Alumno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string apynom;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string dni;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int nroAlu;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float promedio;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};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int main()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Alumno a1, a2;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None/>
            </a:pPr>
            <a:r>
              <a:rPr lang="es-419">
                <a:solidFill>
                  <a:schemeClr val="dk1"/>
                </a:solidFill>
              </a:rPr>
              <a:t>}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" name="Google Shape;398;p31"/>
          <p:cNvSpPr txBox="1"/>
          <p:nvPr/>
        </p:nvSpPr>
        <p:spPr>
          <a:xfrm rot="-406461">
            <a:off x="3690917" y="1172051"/>
            <a:ext cx="3502050" cy="658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tects Daughter"/>
              <a:buNone/>
            </a:pPr>
            <a:r>
              <a:rPr b="1" i="0" lang="es-419" sz="2400" u="none">
                <a:solidFill>
                  <a:schemeClr val="accent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Cómo muestro el valor a un </a:t>
            </a:r>
            <a:r>
              <a:rPr b="1" lang="es-419" sz="2400">
                <a:solidFill>
                  <a:schemeClr val="accent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struct</a:t>
            </a:r>
            <a:r>
              <a:rPr b="1" i="0" lang="es-419" sz="2400" u="none">
                <a:solidFill>
                  <a:schemeClr val="accent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?</a:t>
            </a:r>
            <a:endParaRPr sz="800"/>
          </a:p>
        </p:txBody>
      </p:sp>
      <p:grpSp>
        <p:nvGrpSpPr>
          <p:cNvPr id="399" name="Google Shape;399;p31"/>
          <p:cNvGrpSpPr/>
          <p:nvPr/>
        </p:nvGrpSpPr>
        <p:grpSpPr>
          <a:xfrm>
            <a:off x="3652793" y="2039540"/>
            <a:ext cx="5383055" cy="910800"/>
            <a:chOff x="3659860" y="2719388"/>
            <a:chExt cx="5252273" cy="1214400"/>
          </a:xfrm>
        </p:grpSpPr>
        <p:sp>
          <p:nvSpPr>
            <p:cNvPr id="400" name="Google Shape;400;p31"/>
            <p:cNvSpPr txBox="1"/>
            <p:nvPr/>
          </p:nvSpPr>
          <p:spPr>
            <a:xfrm>
              <a:off x="4767333" y="2719388"/>
              <a:ext cx="4144800" cy="12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99"/>
                </a:buClr>
                <a:buSzPts val="2800"/>
                <a:buFont typeface="Architects Daughter"/>
                <a:buNone/>
              </a:pPr>
              <a:r>
                <a:rPr b="1" i="0" lang="es-419" sz="2800" u="none">
                  <a:solidFill>
                    <a:srgbClr val="FF3399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NO</a:t>
              </a:r>
              <a:r>
                <a:rPr b="1" i="0" lang="es-419" sz="28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 se puede imprimir directamente una variable tipo </a:t>
              </a:r>
              <a:r>
                <a:rPr b="1" lang="es-419" sz="2800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struct</a:t>
              </a:r>
              <a:r>
                <a:rPr b="1" i="0" lang="es-419" sz="28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.</a:t>
              </a:r>
              <a:endParaRPr/>
            </a:p>
          </p:txBody>
        </p:sp>
        <p:pic>
          <p:nvPicPr>
            <p:cNvPr id="401" name="Google Shape;401;p31"/>
            <p:cNvPicPr preferRelativeResize="0"/>
            <p:nvPr/>
          </p:nvPicPr>
          <p:blipFill rotWithShape="1">
            <a:blip r:embed="rId3">
              <a:alphaModFix/>
            </a:blip>
            <a:srcRect b="25184" l="2873" r="48257" t="15752"/>
            <a:stretch/>
          </p:blipFill>
          <p:spPr>
            <a:xfrm>
              <a:off x="3659860" y="2838450"/>
              <a:ext cx="1108075" cy="9763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2" name="Google Shape;402;p31"/>
          <p:cNvSpPr txBox="1"/>
          <p:nvPr/>
        </p:nvSpPr>
        <p:spPr>
          <a:xfrm>
            <a:off x="34925" y="3543300"/>
            <a:ext cx="45372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cout &lt;&lt; a1.apynom;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cout &lt;&lt; a1.dni;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cout &lt;&lt; a1.nroAlu;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cout &lt;&lt; a1.promedio;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" name="Google Shape;403;p31"/>
          <p:cNvSpPr txBox="1"/>
          <p:nvPr/>
        </p:nvSpPr>
        <p:spPr>
          <a:xfrm rot="-406320">
            <a:off x="5130147" y="4080935"/>
            <a:ext cx="3279379" cy="635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4000"/>
              <a:buFont typeface="Architects Daughter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2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410" name="Google Shape;410;p32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411" name="Google Shape;411;p32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412" name="Google Shape;412;p32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comparar</a:t>
            </a:r>
            <a:endParaRPr/>
          </a:p>
        </p:txBody>
      </p:sp>
      <p:sp>
        <p:nvSpPr>
          <p:cNvPr id="413" name="Google Shape;413;p32"/>
          <p:cNvSpPr txBox="1"/>
          <p:nvPr/>
        </p:nvSpPr>
        <p:spPr>
          <a:xfrm>
            <a:off x="34925" y="789384"/>
            <a:ext cx="37449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#include &lt;iostream&gt;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#include &lt;string&gt;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using namespace std;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struct Alumno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string apynom;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string dni;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int nroAlu;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float promedio;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};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int main()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Alumno a1, a2;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olas"/>
              <a:buNone/>
            </a:pPr>
            <a:r>
              <a:rPr lang="es-419">
                <a:solidFill>
                  <a:schemeClr val="dk1"/>
                </a:solidFill>
              </a:rPr>
              <a:t>}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t/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4" name="Google Shape;414;p32"/>
          <p:cNvSpPr txBox="1"/>
          <p:nvPr/>
        </p:nvSpPr>
        <p:spPr>
          <a:xfrm rot="-406508">
            <a:off x="3688910" y="1148199"/>
            <a:ext cx="3936489" cy="658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chitects Daughter"/>
              <a:buNone/>
            </a:pPr>
            <a:r>
              <a:rPr b="1" i="0" lang="es-419" sz="2200" u="none">
                <a:solidFill>
                  <a:schemeClr val="accent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Cómo comparo el valor de dos </a:t>
            </a:r>
            <a:r>
              <a:rPr b="1" lang="es-419" sz="2200">
                <a:solidFill>
                  <a:schemeClr val="accent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Struct</a:t>
            </a:r>
            <a:r>
              <a:rPr b="1" i="0" lang="es-419" sz="2200" u="none">
                <a:solidFill>
                  <a:schemeClr val="accent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?</a:t>
            </a:r>
            <a:endParaRPr sz="600"/>
          </a:p>
        </p:txBody>
      </p:sp>
      <p:grpSp>
        <p:nvGrpSpPr>
          <p:cNvPr id="415" name="Google Shape;415;p32"/>
          <p:cNvGrpSpPr/>
          <p:nvPr/>
        </p:nvGrpSpPr>
        <p:grpSpPr>
          <a:xfrm>
            <a:off x="3708401" y="2039540"/>
            <a:ext cx="5354788" cy="910800"/>
            <a:chOff x="3708400" y="2719388"/>
            <a:chExt cx="5354788" cy="1214400"/>
          </a:xfrm>
        </p:grpSpPr>
        <p:sp>
          <p:nvSpPr>
            <p:cNvPr id="416" name="Google Shape;416;p32"/>
            <p:cNvSpPr txBox="1"/>
            <p:nvPr/>
          </p:nvSpPr>
          <p:spPr>
            <a:xfrm>
              <a:off x="4814888" y="2719388"/>
              <a:ext cx="4248300" cy="12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99"/>
                </a:buClr>
                <a:buSzPts val="2800"/>
                <a:buFont typeface="Architects Daughter"/>
                <a:buNone/>
              </a:pPr>
              <a:r>
                <a:rPr b="1" lang="es-419" sz="2600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Hasta la </a:t>
              </a:r>
              <a:r>
                <a:rPr b="1" lang="es-419" sz="2600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versión</a:t>
              </a:r>
              <a:r>
                <a:rPr b="1" lang="es-419" sz="2600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 20 de c++ </a:t>
              </a:r>
              <a:r>
                <a:rPr b="1" i="0" lang="es-419" sz="2600" u="none">
                  <a:solidFill>
                    <a:srgbClr val="FF3399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NO</a:t>
              </a:r>
              <a:r>
                <a:rPr b="1" i="0" lang="es-419" sz="26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 se pueden comparar directamente dos variables tipo </a:t>
              </a:r>
              <a:r>
                <a:rPr b="1" lang="es-419" sz="2600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struct</a:t>
              </a:r>
              <a:r>
                <a:rPr b="1" i="0" lang="es-419" sz="2600" u="none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.</a:t>
              </a:r>
              <a:endParaRPr sz="1200"/>
            </a:p>
          </p:txBody>
        </p:sp>
        <p:pic>
          <p:nvPicPr>
            <p:cNvPr id="417" name="Google Shape;417;p32"/>
            <p:cNvPicPr preferRelativeResize="0"/>
            <p:nvPr/>
          </p:nvPicPr>
          <p:blipFill rotWithShape="1">
            <a:blip r:embed="rId3">
              <a:alphaModFix/>
            </a:blip>
            <a:srcRect b="25184" l="2873" r="48257" t="15752"/>
            <a:stretch/>
          </p:blipFill>
          <p:spPr>
            <a:xfrm>
              <a:off x="3708400" y="2838450"/>
              <a:ext cx="1106488" cy="9763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8" name="Google Shape;418;p32"/>
          <p:cNvSpPr txBox="1"/>
          <p:nvPr/>
        </p:nvSpPr>
        <p:spPr>
          <a:xfrm>
            <a:off x="34925" y="3715175"/>
            <a:ext cx="4488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((a1.apynom == a2.apynom) &amp;&amp;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(a1.dni == a2.dni) &amp;&amp;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(a1.nroAlu == a2.nroAlu) &amp;&amp;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(a1.promedio == a2.promedio))</a:t>
            </a:r>
            <a:r>
              <a:rPr b="0" i="0" lang="es-419" sz="2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3"/>
          <p:cNvSpPr txBox="1"/>
          <p:nvPr/>
        </p:nvSpPr>
        <p:spPr>
          <a:xfrm>
            <a:off x="34925" y="4893469"/>
            <a:ext cx="185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s-419" sz="1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Clase 7</a:t>
            </a:r>
            <a:endParaRPr/>
          </a:p>
        </p:txBody>
      </p:sp>
      <p:sp>
        <p:nvSpPr>
          <p:cNvPr id="425" name="Google Shape;425;p33"/>
          <p:cNvSpPr txBox="1"/>
          <p:nvPr/>
        </p:nvSpPr>
        <p:spPr>
          <a:xfrm>
            <a:off x="-11112" y="4854178"/>
            <a:ext cx="76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426" name="Google Shape;426;p33"/>
          <p:cNvSpPr txBox="1"/>
          <p:nvPr/>
        </p:nvSpPr>
        <p:spPr>
          <a:xfrm>
            <a:off x="8691562" y="4825603"/>
            <a:ext cx="452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427" name="Google Shape;427;p33"/>
          <p:cNvSpPr txBox="1"/>
          <p:nvPr/>
        </p:nvSpPr>
        <p:spPr>
          <a:xfrm>
            <a:off x="188912" y="104775"/>
            <a:ext cx="8486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Datos –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419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</a:t>
            </a:r>
            <a:r>
              <a:rPr b="1" lang="es-419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Ejercicio</a:t>
            </a:r>
            <a:endParaRPr/>
          </a:p>
        </p:txBody>
      </p:sp>
      <p:sp>
        <p:nvSpPr>
          <p:cNvPr id="428" name="Google Shape;428;p33"/>
          <p:cNvSpPr txBox="1"/>
          <p:nvPr/>
        </p:nvSpPr>
        <p:spPr>
          <a:xfrm>
            <a:off x="201975" y="1132050"/>
            <a:ext cx="8431500" cy="36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500">
                <a:solidFill>
                  <a:schemeClr val="dk1"/>
                </a:solidFill>
              </a:rPr>
              <a:t>Crear un programa que defina una estructura llamada Libro con los siguientes campos: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419" sz="1500">
                <a:solidFill>
                  <a:schemeClr val="dk1"/>
                </a:solidFill>
              </a:rPr>
              <a:t>string titulo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419" sz="1500">
                <a:solidFill>
                  <a:schemeClr val="dk1"/>
                </a:solidFill>
              </a:rPr>
              <a:t>string autor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419" sz="1500">
                <a:solidFill>
                  <a:schemeClr val="dk1"/>
                </a:solidFill>
              </a:rPr>
              <a:t>int anio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419" sz="1500">
                <a:solidFill>
                  <a:schemeClr val="dk1"/>
                </a:solidFill>
              </a:rPr>
              <a:t>float precio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500">
                <a:solidFill>
                  <a:schemeClr val="dk1"/>
                </a:solidFill>
              </a:rPr>
              <a:t>El programa debe: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-419" sz="1500">
                <a:solidFill>
                  <a:schemeClr val="dk1"/>
                </a:solidFill>
              </a:rPr>
              <a:t>Pedir al usuario que ingrese los datos de un libro.</a:t>
            </a:r>
            <a:br>
              <a:rPr b="1" lang="es-419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-419" sz="1500">
                <a:solidFill>
                  <a:schemeClr val="dk1"/>
                </a:solidFill>
              </a:rPr>
              <a:t>Guardar los datos en una variable del tipo Libro.</a:t>
            </a:r>
            <a:br>
              <a:rPr b="1" lang="es-419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-419" sz="1500">
                <a:solidFill>
                  <a:schemeClr val="dk1"/>
                </a:solidFill>
              </a:rPr>
              <a:t>Mostrar los datos del libro en pantalla.</a:t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