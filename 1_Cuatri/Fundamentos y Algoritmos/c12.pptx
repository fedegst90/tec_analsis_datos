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Architects Daughter"/>
      <p:regular r:id="rId27"/>
    </p:embeddedFont>
    <p:embeddedFont>
      <p:font typeface="Tahom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DE4E5D-BC2A-498C-B55B-CD4862C2E4F1}">
  <a:tblStyle styleId="{77DE4E5D-BC2A-498C-B55B-CD4862C2E4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Tahoma-regular.fntdata"/><Relationship Id="rId27" Type="http://schemas.openxmlformats.org/officeDocument/2006/relationships/font" Target="fonts/ArchitectsDaugh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Tahom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2706a18e0_0_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62706a18e0_0_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2706a18e0_0_11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g362706a18e0_0_11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2706a18e0_0_20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g362706a18e0_0_20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2706a18e0_0_295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62706a18e0_0_295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2706a18e0_0_389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62706a18e0_0_389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2706a18e0_0_478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62706a18e0_0_478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2706a18e0_0_61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62706a18e0_0_61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2706a18e0_0_70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g362706a18e0_0_70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2706a18e0_0_71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g362706a18e0_0_71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2706a18e0_0_728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362706a18e0_0_728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2706a18e0_0_738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g362706a18e0_0_738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2706a18e0_0_83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g362706a18e0_0_83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2706a18e0_0_93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62706a18e0_0_93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2706a18e0_0_101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g362706a18e0_0_101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2706a18e0_0_1105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g362706a18e0_0_1105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2706a18e0_0_1345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g362706a18e0_0_1345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2706a18e0_0_1362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62706a18e0_0_1362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2706a18e0_0_1373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362706a18e0_0_1373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62706a18e0_0_119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g362706a18e0_0_119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Arreglos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Definición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8810625" y="4781550"/>
            <a:ext cx="2985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889125" y="789384"/>
            <a:ext cx="70041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tects Daughter"/>
              <a:buNone/>
            </a:pPr>
            <a:r>
              <a:rPr b="1" i="0" lang="es-419" sz="24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Un arreglo (ARRAY) es una estructura de datos compuesta que permite acceder a cada componente por una variable índice, que da la posición de la componente dentro de la estructura de datos.</a:t>
            </a:r>
            <a:endParaRPr sz="800"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953690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-36512" y="1832372"/>
            <a:ext cx="203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Arreglos</a:t>
            </a:r>
            <a:endParaRPr/>
          </a:p>
        </p:txBody>
      </p:sp>
      <p:graphicFrame>
        <p:nvGraphicFramePr>
          <p:cNvPr id="67" name="Google Shape;67;p14"/>
          <p:cNvGraphicFramePr/>
          <p:nvPr/>
        </p:nvGraphicFramePr>
        <p:xfrm>
          <a:off x="1222375" y="295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{77DE4E5D-BC2A-498C-B55B-CD4862C2E4F1}</a:tableStyleId>
              </a:tblPr>
              <a:tblGrid>
                <a:gridCol w="1044575"/>
                <a:gridCol w="1044575"/>
                <a:gridCol w="1044575"/>
                <a:gridCol w="1042975"/>
                <a:gridCol w="1044575"/>
                <a:gridCol w="1044575"/>
                <a:gridCol w="1044575"/>
              </a:tblGrid>
              <a:tr h="58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25" marB="343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25" marB="343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25" marB="343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25" marB="343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25" marB="343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25" marB="343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25" marB="343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" name="Google Shape;68;p14"/>
          <p:cNvSpPr txBox="1"/>
          <p:nvPr/>
        </p:nvSpPr>
        <p:spPr>
          <a:xfrm>
            <a:off x="1428750" y="3051571"/>
            <a:ext cx="619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s-419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2546350" y="3050381"/>
            <a:ext cx="619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s-419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3589337" y="3052763"/>
            <a:ext cx="619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s-419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4706937" y="3050381"/>
            <a:ext cx="619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s-419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5610225" y="3057525"/>
            <a:ext cx="6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s-419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6653212" y="3059906"/>
            <a:ext cx="6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s-419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7770812" y="3058715"/>
            <a:ext cx="6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s-419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grpSp>
        <p:nvGrpSpPr>
          <p:cNvPr id="75" name="Google Shape;75;p14"/>
          <p:cNvGrpSpPr/>
          <p:nvPr/>
        </p:nvGrpSpPr>
        <p:grpSpPr>
          <a:xfrm>
            <a:off x="3057527" y="3740965"/>
            <a:ext cx="1801800" cy="1290404"/>
            <a:chOff x="3057525" y="4987950"/>
            <a:chExt cx="1801800" cy="1720538"/>
          </a:xfrm>
        </p:grpSpPr>
        <p:cxnSp>
          <p:nvCxnSpPr>
            <p:cNvPr id="76" name="Google Shape;76;p14"/>
            <p:cNvCxnSpPr/>
            <p:nvPr/>
          </p:nvCxnSpPr>
          <p:spPr>
            <a:xfrm rot="10800000">
              <a:off x="3779838" y="4987950"/>
              <a:ext cx="0" cy="936600"/>
            </a:xfrm>
            <a:prstGeom prst="straightConnector1">
              <a:avLst/>
            </a:prstGeom>
            <a:noFill/>
            <a:ln cap="flat" cmpd="sng" w="57150">
              <a:solidFill>
                <a:srgbClr val="FFD966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77" name="Google Shape;77;p14"/>
            <p:cNvSpPr txBox="1"/>
            <p:nvPr/>
          </p:nvSpPr>
          <p:spPr>
            <a:xfrm>
              <a:off x="3057525" y="5805488"/>
              <a:ext cx="1801800" cy="9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67171"/>
                </a:buClr>
                <a:buSzPts val="3800"/>
                <a:buFont typeface="Architects Daughter"/>
                <a:buNone/>
              </a:pPr>
              <a:r>
                <a:rPr b="1" i="0" lang="es-419" sz="3800" u="none">
                  <a:solidFill>
                    <a:srgbClr val="76717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Indice</a:t>
              </a:r>
              <a:endParaRPr/>
            </a:p>
          </p:txBody>
        </p:sp>
      </p:grpSp>
      <p:sp>
        <p:nvSpPr>
          <p:cNvPr id="78" name="Google Shape;78;p14"/>
          <p:cNvSpPr txBox="1"/>
          <p:nvPr/>
        </p:nvSpPr>
        <p:spPr>
          <a:xfrm>
            <a:off x="1560512" y="3534965"/>
            <a:ext cx="3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2670175" y="3534965"/>
            <a:ext cx="3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419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3635375" y="3532584"/>
            <a:ext cx="3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419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4745037" y="3532584"/>
            <a:ext cx="3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419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5821362" y="3527821"/>
            <a:ext cx="3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419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6786562" y="3526631"/>
            <a:ext cx="3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419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7897812" y="3526631"/>
            <a:ext cx="34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s-419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pSp>
        <p:nvGrpSpPr>
          <p:cNvPr id="85" name="Google Shape;85;p14"/>
          <p:cNvGrpSpPr/>
          <p:nvPr/>
        </p:nvGrpSpPr>
        <p:grpSpPr>
          <a:xfrm>
            <a:off x="5024437" y="3370678"/>
            <a:ext cx="2746500" cy="1875178"/>
            <a:chOff x="5024438" y="4494238"/>
            <a:chExt cx="2746500" cy="2500237"/>
          </a:xfrm>
        </p:grpSpPr>
        <p:cxnSp>
          <p:nvCxnSpPr>
            <p:cNvPr id="86" name="Google Shape;86;p14"/>
            <p:cNvCxnSpPr/>
            <p:nvPr/>
          </p:nvCxnSpPr>
          <p:spPr>
            <a:xfrm rot="10800000">
              <a:off x="5745163" y="4494238"/>
              <a:ext cx="0" cy="936600"/>
            </a:xfrm>
            <a:prstGeom prst="straightConnector1">
              <a:avLst/>
            </a:prstGeom>
            <a:noFill/>
            <a:ln cap="flat" cmpd="sng" w="57150">
              <a:solidFill>
                <a:srgbClr val="FFD966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87" name="Google Shape;87;p14"/>
            <p:cNvSpPr txBox="1"/>
            <p:nvPr/>
          </p:nvSpPr>
          <p:spPr>
            <a:xfrm>
              <a:off x="5024438" y="5311775"/>
              <a:ext cx="2746500" cy="16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67171"/>
                </a:buClr>
                <a:buSzPts val="3800"/>
                <a:buFont typeface="Architects Daughter"/>
                <a:buNone/>
              </a:pPr>
              <a:r>
                <a:rPr b="1" i="0" lang="es-419" sz="3800" u="none">
                  <a:solidFill>
                    <a:srgbClr val="76717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Componente</a:t>
              </a:r>
              <a:endParaRPr/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371475" y="3539803"/>
            <a:ext cx="1801800" cy="1795350"/>
            <a:chOff x="371475" y="4719738"/>
            <a:chExt cx="1801800" cy="2393800"/>
          </a:xfrm>
        </p:grpSpPr>
        <p:sp>
          <p:nvSpPr>
            <p:cNvPr id="89" name="Google Shape;89;p14"/>
            <p:cNvSpPr txBox="1"/>
            <p:nvPr/>
          </p:nvSpPr>
          <p:spPr>
            <a:xfrm>
              <a:off x="371475" y="5430838"/>
              <a:ext cx="1801800" cy="16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67171"/>
                </a:buClr>
                <a:buSzPts val="3800"/>
                <a:buFont typeface="Architects Daughter"/>
                <a:buNone/>
              </a:pPr>
              <a:r>
                <a:rPr b="1" i="0" lang="es-419" sz="3800" u="none">
                  <a:solidFill>
                    <a:srgbClr val="76717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Arreglo</a:t>
              </a:r>
              <a:endParaRPr/>
            </a:p>
          </p:txBody>
        </p:sp>
        <p:cxnSp>
          <p:nvCxnSpPr>
            <p:cNvPr id="90" name="Google Shape;90;p14"/>
            <p:cNvCxnSpPr/>
            <p:nvPr/>
          </p:nvCxnSpPr>
          <p:spPr>
            <a:xfrm flipH="1" rot="10800000">
              <a:off x="749300" y="4719738"/>
              <a:ext cx="366600" cy="850800"/>
            </a:xfrm>
            <a:prstGeom prst="straightConnector1">
              <a:avLst/>
            </a:prstGeom>
            <a:noFill/>
            <a:ln cap="flat" cmpd="sng" w="57150">
              <a:solidFill>
                <a:srgbClr val="FFD966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pic>
        <p:nvPicPr>
          <p:cNvPr id="91" name="Google Shape;91;p14"/>
          <p:cNvPicPr preferRelativeResize="0"/>
          <p:nvPr/>
        </p:nvPicPr>
        <p:blipFill rotWithShape="1">
          <a:blip r:embed="rId4">
            <a:alphaModFix/>
          </a:blip>
          <a:srcRect b="66400" l="0" r="0" t="0"/>
          <a:stretch/>
        </p:blipFill>
        <p:spPr>
          <a:xfrm>
            <a:off x="7345362" y="141684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2437" y="386590"/>
            <a:ext cx="419456" cy="421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79375" y="4844653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1" i="0" lang="es-419" sz="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Arreglos Definición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-107950" y="1693069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Arreglo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79375" y="2126525"/>
            <a:ext cx="2236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4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Homogénea</a:t>
            </a:r>
            <a:endParaRPr sz="600"/>
          </a:p>
        </p:txBody>
      </p:sp>
      <p:sp>
        <p:nvSpPr>
          <p:cNvPr id="102" name="Google Shape;102;p15"/>
          <p:cNvSpPr txBox="1"/>
          <p:nvPr/>
        </p:nvSpPr>
        <p:spPr>
          <a:xfrm>
            <a:off x="1814475" y="2214709"/>
            <a:ext cx="6902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6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Los elementos son del mismo tipo .</a:t>
            </a:r>
            <a:endParaRPr sz="1000"/>
          </a:p>
        </p:txBody>
      </p:sp>
      <p:sp>
        <p:nvSpPr>
          <p:cNvPr id="103" name="Google Shape;103;p15"/>
          <p:cNvSpPr txBox="1"/>
          <p:nvPr/>
        </p:nvSpPr>
        <p:spPr>
          <a:xfrm>
            <a:off x="174637" y="2997438"/>
            <a:ext cx="2236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4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Estática</a:t>
            </a:r>
            <a:endParaRPr sz="600"/>
          </a:p>
        </p:txBody>
      </p:sp>
      <p:sp>
        <p:nvSpPr>
          <p:cNvPr id="104" name="Google Shape;104;p15"/>
          <p:cNvSpPr txBox="1"/>
          <p:nvPr/>
        </p:nvSpPr>
        <p:spPr>
          <a:xfrm>
            <a:off x="1677087" y="3075409"/>
            <a:ext cx="71772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6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El tamaño no cambia durante la ejecución (se calcula en el momento de compilación)</a:t>
            </a:r>
            <a:endParaRPr sz="1000"/>
          </a:p>
        </p:txBody>
      </p:sp>
      <p:sp>
        <p:nvSpPr>
          <p:cNvPr id="105" name="Google Shape;105;p15"/>
          <p:cNvSpPr txBox="1"/>
          <p:nvPr/>
        </p:nvSpPr>
        <p:spPr>
          <a:xfrm>
            <a:off x="250825" y="3919240"/>
            <a:ext cx="20844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4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Indexada</a:t>
            </a:r>
            <a:endParaRPr sz="600"/>
          </a:p>
        </p:txBody>
      </p:sp>
      <p:sp>
        <p:nvSpPr>
          <p:cNvPr id="106" name="Google Shape;106;p15"/>
          <p:cNvSpPr txBox="1"/>
          <p:nvPr/>
        </p:nvSpPr>
        <p:spPr>
          <a:xfrm>
            <a:off x="1677075" y="4002425"/>
            <a:ext cx="74322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5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Para acceder a cada elemento de la estructura se debe utilizar una variable ‘índice’ que es de tipo ordinal.</a:t>
            </a:r>
            <a:endParaRPr sz="900"/>
          </a:p>
        </p:txBody>
      </p:sp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345362" y="192881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2437" y="438122"/>
            <a:ext cx="419456" cy="42132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809750" y="844153"/>
            <a:ext cx="70041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5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Es una colección de elementos que se guardan consecutivamente en la memoria y se pueden referenciar a través de un índice.</a:t>
            </a:r>
            <a:endParaRPr sz="1100"/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387" y="884634"/>
            <a:ext cx="1169194" cy="86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Definición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-107950" y="1777603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Arreglo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79387" y="3107531"/>
            <a:ext cx="8767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s-419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Precisamente por ser estática, permite el acceso rápido a sus componentes a través de la variable </a:t>
            </a:r>
            <a:r>
              <a:rPr b="0" i="0" lang="es-419" sz="22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r>
              <a:rPr b="0" i="0" lang="es-419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(que tiene que ser de tipo ordinal) y que puede verse como el </a:t>
            </a:r>
            <a:r>
              <a:rPr b="0" i="0" lang="es-419" sz="22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desplazamiento desde la posición inicial </a:t>
            </a:r>
            <a:r>
              <a:rPr b="0" i="0" lang="es-419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comienzo de la estructura. </a:t>
            </a:r>
            <a:endParaRPr sz="1000"/>
          </a:p>
        </p:txBody>
      </p:sp>
      <p:sp>
        <p:nvSpPr>
          <p:cNvPr id="120" name="Google Shape;120;p16"/>
          <p:cNvSpPr/>
          <p:nvPr/>
        </p:nvSpPr>
        <p:spPr>
          <a:xfrm rot="5400000">
            <a:off x="4232612" y="1877813"/>
            <a:ext cx="744000" cy="1074600"/>
          </a:xfrm>
          <a:prstGeom prst="chevron">
            <a:avLst>
              <a:gd fmla="val 10800" name="adj"/>
            </a:avLst>
          </a:prstGeom>
          <a:solidFill>
            <a:srgbClr val="FFD966"/>
          </a:solidFill>
          <a:ln cap="flat" cmpd="sng" w="127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345362" y="192881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2437" y="438122"/>
            <a:ext cx="419456" cy="42132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809750" y="951309"/>
            <a:ext cx="70041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4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Es una colección de elementos que se guardan consecutivamente en la memoria y se pueden referenciar a través de un índice.</a:t>
            </a:r>
            <a:endParaRPr sz="1000"/>
          </a:p>
        </p:txBody>
      </p:sp>
      <p:pic>
        <p:nvPicPr>
          <p:cNvPr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387" y="969169"/>
            <a:ext cx="1169194" cy="86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Arreglos Clasificación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3086137" y="791681"/>
            <a:ext cx="2695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s-419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</a:t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345362" y="192881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2437" y="438122"/>
            <a:ext cx="419456" cy="4213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7"/>
          <p:cNvCxnSpPr/>
          <p:nvPr/>
        </p:nvCxnSpPr>
        <p:spPr>
          <a:xfrm flipH="1">
            <a:off x="1908100" y="1608534"/>
            <a:ext cx="2524200" cy="477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6" name="Google Shape;136;p17"/>
          <p:cNvCxnSpPr/>
          <p:nvPr/>
        </p:nvCxnSpPr>
        <p:spPr>
          <a:xfrm>
            <a:off x="4433887" y="1608534"/>
            <a:ext cx="0" cy="12408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7" name="Google Shape;137;p17"/>
          <p:cNvCxnSpPr/>
          <p:nvPr/>
        </p:nvCxnSpPr>
        <p:spPr>
          <a:xfrm>
            <a:off x="4432300" y="1607344"/>
            <a:ext cx="2524200" cy="4785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38" name="Google Shape;138;p17"/>
          <p:cNvSpPr txBox="1"/>
          <p:nvPr/>
        </p:nvSpPr>
        <p:spPr>
          <a:xfrm>
            <a:off x="368300" y="2213372"/>
            <a:ext cx="2695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s-419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VECTORES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2998787" y="2783681"/>
            <a:ext cx="2695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s-419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MATRICES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980112" y="2105025"/>
            <a:ext cx="2695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s-419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TENSORES</a:t>
            </a:r>
            <a:endParaRPr/>
          </a:p>
        </p:txBody>
      </p:sp>
      <p:pic>
        <p:nvPicPr>
          <p:cNvPr id="141" name="Google Shape;141;p17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42138" y="3068175"/>
            <a:ext cx="1747837" cy="442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5649" y="3537638"/>
            <a:ext cx="756468" cy="75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6719" y="2849332"/>
            <a:ext cx="892372" cy="89237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 rot="-916072">
            <a:off x="5382243" y="3600927"/>
            <a:ext cx="2721660" cy="1346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4000"/>
              <a:buFont typeface="Architects Daughter"/>
              <a:buNone/>
            </a:pPr>
            <a:r>
              <a:rPr b="1" i="0" lang="es-419" sz="4000" u="none">
                <a:solidFill>
                  <a:srgbClr val="2E75B6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Cómo se declara?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Definición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737475" y="188119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 rot="-225328">
            <a:off x="3135865" y="4555231"/>
            <a:ext cx="2789390" cy="64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3600"/>
              <a:buFont typeface="Architects Daughter"/>
              <a:buNone/>
            </a:pPr>
            <a:r>
              <a:rPr b="1" i="0" lang="es-419" sz="3600" u="none">
                <a:solidFill>
                  <a:srgbClr val="2E75B6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Ejemplos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250825" y="844153"/>
            <a:ext cx="734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olas"/>
              <a:buNone/>
            </a:pPr>
            <a:r>
              <a:rPr lang="es-419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Tipo nombre[tamaño]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3513312" y="1713363"/>
            <a:ext cx="4286400" cy="2308800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del arreglo. Son de tipo </a:t>
            </a:r>
            <a:r>
              <a:rPr b="0" i="0" lang="es-419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estático</a:t>
            </a:r>
            <a:r>
              <a:rPr b="0" i="0" lang="es-419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419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 arreglo</a:t>
            </a:r>
            <a:endParaRPr/>
          </a:p>
        </p:txBody>
      </p:sp>
      <p:pic>
        <p:nvPicPr>
          <p:cNvPr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2437" y="438122"/>
            <a:ext cx="419456" cy="4213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8"/>
          <p:cNvCxnSpPr/>
          <p:nvPr/>
        </p:nvCxnSpPr>
        <p:spPr>
          <a:xfrm>
            <a:off x="852700" y="1615934"/>
            <a:ext cx="2016000" cy="411000"/>
          </a:xfrm>
          <a:prstGeom prst="straightConnector1">
            <a:avLst/>
          </a:prstGeom>
          <a:noFill/>
          <a:ln cap="flat" cmpd="sng" w="57150">
            <a:solidFill>
              <a:srgbClr val="76717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 Ejemplos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165" name="Google Shape;165;p19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942262" y="240506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250825" y="681038"/>
            <a:ext cx="7691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24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es-419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float numeros[10];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i="0" lang="es-419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98437" y="1815703"/>
            <a:ext cx="34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2219300" y="3229638"/>
            <a:ext cx="6456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numeros reserva memoria para 10 números reales</a:t>
            </a:r>
            <a:endParaRPr/>
          </a:p>
        </p:txBody>
      </p:sp>
      <p:graphicFrame>
        <p:nvGraphicFramePr>
          <p:cNvPr id="169" name="Google Shape;169;p19"/>
          <p:cNvGraphicFramePr/>
          <p:nvPr/>
        </p:nvGraphicFramePr>
        <p:xfrm>
          <a:off x="1725612" y="2463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{77DE4E5D-BC2A-498C-B55B-CD4862C2E4F1}</a:tableStyleId>
              </a:tblPr>
              <a:tblGrid>
                <a:gridCol w="681025"/>
                <a:gridCol w="681025"/>
                <a:gridCol w="679450"/>
                <a:gridCol w="681025"/>
                <a:gridCol w="681025"/>
                <a:gridCol w="681025"/>
                <a:gridCol w="681025"/>
                <a:gridCol w="679450"/>
                <a:gridCol w="681025"/>
                <a:gridCol w="681025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0" name="Google Shape;170;p19"/>
          <p:cNvGrpSpPr/>
          <p:nvPr/>
        </p:nvGrpSpPr>
        <p:grpSpPr>
          <a:xfrm>
            <a:off x="1692263" y="2519134"/>
            <a:ext cx="6700913" cy="348150"/>
            <a:chOff x="1755775" y="3414713"/>
            <a:chExt cx="6700913" cy="464200"/>
          </a:xfrm>
        </p:grpSpPr>
        <p:sp>
          <p:nvSpPr>
            <p:cNvPr id="171" name="Google Shape;171;p19"/>
            <p:cNvSpPr txBox="1"/>
            <p:nvPr/>
          </p:nvSpPr>
          <p:spPr>
            <a:xfrm>
              <a:off x="1755775" y="3416300"/>
              <a:ext cx="728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15,25 </a:t>
              </a:r>
              <a:endParaRPr/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2555875" y="3414713"/>
              <a:ext cx="4746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-7</a:t>
              </a:r>
              <a:endParaRPr/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3059113" y="3417888"/>
              <a:ext cx="766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1879,3</a:t>
              </a: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3924300" y="3414713"/>
              <a:ext cx="4779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4457700" y="3424238"/>
              <a:ext cx="619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8,45</a:t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5148263" y="3427413"/>
              <a:ext cx="6906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10,25</a:t>
              </a:r>
              <a:endParaRPr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5897563" y="3425825"/>
              <a:ext cx="428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6588125" y="3424238"/>
              <a:ext cx="6174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-8,45</a:t>
              </a:r>
              <a:endParaRPr/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7235825" y="3427413"/>
              <a:ext cx="6906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10,25</a:t>
              </a: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8027988" y="3425825"/>
              <a:ext cx="428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1847850" y="2892028"/>
            <a:ext cx="6611838" cy="346959"/>
            <a:chOff x="1847850" y="3856038"/>
            <a:chExt cx="6611838" cy="462612"/>
          </a:xfrm>
        </p:grpSpPr>
        <p:sp>
          <p:nvSpPr>
            <p:cNvPr id="182" name="Google Shape;182;p19"/>
            <p:cNvSpPr txBox="1"/>
            <p:nvPr/>
          </p:nvSpPr>
          <p:spPr>
            <a:xfrm>
              <a:off x="1847850" y="3867150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1600"/>
                <a:buFont typeface="Calibri"/>
                <a:buNone/>
              </a:pPr>
              <a:r>
                <a:rPr lang="es-419" sz="160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2555875" y="3867150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1600"/>
                <a:buFont typeface="Calibri"/>
                <a:buNone/>
              </a:pPr>
              <a:r>
                <a:rPr lang="es-419" sz="160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3259138" y="3865563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1600"/>
                <a:buFont typeface="Calibri"/>
                <a:buNone/>
              </a:pPr>
              <a:r>
                <a:rPr lang="es-419" sz="160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3924300" y="3865563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1600"/>
                <a:buFont typeface="Calibri"/>
                <a:buNone/>
              </a:pPr>
              <a:r>
                <a:rPr lang="es-419" sz="160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4572000" y="3859213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1600"/>
                <a:buFont typeface="Calibri"/>
                <a:buNone/>
              </a:pPr>
              <a:r>
                <a:rPr lang="es-419" sz="160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5364163" y="3856038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1600"/>
                <a:buFont typeface="Calibri"/>
                <a:buNone/>
              </a:pPr>
              <a:r>
                <a:rPr lang="es-419" sz="160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5940425" y="3856038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1600"/>
                <a:buFont typeface="Calibri"/>
                <a:buNone/>
              </a:pPr>
              <a:r>
                <a:rPr lang="es-419" sz="160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6745288" y="3859213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1600"/>
                <a:buFont typeface="Calibri"/>
                <a:buNone/>
              </a:pPr>
              <a:r>
                <a:rPr lang="es-419" sz="160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7380288" y="3856038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1600"/>
                <a:buFont typeface="Calibri"/>
                <a:buNone/>
              </a:pPr>
              <a:r>
                <a:rPr lang="es-419" sz="160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8027988" y="3856038"/>
              <a:ext cx="431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CC"/>
                </a:buClr>
                <a:buSzPts val="1600"/>
                <a:buFont typeface="Calibri"/>
                <a:buNone/>
              </a:pPr>
              <a:r>
                <a:rPr lang="es-419" sz="160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sp>
        <p:nvSpPr>
          <p:cNvPr id="192" name="Google Shape;192;p19"/>
          <p:cNvSpPr txBox="1"/>
          <p:nvPr/>
        </p:nvSpPr>
        <p:spPr>
          <a:xfrm>
            <a:off x="1771594" y="3931455"/>
            <a:ext cx="34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16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737475" y="188119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39750" y="854869"/>
            <a:ext cx="7391400" cy="3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Asignación de valores</a:t>
            </a:r>
            <a:endParaRPr sz="600"/>
          </a:p>
          <a:p>
            <a:pPr indent="0" lvl="1" marL="457200" marR="0" rtl="0" algn="just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Lectura / Escritura</a:t>
            </a:r>
            <a:endParaRPr sz="600"/>
          </a:p>
          <a:p>
            <a:pPr indent="0" lvl="1" marL="457200" marR="0" rtl="0" algn="just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Recorridos</a:t>
            </a:r>
            <a:endParaRPr sz="600"/>
          </a:p>
          <a:p>
            <a:pPr indent="0" lvl="1" marL="457200" marR="0" rtl="0" algn="just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Cargar datos en un vector</a:t>
            </a:r>
            <a:endParaRPr sz="600"/>
          </a:p>
          <a:p>
            <a:pPr indent="0" lvl="1" marL="457200" marR="0" rtl="0" algn="just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elementos al final </a:t>
            </a:r>
            <a:endParaRPr sz="600"/>
          </a:p>
          <a:p>
            <a:pPr indent="0" lvl="1" marL="457200" marR="0" rtl="0" algn="just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Insertar elementos </a:t>
            </a:r>
            <a:endParaRPr sz="600"/>
          </a:p>
          <a:p>
            <a:pPr indent="0" lvl="1" marL="457200" marR="0" rtl="0" algn="just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Borrar elementos </a:t>
            </a:r>
            <a:endParaRPr sz="600"/>
          </a:p>
          <a:p>
            <a:pPr indent="0" lvl="1" marL="457200" marR="0" rtl="0" algn="just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Búsqueda de un elemento</a:t>
            </a:r>
            <a:endParaRPr sz="600"/>
          </a:p>
          <a:p>
            <a:pPr indent="0" lvl="1" marL="457200" marR="0" rtl="0" algn="just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Ordenación de los elementos</a:t>
            </a:r>
            <a:endParaRPr sz="600"/>
          </a:p>
        </p:txBody>
      </p:sp>
      <p:pic>
        <p:nvPicPr>
          <p:cNvPr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859999">
            <a:off x="5320481" y="2774156"/>
            <a:ext cx="2549128" cy="1696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10" name="Google Shape;210;p21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737475" y="188119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39750" y="854869"/>
            <a:ext cx="739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s-419" sz="1900"/>
              <a:t>Asignación</a:t>
            </a:r>
            <a:r>
              <a:rPr lang="es-419" sz="1900"/>
              <a:t> de valores</a:t>
            </a:r>
            <a:endParaRPr sz="1900"/>
          </a:p>
        </p:txBody>
      </p:sp>
      <p:sp>
        <p:nvSpPr>
          <p:cNvPr id="212" name="Google Shape;212;p21"/>
          <p:cNvSpPr txBox="1"/>
          <p:nvPr/>
        </p:nvSpPr>
        <p:spPr>
          <a:xfrm>
            <a:off x="510000" y="1503925"/>
            <a:ext cx="7780500" cy="3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int numeros[4] = {10, 20, 30, 40};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int numeros[3];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numeros[0] = 100;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numeros[1] = 200;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numeros[2] = 300;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int numeros[5];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for (int i = 0; i &lt; 5; i++) {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 cout &lt;&lt; "Ingrese el valor " &lt;&lt; i &lt;&lt; ": ";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 cin &gt;&gt; numeros[i];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20" name="Google Shape;220;p22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737475" y="188119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39750" y="854869"/>
            <a:ext cx="739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s-419" sz="1900"/>
              <a:t>mostrar</a:t>
            </a:r>
            <a:r>
              <a:rPr lang="es-419" sz="1900"/>
              <a:t> valores</a:t>
            </a:r>
            <a:endParaRPr sz="1900"/>
          </a:p>
        </p:txBody>
      </p:sp>
      <p:sp>
        <p:nvSpPr>
          <p:cNvPr id="222" name="Google Shape;222;p22"/>
          <p:cNvSpPr txBox="1"/>
          <p:nvPr/>
        </p:nvSpPr>
        <p:spPr>
          <a:xfrm>
            <a:off x="510000" y="1503925"/>
            <a:ext cx="7780500" cy="3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int numeros[5];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numeros[0] = 100;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numeros[1] = 200;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numeros[2] = 300;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numeros[3] = 400;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numeros[4] = 500;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for (int i = 0; i &lt; 5; i++) {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     cout &lt;&lt; "el valor es" &lt;&lt; </a:t>
            </a:r>
            <a:r>
              <a:rPr lang="es-419" sz="1800">
                <a:solidFill>
                  <a:schemeClr val="dk2"/>
                </a:solidFill>
              </a:rPr>
              <a:t>numeros[i]</a:t>
            </a:r>
            <a:r>
              <a:rPr lang="es-419" sz="1800">
                <a:solidFill>
                  <a:schemeClr val="dk2"/>
                </a:solidFill>
              </a:rPr>
              <a:t>&lt;&lt; endl;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30" name="Google Shape;230;p23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737475" y="188119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39750" y="854869"/>
            <a:ext cx="739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s-419" sz="1900"/>
              <a:t>Sumar valores de un vector</a:t>
            </a:r>
            <a:endParaRPr sz="1900"/>
          </a:p>
        </p:txBody>
      </p:sp>
      <p:sp>
        <p:nvSpPr>
          <p:cNvPr id="232" name="Google Shape;232;p23"/>
          <p:cNvSpPr txBox="1"/>
          <p:nvPr/>
        </p:nvSpPr>
        <p:spPr>
          <a:xfrm>
            <a:off x="510000" y="1503925"/>
            <a:ext cx="7780500" cy="3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int numeros[5] = {10, 20, 30, 40, 50};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int suma = 0;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for (int i = 0; i &lt; 5; i++) {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    suma += numeros[i];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</a:rPr>
              <a:t>cout &lt;&lt; "Suma total: " &lt;&lt; suma &lt;&lt; endl;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Ejercicio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40" name="Google Shape;240;p24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737475" y="188119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501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1476375" y="735806"/>
            <a:ext cx="7415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19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Realice un programa que lea la información de 5 números enteros. </a:t>
            </a:r>
            <a:endParaRPr sz="900"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19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Una vez que la información fue leída se debe informar la producto de los números leídos.</a:t>
            </a:r>
            <a:endParaRPr sz="900"/>
          </a:p>
        </p:txBody>
      </p:sp>
      <p:grpSp>
        <p:nvGrpSpPr>
          <p:cNvPr id="243" name="Google Shape;243;p24"/>
          <p:cNvGrpSpPr/>
          <p:nvPr/>
        </p:nvGrpSpPr>
        <p:grpSpPr>
          <a:xfrm>
            <a:off x="3422657" y="2677715"/>
            <a:ext cx="3457683" cy="589275"/>
            <a:chOff x="1259632" y="4725144"/>
            <a:chExt cx="3456300" cy="785700"/>
          </a:xfrm>
        </p:grpSpPr>
        <p:sp>
          <p:nvSpPr>
            <p:cNvPr id="244" name="Google Shape;244;p24"/>
            <p:cNvSpPr txBox="1"/>
            <p:nvPr/>
          </p:nvSpPr>
          <p:spPr>
            <a:xfrm>
              <a:off x="1259632" y="4725144"/>
              <a:ext cx="3456300" cy="7857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45" name="Google Shape;245;p24"/>
            <p:cNvCxnSpPr/>
            <p:nvPr/>
          </p:nvCxnSpPr>
          <p:spPr>
            <a:xfrm rot="5400000">
              <a:off x="1582463" y="5117994"/>
              <a:ext cx="7857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46" name="Google Shape;246;p24"/>
            <p:cNvCxnSpPr/>
            <p:nvPr/>
          </p:nvCxnSpPr>
          <p:spPr>
            <a:xfrm rot="5400000">
              <a:off x="2215625" y="5117994"/>
              <a:ext cx="7857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47" name="Google Shape;247;p24"/>
            <p:cNvCxnSpPr/>
            <p:nvPr/>
          </p:nvCxnSpPr>
          <p:spPr>
            <a:xfrm rot="5400000">
              <a:off x="2931305" y="5117994"/>
              <a:ext cx="7857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48" name="Google Shape;248;p24"/>
            <p:cNvCxnSpPr/>
            <p:nvPr/>
          </p:nvCxnSpPr>
          <p:spPr>
            <a:xfrm rot="5400000">
              <a:off x="3564467" y="5117994"/>
              <a:ext cx="785700" cy="0"/>
            </a:xfrm>
            <a:prstGeom prst="straightConnector1">
              <a:avLst/>
            </a:prstGeom>
            <a:solidFill>
              <a:schemeClr val="lt1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249" name="Google Shape;249;p24"/>
          <p:cNvSpPr/>
          <p:nvPr/>
        </p:nvSpPr>
        <p:spPr>
          <a:xfrm>
            <a:off x="2009775" y="3458765"/>
            <a:ext cx="979500" cy="471600"/>
          </a:xfrm>
          <a:prstGeom prst="rightArrow">
            <a:avLst>
              <a:gd fmla="val 14668" name="adj1"/>
              <a:gd fmla="val 50000" name="adj2"/>
            </a:avLst>
          </a:prstGeom>
          <a:solidFill>
            <a:srgbClr val="70AD47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906462" y="3127771"/>
            <a:ext cx="3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1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912812" y="3400425"/>
            <a:ext cx="3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1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827087" y="3699271"/>
            <a:ext cx="33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1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828675" y="4023122"/>
            <a:ext cx="47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1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900112" y="2865834"/>
            <a:ext cx="3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1" i="0" lang="es-419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pic>
        <p:nvPicPr>
          <p:cNvPr id="255" name="Google Shape;25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0300" y="2661047"/>
            <a:ext cx="1147763" cy="9465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24"/>
          <p:cNvCxnSpPr/>
          <p:nvPr/>
        </p:nvCxnSpPr>
        <p:spPr>
          <a:xfrm flipH="1" rot="10800000">
            <a:off x="1662725" y="1837156"/>
            <a:ext cx="4425600" cy="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7" name="Google Shape;257;p24"/>
          <p:cNvSpPr txBox="1"/>
          <p:nvPr/>
        </p:nvSpPr>
        <p:spPr>
          <a:xfrm rot="-406314">
            <a:off x="5013664" y="3781196"/>
            <a:ext cx="3187840" cy="1329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4000"/>
              <a:buFont typeface="Architects Daughter"/>
              <a:buNone/>
            </a:pPr>
            <a:r>
              <a:rPr b="1" i="0" lang="es-419" sz="4000" u="none">
                <a:solidFill>
                  <a:srgbClr val="2E75B6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Qué modularizo?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Ejercicio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65" name="Google Shape;265;p25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737475" y="188119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7358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476375" y="735806"/>
            <a:ext cx="7415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Realice un programa que lea la información de 5 números enteros.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tects Daughter"/>
              <a:buNone/>
            </a:pPr>
            <a:r>
              <a:rPr b="1" i="0" lang="es-419" sz="20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Una vez que la información fue leída se debe informar el producto de los números leídos.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400050" y="1966913"/>
            <a:ext cx="7567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b="0" i="0" sz="22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Cargo el vector con los 5 números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i="0" lang="es-419" sz="22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Calculo el producto de los 5 números leí</a:t>
            </a:r>
            <a:r>
              <a:rPr lang="es-419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dos</a:t>
            </a:r>
            <a:endParaRPr/>
          </a:p>
        </p:txBody>
      </p:sp>
      <p:grpSp>
        <p:nvGrpSpPr>
          <p:cNvPr id="269" name="Google Shape;269;p25"/>
          <p:cNvGrpSpPr/>
          <p:nvPr/>
        </p:nvGrpSpPr>
        <p:grpSpPr>
          <a:xfrm>
            <a:off x="5112617" y="1552517"/>
            <a:ext cx="3312300" cy="1613541"/>
            <a:chOff x="5112089" y="2069987"/>
            <a:chExt cx="3312300" cy="2151101"/>
          </a:xfrm>
        </p:grpSpPr>
        <p:sp>
          <p:nvSpPr>
            <p:cNvPr id="270" name="Google Shape;270;p25"/>
            <p:cNvSpPr txBox="1"/>
            <p:nvPr/>
          </p:nvSpPr>
          <p:spPr>
            <a:xfrm rot="-539913">
              <a:off x="5165715" y="2314871"/>
              <a:ext cx="3205047" cy="938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6"/>
                </a:buClr>
                <a:buSzPts val="4000"/>
                <a:buFont typeface="Architects Daughter"/>
                <a:buNone/>
              </a:pPr>
              <a:r>
                <a:rPr b="1" i="0" lang="es-419" sz="4000" u="none">
                  <a:solidFill>
                    <a:srgbClr val="2E75B6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Qué módulo?</a:t>
              </a:r>
              <a:endParaRPr/>
            </a:p>
          </p:txBody>
        </p:sp>
        <p:cxnSp>
          <p:nvCxnSpPr>
            <p:cNvPr id="271" name="Google Shape;271;p25"/>
            <p:cNvCxnSpPr/>
            <p:nvPr/>
          </p:nvCxnSpPr>
          <p:spPr>
            <a:xfrm>
              <a:off x="6178021" y="4197277"/>
              <a:ext cx="678000" cy="0"/>
            </a:xfrm>
            <a:prstGeom prst="straightConnector1">
              <a:avLst/>
            </a:prstGeom>
            <a:noFill/>
            <a:ln cap="flat" cmpd="sng" w="57150">
              <a:solidFill>
                <a:srgbClr val="2E75B6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2" name="Google Shape;272;p25"/>
            <p:cNvCxnSpPr/>
            <p:nvPr/>
          </p:nvCxnSpPr>
          <p:spPr>
            <a:xfrm rot="10800000">
              <a:off x="6855809" y="2898688"/>
              <a:ext cx="9600" cy="1322400"/>
            </a:xfrm>
            <a:prstGeom prst="straightConnector1">
              <a:avLst/>
            </a:prstGeom>
            <a:noFill/>
            <a:ln cap="flat" cmpd="sng" w="57150">
              <a:solidFill>
                <a:srgbClr val="2E75B6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273" name="Google Shape;273;p25"/>
          <p:cNvGrpSpPr/>
          <p:nvPr/>
        </p:nvGrpSpPr>
        <p:grpSpPr>
          <a:xfrm>
            <a:off x="5076233" y="3723254"/>
            <a:ext cx="3330600" cy="1691785"/>
            <a:chOff x="5076933" y="4964209"/>
            <a:chExt cx="3330600" cy="2255714"/>
          </a:xfrm>
        </p:grpSpPr>
        <p:sp>
          <p:nvSpPr>
            <p:cNvPr id="274" name="Google Shape;274;p25"/>
            <p:cNvSpPr txBox="1"/>
            <p:nvPr/>
          </p:nvSpPr>
          <p:spPr>
            <a:xfrm rot="1139879">
              <a:off x="5139640" y="5801336"/>
              <a:ext cx="3205186" cy="921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33"/>
                </a:buClr>
                <a:buSzPts val="4000"/>
                <a:buFont typeface="Architects Daughter"/>
                <a:buNone/>
              </a:pPr>
              <a:r>
                <a:rPr b="1" i="0" lang="es-419" sz="4000" u="none">
                  <a:solidFill>
                    <a:srgbClr val="FF9933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Qué módulo?</a:t>
              </a:r>
              <a:endParaRPr/>
            </a:p>
          </p:txBody>
        </p:sp>
        <p:cxnSp>
          <p:nvCxnSpPr>
            <p:cNvPr id="275" name="Google Shape;275;p25"/>
            <p:cNvCxnSpPr/>
            <p:nvPr/>
          </p:nvCxnSpPr>
          <p:spPr>
            <a:xfrm>
              <a:off x="6130037" y="5497609"/>
              <a:ext cx="678000" cy="0"/>
            </a:xfrm>
            <a:prstGeom prst="straightConnector1">
              <a:avLst/>
            </a:prstGeom>
            <a:noFill/>
            <a:ln cap="flat" cmpd="sng" w="57150">
              <a:solidFill>
                <a:srgbClr val="FF993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6" name="Google Shape;276;p25"/>
            <p:cNvCxnSpPr/>
            <p:nvPr/>
          </p:nvCxnSpPr>
          <p:spPr>
            <a:xfrm flipH="1" rot="10800000">
              <a:off x="6130037" y="4964209"/>
              <a:ext cx="3300" cy="533400"/>
            </a:xfrm>
            <a:prstGeom prst="straightConnector1">
              <a:avLst/>
            </a:prstGeom>
            <a:noFill/>
            <a:ln cap="flat" cmpd="sng" w="57150">
              <a:solidFill>
                <a:srgbClr val="FF993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7" name="Google Shape;277;p25"/>
            <p:cNvCxnSpPr/>
            <p:nvPr/>
          </p:nvCxnSpPr>
          <p:spPr>
            <a:xfrm flipH="1" rot="10800000">
              <a:off x="6806312" y="5472230"/>
              <a:ext cx="1500" cy="533400"/>
            </a:xfrm>
            <a:prstGeom prst="straightConnector1">
              <a:avLst/>
            </a:prstGeom>
            <a:noFill/>
            <a:ln cap="flat" cmpd="sng" w="57150">
              <a:solidFill>
                <a:srgbClr val="FF993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s-419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Clase 9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 Ejercicio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s-419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21</a:t>
            </a:r>
            <a:endParaRPr/>
          </a:p>
        </p:txBody>
      </p:sp>
      <p:pic>
        <p:nvPicPr>
          <p:cNvPr id="285" name="Google Shape;285;p26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737475" y="188119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7358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 txBox="1"/>
          <p:nvPr/>
        </p:nvSpPr>
        <p:spPr>
          <a:xfrm>
            <a:off x="1476375" y="735806"/>
            <a:ext cx="7415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tects Daughter"/>
              <a:buNone/>
            </a:pPr>
            <a:r>
              <a:rPr b="1" i="0" lang="es-419" sz="17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Realice un programa que lea la información de 5 números enteros. </a:t>
            </a:r>
            <a:endParaRPr sz="11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tects Daughter"/>
              <a:buNone/>
            </a:pPr>
            <a:r>
              <a:rPr b="1" i="0" lang="es-419" sz="17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Una vez que la información fue leída se debe informar el producto de los números leídos.</a:t>
            </a:r>
            <a:endParaRPr sz="1100"/>
          </a:p>
        </p:txBody>
      </p:sp>
      <p:sp>
        <p:nvSpPr>
          <p:cNvPr id="288" name="Google Shape;288;p26"/>
          <p:cNvSpPr txBox="1"/>
          <p:nvPr/>
        </p:nvSpPr>
        <p:spPr>
          <a:xfrm>
            <a:off x="1347787" y="1563290"/>
            <a:ext cx="7112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&lt;iostream&gt;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VN[5];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llenarNumeros(VN);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cout &lt;&lt; "El producto es:" &lt;&lt; producto(VN);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Ejercicio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296" name="Google Shape;296;p27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7737475" y="188119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7358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7"/>
          <p:cNvSpPr txBox="1"/>
          <p:nvPr/>
        </p:nvSpPr>
        <p:spPr>
          <a:xfrm>
            <a:off x="1476375" y="789384"/>
            <a:ext cx="7112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llenarNumeros(int v[5]) {</a:t>
            </a:r>
            <a:endParaRPr b="1"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5; i++) {</a:t>
            </a:r>
            <a:endParaRPr b="1"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cout &lt;&lt; "Ingrese el número " &lt;&lt; i + 1 &lt;&lt; ": ";</a:t>
            </a:r>
            <a:endParaRPr b="1"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cin &gt;&gt; v[i];</a:t>
            </a:r>
            <a:endParaRPr b="1"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1476375" y="2429771"/>
            <a:ext cx="71121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producto(int v[5])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prod = 1;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5; i++)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prod *= v[i];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prod;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t/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Recorridos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307" name="Google Shape;307;p28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8"/>
          <p:cNvSpPr txBox="1"/>
          <p:nvPr/>
        </p:nvSpPr>
        <p:spPr>
          <a:xfrm>
            <a:off x="-55562" y="1600200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30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Recorrido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1809750" y="789384"/>
            <a:ext cx="70041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3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Consiste en recorrer el vector de manera total o parcial, para realizar algún proceso sobre sus elementos.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pic>
        <p:nvPicPr>
          <p:cNvPr id="310" name="Google Shape;3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789384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 txBox="1"/>
          <p:nvPr/>
        </p:nvSpPr>
        <p:spPr>
          <a:xfrm>
            <a:off x="107950" y="2113359"/>
            <a:ext cx="2879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8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Recorrido Total</a:t>
            </a:r>
            <a:endParaRPr sz="1000"/>
          </a:p>
        </p:txBody>
      </p:sp>
      <p:sp>
        <p:nvSpPr>
          <p:cNvPr id="312" name="Google Shape;312;p28"/>
          <p:cNvSpPr txBox="1"/>
          <p:nvPr/>
        </p:nvSpPr>
        <p:spPr>
          <a:xfrm>
            <a:off x="1692275" y="2483644"/>
            <a:ext cx="7272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7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Implica analizar todos los elementos del vector, lo que lleva a recorrer completamente la estructura.</a:t>
            </a:r>
            <a:endParaRPr sz="1100"/>
          </a:p>
        </p:txBody>
      </p:sp>
      <p:sp>
        <p:nvSpPr>
          <p:cNvPr id="313" name="Google Shape;313;p28"/>
          <p:cNvSpPr txBox="1"/>
          <p:nvPr/>
        </p:nvSpPr>
        <p:spPr>
          <a:xfrm>
            <a:off x="195262" y="3598069"/>
            <a:ext cx="3513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0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Recorrido Parcial </a:t>
            </a:r>
            <a:endParaRPr sz="1200"/>
          </a:p>
        </p:txBody>
      </p:sp>
      <p:sp>
        <p:nvSpPr>
          <p:cNvPr id="314" name="Google Shape;314;p28"/>
          <p:cNvSpPr txBox="1"/>
          <p:nvPr/>
        </p:nvSpPr>
        <p:spPr>
          <a:xfrm>
            <a:off x="1692275" y="3880250"/>
            <a:ext cx="72723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000"/>
              <a:buFont typeface="Architects Daughter"/>
              <a:buNone/>
            </a:pPr>
            <a:r>
              <a:rPr b="1" i="0" lang="es-419" sz="2500" u="none">
                <a:solidFill>
                  <a:srgbClr val="76717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Implica analizar  los elementos del vector, hasta encontrar aquel que cumple con lo pedido. Puede ocurrir que se recorra todo el vector</a:t>
            </a:r>
            <a:endParaRPr sz="900"/>
          </a:p>
        </p:txBody>
      </p:sp>
      <p:sp>
        <p:nvSpPr>
          <p:cNvPr id="315" name="Google Shape;315;p28"/>
          <p:cNvSpPr txBox="1"/>
          <p:nvPr/>
        </p:nvSpPr>
        <p:spPr>
          <a:xfrm rot="-406276">
            <a:off x="4214070" y="1531164"/>
            <a:ext cx="4773295" cy="15762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70AD4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Qué estructura de control se utiliza en cada caso?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Recorridos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323" name="Google Shape;323;p29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1809750" y="789384"/>
            <a:ext cx="70041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t/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12" y="789369"/>
            <a:ext cx="3513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0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Recorrido Parcial </a:t>
            </a:r>
            <a:endParaRPr sz="1200"/>
          </a:p>
        </p:txBody>
      </p:sp>
      <p:sp>
        <p:nvSpPr>
          <p:cNvPr id="326" name="Google Shape;326;p29"/>
          <p:cNvSpPr txBox="1"/>
          <p:nvPr/>
        </p:nvSpPr>
        <p:spPr>
          <a:xfrm>
            <a:off x="133300" y="1489450"/>
            <a:ext cx="87756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1"/>
                </a:solidFill>
              </a:rPr>
              <a:t>Leer y mostrar los valores </a:t>
            </a:r>
            <a:r>
              <a:rPr b="1" lang="es-419" sz="1700">
                <a:solidFill>
                  <a:schemeClr val="dk1"/>
                </a:solidFill>
              </a:rPr>
              <a:t>hasta que aparezca un número negativo. A lo sumo se </a:t>
            </a:r>
            <a:r>
              <a:rPr b="1" lang="es-419" sz="1700">
                <a:solidFill>
                  <a:schemeClr val="dk1"/>
                </a:solidFill>
              </a:rPr>
              <a:t>leerán</a:t>
            </a:r>
            <a:r>
              <a:rPr b="1" lang="es-419" sz="1700">
                <a:solidFill>
                  <a:schemeClr val="dk1"/>
                </a:solidFill>
              </a:rPr>
              <a:t> 100 </a:t>
            </a:r>
            <a:r>
              <a:rPr b="1" lang="es-419" sz="1700">
                <a:solidFill>
                  <a:schemeClr val="dk1"/>
                </a:solidFill>
              </a:rPr>
              <a:t>números</a:t>
            </a:r>
            <a:r>
              <a:rPr b="1" lang="es-419" sz="1700">
                <a:solidFill>
                  <a:schemeClr val="dk1"/>
                </a:solidFill>
              </a:rPr>
              <a:t>. 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Recorridos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334" name="Google Shape;334;p30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0"/>
          <p:cNvSpPr txBox="1"/>
          <p:nvPr/>
        </p:nvSpPr>
        <p:spPr>
          <a:xfrm>
            <a:off x="1809750" y="789384"/>
            <a:ext cx="70041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t/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-25" y="789375"/>
            <a:ext cx="8908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</a:rPr>
              <a:t>Leer y mostrar los valores </a:t>
            </a:r>
            <a:r>
              <a:rPr b="1" lang="es-419" sz="1700">
                <a:solidFill>
                  <a:schemeClr val="dk1"/>
                </a:solidFill>
              </a:rPr>
              <a:t>hasta que aparezca un número negativo. A lo sumo se leerán 100 números. </a:t>
            </a:r>
            <a:endParaRPr sz="1200"/>
          </a:p>
        </p:txBody>
      </p:sp>
      <p:sp>
        <p:nvSpPr>
          <p:cNvPr id="337" name="Google Shape;337;p30"/>
          <p:cNvSpPr txBox="1"/>
          <p:nvPr/>
        </p:nvSpPr>
        <p:spPr>
          <a:xfrm>
            <a:off x="133300" y="1410675"/>
            <a:ext cx="8775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#include &lt;iostream&gt;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using namespace std;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int main() {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    int v[100];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    int i = 0;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    int n;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    cout &lt;&lt; "Ingrese números positivos (negativo para cortar):" &lt;&lt; endl;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    cin &gt;&gt; n;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    while (n &gt;= 0 &amp;&amp; i &lt; 100) {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        v[i] = n;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        i++;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2"/>
                </a:solidFill>
              </a:rPr>
              <a:t>        cin &gt;&gt; n;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    }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Operaciones Recorridos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87249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345" name="Google Shape;345;p31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1"/>
          <p:cNvSpPr txBox="1"/>
          <p:nvPr/>
        </p:nvSpPr>
        <p:spPr>
          <a:xfrm>
            <a:off x="1809750" y="789384"/>
            <a:ext cx="70041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t/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-25" y="789375"/>
            <a:ext cx="8908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</a:rPr>
              <a:t>Leer y mostrar los valores </a:t>
            </a:r>
            <a:r>
              <a:rPr b="1" lang="es-419" sz="1700">
                <a:solidFill>
                  <a:schemeClr val="dk1"/>
                </a:solidFill>
              </a:rPr>
              <a:t>hasta que aparezca un número negativo. A lo sumo se leerán 100 números. </a:t>
            </a:r>
            <a:endParaRPr sz="1200"/>
          </a:p>
        </p:txBody>
      </p:sp>
      <p:sp>
        <p:nvSpPr>
          <p:cNvPr id="348" name="Google Shape;348;p31"/>
          <p:cNvSpPr txBox="1"/>
          <p:nvPr/>
        </p:nvSpPr>
        <p:spPr>
          <a:xfrm>
            <a:off x="133300" y="1410675"/>
            <a:ext cx="8775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#include &lt;iostream&gt;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using namespace std;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int main() {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    ……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    </a:t>
            </a:r>
            <a:r>
              <a:rPr lang="es-419">
                <a:solidFill>
                  <a:schemeClr val="dk2"/>
                </a:solidFill>
              </a:rPr>
              <a:t>cout &lt;&lt; "Valores ingresados:" &lt;&lt; endl;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    int j = 0;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    while (j &lt; i) {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        cout &lt;&lt; v[j] &lt;&lt; " ";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        j++;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    }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    return 0;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}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/>
        </p:nvSpPr>
        <p:spPr>
          <a:xfrm>
            <a:off x="-11112" y="4827984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188912" y="104775"/>
            <a:ext cx="8775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0" lang="es-419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Arreglos – </a:t>
            </a:r>
            <a:r>
              <a:rPr b="1" lang="es-419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8712200" y="4864894"/>
            <a:ext cx="419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id="356" name="Google Shape;356;p32"/>
          <p:cNvPicPr preferRelativeResize="0"/>
          <p:nvPr/>
        </p:nvPicPr>
        <p:blipFill rotWithShape="1">
          <a:blip r:embed="rId3">
            <a:alphaModFix/>
          </a:blip>
          <a:srcRect b="66400" l="0" r="0" t="0"/>
          <a:stretch/>
        </p:blipFill>
        <p:spPr>
          <a:xfrm>
            <a:off x="8121650" y="14288"/>
            <a:ext cx="987425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87" y="850106"/>
            <a:ext cx="85844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2"/>
          <p:cNvSpPr txBox="1"/>
          <p:nvPr/>
        </p:nvSpPr>
        <p:spPr>
          <a:xfrm>
            <a:off x="1476375" y="753665"/>
            <a:ext cx="741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tects Daughter"/>
              <a:buNone/>
            </a:pPr>
            <a:r>
              <a:rPr b="1" i="0" lang="es-419" sz="24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Realice un programa que llene un vector de 10 elementos enteros positivos y luego informe la cantidad de números múltiplos de 6.</a:t>
            </a:r>
            <a:endParaRPr/>
          </a:p>
        </p:txBody>
      </p:sp>
      <p:graphicFrame>
        <p:nvGraphicFramePr>
          <p:cNvPr id="359" name="Google Shape;359;p32"/>
          <p:cNvGraphicFramePr/>
          <p:nvPr/>
        </p:nvGraphicFramePr>
        <p:xfrm>
          <a:off x="539750" y="208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{77DE4E5D-BC2A-498C-B55B-CD4862C2E4F1}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60" name="Google Shape;360;p32"/>
          <p:cNvGrpSpPr/>
          <p:nvPr/>
        </p:nvGrpSpPr>
        <p:grpSpPr>
          <a:xfrm>
            <a:off x="539753" y="2168113"/>
            <a:ext cx="4752894" cy="348014"/>
            <a:chOff x="539552" y="2890465"/>
            <a:chExt cx="4752419" cy="464205"/>
          </a:xfrm>
        </p:grpSpPr>
        <p:sp>
          <p:nvSpPr>
            <p:cNvPr id="361" name="Google Shape;361;p32"/>
            <p:cNvSpPr txBox="1"/>
            <p:nvPr/>
          </p:nvSpPr>
          <p:spPr>
            <a:xfrm>
              <a:off x="1539583" y="2899994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/>
            </a:p>
          </p:txBody>
        </p:sp>
        <p:sp>
          <p:nvSpPr>
            <p:cNvPr id="362" name="Google Shape;362;p32"/>
            <p:cNvSpPr txBox="1"/>
            <p:nvPr/>
          </p:nvSpPr>
          <p:spPr>
            <a:xfrm>
              <a:off x="2980897" y="2899994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63" name="Google Shape;363;p32"/>
            <p:cNvSpPr txBox="1"/>
            <p:nvPr/>
          </p:nvSpPr>
          <p:spPr>
            <a:xfrm>
              <a:off x="3420594" y="2899994"/>
              <a:ext cx="4380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 42</a:t>
              </a:r>
              <a:endParaRPr/>
            </a:p>
          </p:txBody>
        </p:sp>
        <p:sp>
          <p:nvSpPr>
            <p:cNvPr id="364" name="Google Shape;364;p32"/>
            <p:cNvSpPr txBox="1"/>
            <p:nvPr/>
          </p:nvSpPr>
          <p:spPr>
            <a:xfrm>
              <a:off x="2484057" y="2899994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/>
            </a:p>
          </p:txBody>
        </p:sp>
        <p:sp>
          <p:nvSpPr>
            <p:cNvPr id="365" name="Google Shape;365;p32"/>
            <p:cNvSpPr txBox="1"/>
            <p:nvPr/>
          </p:nvSpPr>
          <p:spPr>
            <a:xfrm>
              <a:off x="1979280" y="2890465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/>
            </a:p>
          </p:txBody>
        </p:sp>
        <p:sp>
          <p:nvSpPr>
            <p:cNvPr id="366" name="Google Shape;366;p32"/>
            <p:cNvSpPr txBox="1"/>
            <p:nvPr/>
          </p:nvSpPr>
          <p:spPr>
            <a:xfrm>
              <a:off x="539552" y="2890465"/>
              <a:ext cx="5586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37</a:t>
              </a:r>
              <a:endParaRPr/>
            </a:p>
          </p:txBody>
        </p:sp>
        <p:sp>
          <p:nvSpPr>
            <p:cNvPr id="367" name="Google Shape;367;p32"/>
            <p:cNvSpPr txBox="1"/>
            <p:nvPr/>
          </p:nvSpPr>
          <p:spPr>
            <a:xfrm>
              <a:off x="1076077" y="2896817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368" name="Google Shape;368;p32"/>
            <p:cNvSpPr txBox="1"/>
            <p:nvPr/>
          </p:nvSpPr>
          <p:spPr>
            <a:xfrm>
              <a:off x="4414276" y="2903170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24</a:t>
              </a:r>
              <a:endParaRPr/>
            </a:p>
          </p:txBody>
        </p:sp>
        <p:sp>
          <p:nvSpPr>
            <p:cNvPr id="369" name="Google Shape;369;p32"/>
            <p:cNvSpPr txBox="1"/>
            <p:nvPr/>
          </p:nvSpPr>
          <p:spPr>
            <a:xfrm>
              <a:off x="4853971" y="2903170"/>
              <a:ext cx="4380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 17</a:t>
              </a:r>
              <a:endParaRPr/>
            </a:p>
          </p:txBody>
        </p:sp>
        <p:sp>
          <p:nvSpPr>
            <p:cNvPr id="370" name="Google Shape;370;p32"/>
            <p:cNvSpPr txBox="1"/>
            <p:nvPr/>
          </p:nvSpPr>
          <p:spPr>
            <a:xfrm>
              <a:off x="3917434" y="2903170"/>
              <a:ext cx="4398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600"/>
                <a:buFont typeface="Calibri"/>
                <a:buNone/>
              </a:pPr>
              <a:r>
                <a:rPr b="1" i="0" lang="es-419" sz="16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 2</a:t>
              </a:r>
              <a:endParaRPr/>
            </a:p>
          </p:txBody>
        </p:sp>
      </p:grpSp>
      <p:grpSp>
        <p:nvGrpSpPr>
          <p:cNvPr id="371" name="Google Shape;371;p32"/>
          <p:cNvGrpSpPr/>
          <p:nvPr/>
        </p:nvGrpSpPr>
        <p:grpSpPr>
          <a:xfrm>
            <a:off x="662004" y="2514600"/>
            <a:ext cx="4702347" cy="346960"/>
            <a:chOff x="661789" y="3352428"/>
            <a:chExt cx="4702347" cy="462613"/>
          </a:xfrm>
        </p:grpSpPr>
        <p:sp>
          <p:nvSpPr>
            <p:cNvPr id="372" name="Google Shape;372;p32"/>
            <p:cNvSpPr txBox="1"/>
            <p:nvPr/>
          </p:nvSpPr>
          <p:spPr>
            <a:xfrm>
              <a:off x="661789" y="3363541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73" name="Google Shape;373;p32"/>
            <p:cNvSpPr txBox="1"/>
            <p:nvPr/>
          </p:nvSpPr>
          <p:spPr>
            <a:xfrm>
              <a:off x="1074550" y="3363541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74" name="Google Shape;374;p32"/>
            <p:cNvSpPr txBox="1"/>
            <p:nvPr/>
          </p:nvSpPr>
          <p:spPr>
            <a:xfrm>
              <a:off x="1547637" y="3361953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75" name="Google Shape;375;p32"/>
            <p:cNvSpPr txBox="1"/>
            <p:nvPr/>
          </p:nvSpPr>
          <p:spPr>
            <a:xfrm>
              <a:off x="2052476" y="3361953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76" name="Google Shape;376;p32"/>
            <p:cNvSpPr txBox="1"/>
            <p:nvPr/>
          </p:nvSpPr>
          <p:spPr>
            <a:xfrm>
              <a:off x="2496987" y="3355603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77" name="Google Shape;377;p32"/>
            <p:cNvSpPr txBox="1"/>
            <p:nvPr/>
          </p:nvSpPr>
          <p:spPr>
            <a:xfrm>
              <a:off x="3001826" y="3352428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78" name="Google Shape;378;p32"/>
            <p:cNvSpPr txBox="1"/>
            <p:nvPr/>
          </p:nvSpPr>
          <p:spPr>
            <a:xfrm>
              <a:off x="3505076" y="3352428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379" name="Google Shape;379;p32"/>
            <p:cNvSpPr txBox="1"/>
            <p:nvPr/>
          </p:nvSpPr>
          <p:spPr>
            <a:xfrm>
              <a:off x="4009914" y="3357191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380" name="Google Shape;380;p32"/>
            <p:cNvSpPr txBox="1"/>
            <p:nvPr/>
          </p:nvSpPr>
          <p:spPr>
            <a:xfrm>
              <a:off x="4427438" y="3357191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381" name="Google Shape;381;p32"/>
            <p:cNvSpPr txBox="1"/>
            <p:nvPr/>
          </p:nvSpPr>
          <p:spPr>
            <a:xfrm>
              <a:off x="4848136" y="3357191"/>
              <a:ext cx="5160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  <p:sp>
        <p:nvSpPr>
          <p:cNvPr id="382" name="Google Shape;382;p32"/>
          <p:cNvSpPr txBox="1"/>
          <p:nvPr/>
        </p:nvSpPr>
        <p:spPr>
          <a:xfrm>
            <a:off x="5580062" y="2131219"/>
            <a:ext cx="2305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235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548235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Cargo el vector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582612" y="3269456"/>
            <a:ext cx="385800" cy="369300"/>
          </a:xfrm>
          <a:prstGeom prst="rect">
            <a:avLst/>
          </a:prstGeom>
          <a:solidFill>
            <a:srgbClr val="767171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84" name="Google Shape;384;p32"/>
          <p:cNvGraphicFramePr/>
          <p:nvPr/>
        </p:nvGraphicFramePr>
        <p:xfrm>
          <a:off x="554037" y="31694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{77DE4E5D-BC2A-498C-B55B-CD4862C2E4F1}</a:tableStyleId>
              </a:tblPr>
              <a:tblGrid>
                <a:gridCol w="476250"/>
                <a:gridCol w="476250"/>
                <a:gridCol w="476250"/>
                <a:gridCol w="476250"/>
                <a:gridCol w="477825"/>
                <a:gridCol w="476250"/>
                <a:gridCol w="476250"/>
                <a:gridCol w="476250"/>
                <a:gridCol w="476250"/>
                <a:gridCol w="476250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50" marB="343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5" name="Google Shape;385;p32"/>
          <p:cNvSpPr txBox="1"/>
          <p:nvPr/>
        </p:nvSpPr>
        <p:spPr>
          <a:xfrm>
            <a:off x="1554162" y="3258740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386" name="Google Shape;386;p32"/>
          <p:cNvSpPr txBox="1"/>
          <p:nvPr/>
        </p:nvSpPr>
        <p:spPr>
          <a:xfrm>
            <a:off x="2994025" y="3258740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7" name="Google Shape;387;p32"/>
          <p:cNvSpPr txBox="1"/>
          <p:nvPr/>
        </p:nvSpPr>
        <p:spPr>
          <a:xfrm>
            <a:off x="3433762" y="3258740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42</a:t>
            </a:r>
            <a:endParaRPr/>
          </a:p>
        </p:txBody>
      </p:sp>
      <p:sp>
        <p:nvSpPr>
          <p:cNvPr id="388" name="Google Shape;388;p32"/>
          <p:cNvSpPr txBox="1"/>
          <p:nvPr/>
        </p:nvSpPr>
        <p:spPr>
          <a:xfrm>
            <a:off x="2498725" y="3258740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389" name="Google Shape;389;p32"/>
          <p:cNvSpPr txBox="1"/>
          <p:nvPr/>
        </p:nvSpPr>
        <p:spPr>
          <a:xfrm>
            <a:off x="1993900" y="3251596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390" name="Google Shape;390;p32"/>
          <p:cNvSpPr txBox="1"/>
          <p:nvPr/>
        </p:nvSpPr>
        <p:spPr>
          <a:xfrm>
            <a:off x="628650" y="3251596"/>
            <a:ext cx="46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91" name="Google Shape;391;p32"/>
          <p:cNvSpPr txBox="1"/>
          <p:nvPr/>
        </p:nvSpPr>
        <p:spPr>
          <a:xfrm>
            <a:off x="1089025" y="3256359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392" name="Google Shape;392;p32"/>
          <p:cNvSpPr txBox="1"/>
          <p:nvPr/>
        </p:nvSpPr>
        <p:spPr>
          <a:xfrm>
            <a:off x="4429125" y="3261121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393" name="Google Shape;393;p32"/>
          <p:cNvSpPr txBox="1"/>
          <p:nvPr/>
        </p:nvSpPr>
        <p:spPr>
          <a:xfrm>
            <a:off x="4868862" y="3261121"/>
            <a:ext cx="43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17</a:t>
            </a:r>
            <a:endParaRPr/>
          </a:p>
        </p:txBody>
      </p:sp>
      <p:sp>
        <p:nvSpPr>
          <p:cNvPr id="394" name="Google Shape;394;p32"/>
          <p:cNvSpPr txBox="1"/>
          <p:nvPr/>
        </p:nvSpPr>
        <p:spPr>
          <a:xfrm>
            <a:off x="3932237" y="3261121"/>
            <a:ext cx="43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None/>
            </a:pPr>
            <a:r>
              <a:rPr b="1" i="0" lang="es-419" sz="16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endParaRPr/>
          </a:p>
        </p:txBody>
      </p:sp>
      <p:grpSp>
        <p:nvGrpSpPr>
          <p:cNvPr id="395" name="Google Shape;395;p32"/>
          <p:cNvGrpSpPr/>
          <p:nvPr/>
        </p:nvGrpSpPr>
        <p:grpSpPr>
          <a:xfrm>
            <a:off x="676292" y="3598069"/>
            <a:ext cx="4702348" cy="346960"/>
            <a:chOff x="661789" y="3352428"/>
            <a:chExt cx="4702348" cy="462613"/>
          </a:xfrm>
        </p:grpSpPr>
        <p:sp>
          <p:nvSpPr>
            <p:cNvPr id="396" name="Google Shape;396;p32"/>
            <p:cNvSpPr txBox="1"/>
            <p:nvPr/>
          </p:nvSpPr>
          <p:spPr>
            <a:xfrm>
              <a:off x="661789" y="3363541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97" name="Google Shape;397;p32"/>
            <p:cNvSpPr txBox="1"/>
            <p:nvPr/>
          </p:nvSpPr>
          <p:spPr>
            <a:xfrm>
              <a:off x="1074550" y="3363541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98" name="Google Shape;398;p32"/>
            <p:cNvSpPr txBox="1"/>
            <p:nvPr/>
          </p:nvSpPr>
          <p:spPr>
            <a:xfrm>
              <a:off x="1547637" y="3361953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99" name="Google Shape;399;p32"/>
            <p:cNvSpPr txBox="1"/>
            <p:nvPr/>
          </p:nvSpPr>
          <p:spPr>
            <a:xfrm>
              <a:off x="2052476" y="3361953"/>
              <a:ext cx="3477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400" name="Google Shape;400;p32"/>
            <p:cNvSpPr txBox="1"/>
            <p:nvPr/>
          </p:nvSpPr>
          <p:spPr>
            <a:xfrm>
              <a:off x="2496987" y="3355603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401" name="Google Shape;401;p32"/>
            <p:cNvSpPr txBox="1"/>
            <p:nvPr/>
          </p:nvSpPr>
          <p:spPr>
            <a:xfrm>
              <a:off x="3001826" y="3352428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402" name="Google Shape;402;p32"/>
            <p:cNvSpPr txBox="1"/>
            <p:nvPr/>
          </p:nvSpPr>
          <p:spPr>
            <a:xfrm>
              <a:off x="3505077" y="3352428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403" name="Google Shape;403;p32"/>
            <p:cNvSpPr txBox="1"/>
            <p:nvPr/>
          </p:nvSpPr>
          <p:spPr>
            <a:xfrm>
              <a:off x="4009915" y="3357191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404" name="Google Shape;404;p32"/>
            <p:cNvSpPr txBox="1"/>
            <p:nvPr/>
          </p:nvSpPr>
          <p:spPr>
            <a:xfrm>
              <a:off x="4427438" y="3357191"/>
              <a:ext cx="3462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405" name="Google Shape;405;p32"/>
            <p:cNvSpPr txBox="1"/>
            <p:nvPr/>
          </p:nvSpPr>
          <p:spPr>
            <a:xfrm>
              <a:off x="4848137" y="3357191"/>
              <a:ext cx="5160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s-419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  <p:sp>
        <p:nvSpPr>
          <p:cNvPr id="406" name="Google Shape;406;p32"/>
          <p:cNvSpPr txBox="1"/>
          <p:nvPr/>
        </p:nvSpPr>
        <p:spPr>
          <a:xfrm>
            <a:off x="1081087" y="3256359"/>
            <a:ext cx="385800" cy="369300"/>
          </a:xfrm>
          <a:prstGeom prst="rect">
            <a:avLst/>
          </a:prstGeom>
          <a:solidFill>
            <a:srgbClr val="767171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7" name="Google Shape;407;p32"/>
          <p:cNvSpPr txBox="1"/>
          <p:nvPr/>
        </p:nvSpPr>
        <p:spPr>
          <a:xfrm>
            <a:off x="1562100" y="3256359"/>
            <a:ext cx="385800" cy="369300"/>
          </a:xfrm>
          <a:prstGeom prst="rect">
            <a:avLst/>
          </a:prstGeom>
          <a:solidFill>
            <a:srgbClr val="767171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8" name="Google Shape;408;p32"/>
          <p:cNvSpPr txBox="1"/>
          <p:nvPr/>
        </p:nvSpPr>
        <p:spPr>
          <a:xfrm>
            <a:off x="2020887" y="3256359"/>
            <a:ext cx="385800" cy="369300"/>
          </a:xfrm>
          <a:prstGeom prst="rect">
            <a:avLst/>
          </a:prstGeom>
          <a:solidFill>
            <a:srgbClr val="767171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9" name="Google Shape;409;p32"/>
          <p:cNvSpPr txBox="1"/>
          <p:nvPr/>
        </p:nvSpPr>
        <p:spPr>
          <a:xfrm>
            <a:off x="6585700" y="4464690"/>
            <a:ext cx="44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0" name="Google Shape;410;p32"/>
          <p:cNvSpPr txBox="1"/>
          <p:nvPr/>
        </p:nvSpPr>
        <p:spPr>
          <a:xfrm>
            <a:off x="5730837" y="3007709"/>
            <a:ext cx="265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235"/>
              </a:buClr>
              <a:buSzPts val="2600"/>
              <a:buFont typeface="Architects Daughter"/>
              <a:buNone/>
            </a:pPr>
            <a:r>
              <a:rPr b="1" i="0" lang="es-419" sz="2600" u="none">
                <a:solidFill>
                  <a:srgbClr val="548235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Recorro el vector</a:t>
            </a:r>
            <a:endParaRPr/>
          </a:p>
        </p:txBody>
      </p:sp>
      <p:sp>
        <p:nvSpPr>
          <p:cNvPr id="411" name="Google Shape;411;p32"/>
          <p:cNvSpPr txBox="1"/>
          <p:nvPr/>
        </p:nvSpPr>
        <p:spPr>
          <a:xfrm>
            <a:off x="2535237" y="3256359"/>
            <a:ext cx="385800" cy="369300"/>
          </a:xfrm>
          <a:prstGeom prst="rect">
            <a:avLst/>
          </a:prstGeom>
          <a:solidFill>
            <a:srgbClr val="767171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2" name="Google Shape;412;p32"/>
          <p:cNvSpPr txBox="1"/>
          <p:nvPr/>
        </p:nvSpPr>
        <p:spPr>
          <a:xfrm>
            <a:off x="2968625" y="3256359"/>
            <a:ext cx="384300" cy="369300"/>
          </a:xfrm>
          <a:prstGeom prst="rect">
            <a:avLst/>
          </a:prstGeom>
          <a:solidFill>
            <a:srgbClr val="767171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3" name="Google Shape;413;p32"/>
          <p:cNvSpPr txBox="1"/>
          <p:nvPr/>
        </p:nvSpPr>
        <p:spPr>
          <a:xfrm>
            <a:off x="3436937" y="3256359"/>
            <a:ext cx="385800" cy="369300"/>
          </a:xfrm>
          <a:prstGeom prst="rect">
            <a:avLst/>
          </a:prstGeom>
          <a:solidFill>
            <a:srgbClr val="767171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4" name="Google Shape;414;p32"/>
          <p:cNvSpPr txBox="1"/>
          <p:nvPr/>
        </p:nvSpPr>
        <p:spPr>
          <a:xfrm>
            <a:off x="7235475" y="4464694"/>
            <a:ext cx="44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5" name="Google Shape;415;p32"/>
          <p:cNvSpPr txBox="1"/>
          <p:nvPr/>
        </p:nvSpPr>
        <p:spPr>
          <a:xfrm>
            <a:off x="3927475" y="3256359"/>
            <a:ext cx="384300" cy="369300"/>
          </a:xfrm>
          <a:prstGeom prst="rect">
            <a:avLst/>
          </a:prstGeom>
          <a:solidFill>
            <a:srgbClr val="767171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6" name="Google Shape;416;p32"/>
          <p:cNvSpPr txBox="1"/>
          <p:nvPr/>
        </p:nvSpPr>
        <p:spPr>
          <a:xfrm>
            <a:off x="4427537" y="3256359"/>
            <a:ext cx="385800" cy="369300"/>
          </a:xfrm>
          <a:prstGeom prst="rect">
            <a:avLst/>
          </a:prstGeom>
          <a:solidFill>
            <a:srgbClr val="767171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7" name="Google Shape;417;p32"/>
          <p:cNvSpPr txBox="1"/>
          <p:nvPr/>
        </p:nvSpPr>
        <p:spPr>
          <a:xfrm>
            <a:off x="7885250" y="4464700"/>
            <a:ext cx="44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/>
              <a:buNone/>
            </a:pPr>
            <a:r>
              <a:rPr b="1" i="0" lang="es-419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8" name="Google Shape;418;p32"/>
          <p:cNvSpPr txBox="1"/>
          <p:nvPr/>
        </p:nvSpPr>
        <p:spPr>
          <a:xfrm>
            <a:off x="4895850" y="3256359"/>
            <a:ext cx="385800" cy="369300"/>
          </a:xfrm>
          <a:prstGeom prst="rect">
            <a:avLst/>
          </a:prstGeom>
          <a:solidFill>
            <a:srgbClr val="767171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19" name="Google Shape;419;p32"/>
          <p:cNvGrpSpPr/>
          <p:nvPr/>
        </p:nvGrpSpPr>
        <p:grpSpPr>
          <a:xfrm>
            <a:off x="2843206" y="4145872"/>
            <a:ext cx="3163892" cy="772902"/>
            <a:chOff x="2843213" y="5516563"/>
            <a:chExt cx="2383526" cy="464708"/>
          </a:xfrm>
        </p:grpSpPr>
        <p:sp>
          <p:nvSpPr>
            <p:cNvPr id="420" name="Google Shape;420;p32"/>
            <p:cNvSpPr/>
            <p:nvPr/>
          </p:nvSpPr>
          <p:spPr>
            <a:xfrm>
              <a:off x="2843213" y="5516563"/>
              <a:ext cx="721200" cy="431700"/>
            </a:xfrm>
            <a:prstGeom prst="chevron">
              <a:avLst>
                <a:gd fmla="val 15135" name="adj"/>
              </a:avLst>
            </a:prstGeom>
            <a:solidFill>
              <a:srgbClr val="FFD966"/>
            </a:solidFill>
            <a:ln cap="flat" cmpd="sng" w="12700">
              <a:solidFill>
                <a:srgbClr val="FFD9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1" name="Google Shape;421;p32"/>
            <p:cNvSpPr txBox="1"/>
            <p:nvPr/>
          </p:nvSpPr>
          <p:spPr>
            <a:xfrm>
              <a:off x="3375408" y="5629671"/>
              <a:ext cx="1583400" cy="35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48235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rgbClr val="548235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Informa</a:t>
              </a:r>
              <a:endParaRPr/>
            </a:p>
          </p:txBody>
        </p:sp>
        <p:sp>
          <p:nvSpPr>
            <p:cNvPr id="422" name="Google Shape;422;p32"/>
            <p:cNvSpPr txBox="1"/>
            <p:nvPr/>
          </p:nvSpPr>
          <p:spPr>
            <a:xfrm>
              <a:off x="4781839" y="5669044"/>
              <a:ext cx="444900" cy="24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2000"/>
                <a:buFont typeface="Calibri"/>
                <a:buNone/>
              </a:pPr>
              <a:r>
                <a:rPr b="1" i="0" lang="es-419" sz="2000" u="none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