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Architects Daughter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ArchitectsDaugh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b982583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b982583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b9825838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b9825838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b9825838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b9825838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d05d68d3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d05d68d3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d05d68d3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d05d68d3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d05d68d3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d05d68d3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d05d68d3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d05d68d3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05d68d3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05d68d3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d05d68d3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d05d68d3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d05d68d3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d05d68d3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d05d68d3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d05d68d3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Repaso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Objetivos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70800" y="1117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-</a:t>
            </a:r>
            <a:r>
              <a:rPr lang="es-419"/>
              <a:t>Un programa es un conjunto de instrucciones que le damos a una computadora para que haga una tarea específica.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-Resolver un problema o automatizar una tarea mediante una secuencia lógica de pasos que la computadora pueda entender y ejecutar.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>
                <a:latin typeface="Architects Daughter"/>
                <a:ea typeface="Architects Daughter"/>
                <a:cs typeface="Architects Daughter"/>
                <a:sym typeface="Architects Daughter"/>
              </a:rPr>
              <a:t>"Programar es como armar una receta para que la computadora cocine por nosotros."</a:t>
            </a:r>
            <a:endParaRPr b="1"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¿Por qué programamos?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Para </a:t>
            </a:r>
            <a:r>
              <a:rPr b="1" lang="es-419">
                <a:solidFill>
                  <a:schemeClr val="dk1"/>
                </a:solidFill>
              </a:rPr>
              <a:t>automatizar procesos</a:t>
            </a:r>
            <a:r>
              <a:rPr lang="es-419">
                <a:solidFill>
                  <a:schemeClr val="dk1"/>
                </a:solidFill>
              </a:rPr>
              <a:t> (ej: calcular promedios, ordenar datos, buscar información).</a:t>
            </a:r>
            <a:br>
              <a:rPr lang="es-419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Para </a:t>
            </a:r>
            <a:r>
              <a:rPr b="1" lang="es-419">
                <a:solidFill>
                  <a:schemeClr val="dk1"/>
                </a:solidFill>
              </a:rPr>
              <a:t>resolver problemas</a:t>
            </a:r>
            <a:r>
              <a:rPr lang="es-419">
                <a:solidFill>
                  <a:schemeClr val="dk1"/>
                </a:solidFill>
              </a:rPr>
              <a:t> que requieren muchos cálculos o pasos repetitivos.</a:t>
            </a:r>
            <a:br>
              <a:rPr lang="es-419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Para </a:t>
            </a:r>
            <a:r>
              <a:rPr b="1" lang="es-419">
                <a:solidFill>
                  <a:schemeClr val="dk1"/>
                </a:solidFill>
              </a:rPr>
              <a:t>crear herramientas</a:t>
            </a:r>
            <a:r>
              <a:rPr lang="es-419">
                <a:solidFill>
                  <a:schemeClr val="dk1"/>
                </a:solidFill>
              </a:rPr>
              <a:t> útiles: desde calculadoras hasta videojuegos.</a:t>
            </a:r>
            <a:br>
              <a:rPr lang="es-419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Para </a:t>
            </a:r>
            <a:r>
              <a:rPr b="1" lang="es-419">
                <a:solidFill>
                  <a:schemeClr val="dk1"/>
                </a:solidFill>
              </a:rPr>
              <a:t>comunicarle instrucciones a la computadora</a:t>
            </a:r>
            <a:r>
              <a:rPr lang="es-419">
                <a:solidFill>
                  <a:schemeClr val="dk1"/>
                </a:solidFill>
              </a:rPr>
              <a:t> usando un lenguaje que entienda (como C++).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hace un programa?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Recibe datos de entrada</a:t>
            </a:r>
            <a:r>
              <a:rPr lang="es-419">
                <a:solidFill>
                  <a:schemeClr val="dk1"/>
                </a:solidFill>
              </a:rPr>
              <a:t> (por ejemplo, un número que el usuario escribe).</a:t>
            </a:r>
            <a:br>
              <a:rPr lang="es-419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Procesa esos datos</a:t>
            </a:r>
            <a:r>
              <a:rPr lang="es-419">
                <a:solidFill>
                  <a:schemeClr val="dk1"/>
                </a:solidFill>
              </a:rPr>
              <a:t> siguiendo una lógica (por ejemplo, suma, compara, repite).</a:t>
            </a:r>
            <a:br>
              <a:rPr lang="es-419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Devuelve un resultado de salida</a:t>
            </a:r>
            <a:r>
              <a:rPr lang="es-419">
                <a:solidFill>
                  <a:schemeClr val="dk1"/>
                </a:solidFill>
              </a:rPr>
              <a:t> (por ejemplo, muestra el promedio en pantalla)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Recibe datos de entrada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  </a:t>
            </a:r>
            <a:endParaRPr/>
          </a:p>
        </p:txBody>
      </p:sp>
      <p:pic>
        <p:nvPicPr>
          <p:cNvPr id="80" name="Google Shape;80;p17" title="tipos de datos c++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400" y="1331675"/>
            <a:ext cx="7034150" cy="17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483825" y="3198825"/>
            <a:ext cx="8184900" cy="14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chemeClr val="dk1"/>
                </a:solidFill>
              </a:rPr>
              <a:t>A través de los tipos de datos que nos brinda el lenguaje de programación y en base a lo que necesita el problema, vamos a </a:t>
            </a:r>
            <a:r>
              <a:rPr b="1" lang="es-419" sz="1900">
                <a:solidFill>
                  <a:schemeClr val="dk1"/>
                </a:solidFill>
              </a:rPr>
              <a:t>representar elementos del mundo real como datos</a:t>
            </a:r>
            <a:r>
              <a:rPr lang="es-419" sz="1900">
                <a:solidFill>
                  <a:schemeClr val="dk1"/>
                </a:solidFill>
              </a:rPr>
              <a:t> que una computadora pueda entender y procesar.</a:t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Procesar los Datos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7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1"/>
                </a:solidFill>
              </a:rPr>
              <a:t>Procesar datos</a:t>
            </a:r>
            <a:r>
              <a:rPr lang="es-419">
                <a:solidFill>
                  <a:schemeClr val="dk1"/>
                </a:solidFill>
              </a:rPr>
              <a:t> significa aplicarles una lógica o reglas para obtener un resultado útil.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Primero vamos a almacenar los datos: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chemeClr val="dk1"/>
                </a:solidFill>
              </a:rPr>
              <a:t>Variables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1"/>
                </a:solidFill>
              </a:rPr>
              <a:t>Son </a:t>
            </a:r>
            <a:r>
              <a:rPr b="1" lang="es-419" sz="1600">
                <a:solidFill>
                  <a:schemeClr val="dk1"/>
                </a:solidFill>
              </a:rPr>
              <a:t>contenedores de datos</a:t>
            </a:r>
            <a:r>
              <a:rPr lang="es-419" sz="1600">
                <a:solidFill>
                  <a:schemeClr val="dk1"/>
                </a:solidFill>
              </a:rPr>
              <a:t>. Nos permiten </a:t>
            </a:r>
            <a:r>
              <a:rPr b="1" lang="es-419" sz="1600">
                <a:solidFill>
                  <a:schemeClr val="dk1"/>
                </a:solidFill>
              </a:rPr>
              <a:t>guardar y modificar información</a:t>
            </a:r>
            <a:r>
              <a:rPr lang="es-419" sz="1600">
                <a:solidFill>
                  <a:schemeClr val="dk1"/>
                </a:solidFill>
              </a:rPr>
              <a:t> durante la ejecución del programa.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chemeClr val="dk1"/>
                </a:solidFill>
              </a:rPr>
              <a:t>int edad = 25;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Procesar los datos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9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dk1"/>
                </a:solidFill>
              </a:rPr>
              <a:t>Estructuras de control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dk1"/>
                </a:solidFill>
              </a:rPr>
              <a:t>Nos permiten </a:t>
            </a:r>
            <a:r>
              <a:rPr b="1" lang="es-419" sz="1700">
                <a:solidFill>
                  <a:schemeClr val="dk1"/>
                </a:solidFill>
              </a:rPr>
              <a:t>decidir</a:t>
            </a:r>
            <a:r>
              <a:rPr lang="es-419" sz="1700">
                <a:solidFill>
                  <a:schemeClr val="dk1"/>
                </a:solidFill>
              </a:rPr>
              <a:t> y </a:t>
            </a:r>
            <a:r>
              <a:rPr b="1" lang="es-419" sz="1700">
                <a:solidFill>
                  <a:schemeClr val="dk1"/>
                </a:solidFill>
              </a:rPr>
              <a:t>repetir acciones</a:t>
            </a:r>
            <a:r>
              <a:rPr lang="es-419" sz="1700">
                <a:solidFill>
                  <a:schemeClr val="dk1"/>
                </a:solidFill>
              </a:rPr>
              <a:t> según ciertas condiciones.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460325" y="2599925"/>
            <a:ext cx="65058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2"/>
                </a:solidFill>
              </a:rPr>
              <a:t>if / else → para tomar decisiones</a:t>
            </a:r>
            <a:br>
              <a:rPr lang="es-419" sz="1500">
                <a:solidFill>
                  <a:schemeClr val="dk2"/>
                </a:solidFill>
              </a:rPr>
            </a:b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2"/>
                </a:solidFill>
              </a:rPr>
              <a:t>while / do while / for → para repetir bloques de código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542525" y="3809475"/>
            <a:ext cx="59538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if (edad &gt; 18) {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    cout &lt;&lt; "Es mayor de edad.";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Procesar los datos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Operadores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Nos permiten </a:t>
            </a:r>
            <a:r>
              <a:rPr b="1" lang="es-419">
                <a:solidFill>
                  <a:schemeClr val="dk1"/>
                </a:solidFill>
              </a:rPr>
              <a:t>hacer cálculos y comparaciones</a:t>
            </a:r>
            <a:r>
              <a:rPr lang="es-419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/>
        </p:nvSpPr>
        <p:spPr>
          <a:xfrm>
            <a:off x="472075" y="2271125"/>
            <a:ext cx="7903200" cy="20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2"/>
                </a:solidFill>
              </a:rPr>
              <a:t>Aritméticos: +, -, *, /, %</a:t>
            </a:r>
            <a:br>
              <a:rPr lang="es-419" sz="1700">
                <a:solidFill>
                  <a:schemeClr val="dk2"/>
                </a:solidFill>
              </a:rPr>
            </a:b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2"/>
                </a:solidFill>
              </a:rPr>
              <a:t>Relacionales: ==, !=, &lt;, &gt;, &lt;=, &gt;=</a:t>
            </a:r>
            <a:br>
              <a:rPr lang="es-419" sz="1700">
                <a:solidFill>
                  <a:schemeClr val="dk2"/>
                </a:solidFill>
              </a:rPr>
            </a:b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700">
                <a:solidFill>
                  <a:schemeClr val="dk2"/>
                </a:solidFill>
              </a:rPr>
              <a:t>Lógicos: &amp;&amp;, ||, !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Procesar los datos 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Funciones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Nos permiten </a:t>
            </a:r>
            <a:r>
              <a:rPr b="1" lang="es-419">
                <a:solidFill>
                  <a:schemeClr val="dk1"/>
                </a:solidFill>
              </a:rPr>
              <a:t>organizar el código</a:t>
            </a:r>
            <a:r>
              <a:rPr lang="es-419">
                <a:solidFill>
                  <a:schemeClr val="dk1"/>
                </a:solidFill>
              </a:rPr>
              <a:t> en bloques reutilizables. Ayudan a </a:t>
            </a:r>
            <a:r>
              <a:rPr b="1" lang="es-419">
                <a:solidFill>
                  <a:schemeClr val="dk1"/>
                </a:solidFill>
              </a:rPr>
              <a:t>modularizar</a:t>
            </a:r>
            <a:r>
              <a:rPr lang="es-419">
                <a:solidFill>
                  <a:schemeClr val="dk1"/>
                </a:solidFill>
              </a:rPr>
              <a:t> la solución, dividiendo el problema en partes más simples.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9" name="Google Shape;109;p21"/>
          <p:cNvSpPr txBox="1"/>
          <p:nvPr/>
        </p:nvSpPr>
        <p:spPr>
          <a:xfrm>
            <a:off x="530800" y="2693875"/>
            <a:ext cx="7092900" cy="13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void saludar() {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    cout &lt;&lt; "Hola!";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200"/>
              <a:t>Devuelve un resultado de salida</a:t>
            </a:r>
            <a:endParaRPr sz="3200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Un programa debe devolver resultados útiles: datos procesados que respondan al problema planteado o que ayuden a tomar decisiones.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>
                <a:latin typeface="Architects Daughter"/>
                <a:ea typeface="Architects Daughter"/>
                <a:cs typeface="Architects Daughter"/>
                <a:sym typeface="Architects Daughter"/>
              </a:rPr>
              <a:t>"Así como un problema del mundo real nos plantea una necesidad o pregunta, el programa debe devolver una respuesta en forma de datos procesados, presentados de manera clara y útil para el usuario"</a:t>
            </a:r>
            <a:endParaRPr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Queremos saber si un alumno aprobó o no al ingresar una nota. Se aprueba con 4.</a:t>
            </a:r>
            <a:endParaRPr/>
          </a:p>
        </p:txBody>
      </p:sp>
      <p:sp>
        <p:nvSpPr>
          <p:cNvPr id="122" name="Google Shape;122;p23"/>
          <p:cNvSpPr txBox="1"/>
          <p:nvPr/>
        </p:nvSpPr>
        <p:spPr>
          <a:xfrm>
            <a:off x="472075" y="2036250"/>
            <a:ext cx="7797600" cy="24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Leer la nota del alumno.</a:t>
            </a:r>
            <a:br>
              <a:rPr lang="es-419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Compararla con el valor 4.</a:t>
            </a:r>
            <a:br>
              <a:rPr lang="es-419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Mostrar si "Aprobó" o "Desaprobó".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 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   </a:t>
            </a:r>
            <a:endParaRPr/>
          </a:p>
        </p:txBody>
      </p:sp>
      <p:sp>
        <p:nvSpPr>
          <p:cNvPr id="129" name="Google Shape;129;p24"/>
          <p:cNvSpPr txBox="1"/>
          <p:nvPr/>
        </p:nvSpPr>
        <p:spPr>
          <a:xfrm>
            <a:off x="378125" y="1190750"/>
            <a:ext cx="8349300" cy="37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int main() {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    int nota;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    cout &lt;&lt; "Ingrese una nota: "; // Entrada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    cin &gt;&gt; nota;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    // Proceso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    if (nota &gt;= 6) {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        cout &lt;&lt; "Aprobado"; // Salida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    } else {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        cout &lt;&lt; "Desaprobado"; // Salida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    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    return 0;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dk2"/>
                </a:solidFill>
              </a:rPr>
              <a:t>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