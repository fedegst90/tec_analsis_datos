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Architects Daughter"/>
      <p:regular r:id="rId20"/>
    </p:embeddedFont>
    <p:embeddedFont>
      <p:font typeface="Tahoma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chitectsDaughter-regular.fntdata"/><Relationship Id="rId11" Type="http://schemas.openxmlformats.org/officeDocument/2006/relationships/slide" Target="slides/slide6.xml"/><Relationship Id="rId22" Type="http://schemas.openxmlformats.org/officeDocument/2006/relationships/font" Target="fonts/Tahoma-bold.fntdata"/><Relationship Id="rId10" Type="http://schemas.openxmlformats.org/officeDocument/2006/relationships/slide" Target="slides/slide5.xml"/><Relationship Id="rId21" Type="http://schemas.openxmlformats.org/officeDocument/2006/relationships/font" Target="fonts/Tahoma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2123133ba_0_0:notes"/>
          <p:cNvSpPr txBox="1"/>
          <p:nvPr/>
        </p:nvSpPr>
        <p:spPr>
          <a:xfrm>
            <a:off x="3922520" y="8705228"/>
            <a:ext cx="29226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s-419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8" name="Google Shape;58;g362123133ba_0_0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g362123133ba_0_0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2123133ba_0_94:notes"/>
          <p:cNvSpPr txBox="1"/>
          <p:nvPr/>
        </p:nvSpPr>
        <p:spPr>
          <a:xfrm>
            <a:off x="3922520" y="8705228"/>
            <a:ext cx="29226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s-419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7" name="Google Shape;77;g362123133ba_0_94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" name="Google Shape;78;g362123133ba_0_94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62123133ba_0_181:notes"/>
          <p:cNvSpPr txBox="1"/>
          <p:nvPr/>
        </p:nvSpPr>
        <p:spPr>
          <a:xfrm>
            <a:off x="3922520" y="8705228"/>
            <a:ext cx="29226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s-419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9" name="Google Shape;89;g362123133ba_0_181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g362123133ba_0_181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2123133ba_0_270:notes"/>
          <p:cNvSpPr txBox="1"/>
          <p:nvPr/>
        </p:nvSpPr>
        <p:spPr>
          <a:xfrm>
            <a:off x="3922520" y="8705228"/>
            <a:ext cx="29226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s-419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0" name="Google Shape;100;g362123133ba_0_270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g362123133ba_0_270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62123133ba_0_360:notes"/>
          <p:cNvSpPr txBox="1"/>
          <p:nvPr/>
        </p:nvSpPr>
        <p:spPr>
          <a:xfrm>
            <a:off x="3922520" y="8705228"/>
            <a:ext cx="29226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s-419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13" name="Google Shape;113;g362123133ba_0_360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g362123133ba_0_360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62123133ba_0_457:notes"/>
          <p:cNvSpPr txBox="1"/>
          <p:nvPr/>
        </p:nvSpPr>
        <p:spPr>
          <a:xfrm>
            <a:off x="3922520" y="8705228"/>
            <a:ext cx="29226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s-419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36" name="Google Shape;136;g362123133ba_0_457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g362123133ba_0_457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62123133ba_0_549:notes"/>
          <p:cNvSpPr txBox="1"/>
          <p:nvPr/>
        </p:nvSpPr>
        <p:spPr>
          <a:xfrm>
            <a:off x="3922520" y="8705228"/>
            <a:ext cx="29226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s-419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52" name="Google Shape;152;g362123133ba_0_549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g362123133ba_0_549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62123133ba_0_653:notes"/>
          <p:cNvSpPr txBox="1"/>
          <p:nvPr/>
        </p:nvSpPr>
        <p:spPr>
          <a:xfrm>
            <a:off x="3922520" y="8705228"/>
            <a:ext cx="29226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s-419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67" name="Google Shape;167;g362123133ba_0_653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g362123133ba_0_653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62123133ba_0_745:notes"/>
          <p:cNvSpPr txBox="1"/>
          <p:nvPr/>
        </p:nvSpPr>
        <p:spPr>
          <a:xfrm>
            <a:off x="3922520" y="8705228"/>
            <a:ext cx="29226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s-419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82" name="Google Shape;182;g362123133ba_0_745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" name="Google Shape;183;g362123133ba_0_745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62123133ba_0_834:notes"/>
          <p:cNvSpPr txBox="1"/>
          <p:nvPr/>
        </p:nvSpPr>
        <p:spPr>
          <a:xfrm>
            <a:off x="3922520" y="8705228"/>
            <a:ext cx="29226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s-419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96" name="Google Shape;196;g362123133ba_0_834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g362123133ba_0_834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62123133ba_0_924:notes"/>
          <p:cNvSpPr txBox="1"/>
          <p:nvPr/>
        </p:nvSpPr>
        <p:spPr>
          <a:xfrm>
            <a:off x="3922520" y="8705228"/>
            <a:ext cx="29226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s-419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09" name="Google Shape;209;g362123133ba_0_924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g362123133ba_0_924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62123133ba_0_1024:notes"/>
          <p:cNvSpPr txBox="1"/>
          <p:nvPr/>
        </p:nvSpPr>
        <p:spPr>
          <a:xfrm>
            <a:off x="3922520" y="8705228"/>
            <a:ext cx="29226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s-419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34" name="Google Shape;234;g362123133ba_0_1024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5" name="Google Shape;235;g362123133ba_0_1024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2123133ba_0_1110:notes"/>
          <p:cNvSpPr txBox="1"/>
          <p:nvPr/>
        </p:nvSpPr>
        <p:spPr>
          <a:xfrm>
            <a:off x="3922520" y="8705228"/>
            <a:ext cx="29226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s-419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46" name="Google Shape;246;g362123133ba_0_1110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g362123133ba_0_1110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Estructuras de Datos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34925" y="4893469"/>
            <a:ext cx="18543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homa"/>
              <a:buNone/>
            </a:pPr>
            <a:r>
              <a:rPr b="1" i="0" lang="es-419" sz="10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7</a:t>
            </a: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-11112" y="4854178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8691562" y="4825603"/>
            <a:ext cx="4524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188912" y="104775"/>
            <a:ext cx="84867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 de Datos – </a:t>
            </a:r>
            <a:r>
              <a:rPr b="1" lang="es-419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</a:t>
            </a:r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825" y="1012031"/>
            <a:ext cx="85844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1547812" y="897731"/>
            <a:ext cx="74151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tects Daughter"/>
              <a:buNone/>
            </a:pPr>
            <a:r>
              <a:rPr b="1" i="0" lang="es-419" sz="20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Se pide realizar un programa que lea autos hasta leer uno con marca “XXX”. Al finalizar informar la cantidad de autos con kilómetros impar, y la cantidad de autos cuya marca es ‘Fiat’.</a:t>
            </a:r>
            <a:endParaRPr sz="1000"/>
          </a:p>
        </p:txBody>
      </p:sp>
      <p:sp>
        <p:nvSpPr>
          <p:cNvPr id="67" name="Google Shape;67;p14"/>
          <p:cNvSpPr txBox="1"/>
          <p:nvPr/>
        </p:nvSpPr>
        <p:spPr>
          <a:xfrm>
            <a:off x="214312" y="2193131"/>
            <a:ext cx="3384600" cy="1200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chitects Daughter"/>
              <a:buNone/>
            </a:pPr>
            <a:r>
              <a:rPr b="1" i="0" lang="es-419" sz="24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marca= ‘Volkswagen’</a:t>
            </a:r>
            <a:endParaRPr sz="12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chitects Daughter"/>
              <a:buNone/>
            </a:pPr>
            <a:r>
              <a:rPr b="1" i="0" lang="es-419" sz="24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modelo= ‘Polo’</a:t>
            </a:r>
            <a:endParaRPr sz="12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chitects Daughter"/>
              <a:buNone/>
            </a:pPr>
            <a:r>
              <a:rPr b="1" i="0" lang="es-419" sz="24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Km: 5000</a:t>
            </a:r>
            <a:endParaRPr sz="1200"/>
          </a:p>
        </p:txBody>
      </p:sp>
      <p:sp>
        <p:nvSpPr>
          <p:cNvPr id="68" name="Google Shape;68;p14"/>
          <p:cNvSpPr txBox="1"/>
          <p:nvPr/>
        </p:nvSpPr>
        <p:spPr>
          <a:xfrm>
            <a:off x="1746250" y="2814638"/>
            <a:ext cx="3383100" cy="1200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chitects Daughter"/>
              <a:buNone/>
            </a:pPr>
            <a:r>
              <a:rPr b="1" i="0" lang="es-419" sz="24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marca= ‘Volkswagen’</a:t>
            </a:r>
            <a:endParaRPr sz="12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chitects Daughter"/>
              <a:buNone/>
            </a:pPr>
            <a:r>
              <a:rPr b="1" i="0" lang="es-419" sz="24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modelo= ‘Gol’</a:t>
            </a:r>
            <a:endParaRPr sz="12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chitects Daughter"/>
              <a:buNone/>
            </a:pPr>
            <a:r>
              <a:rPr b="1" i="0" lang="es-419" sz="24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Km: 2561</a:t>
            </a:r>
            <a:endParaRPr sz="1200"/>
          </a:p>
        </p:txBody>
      </p:sp>
      <p:sp>
        <p:nvSpPr>
          <p:cNvPr id="69" name="Google Shape;69;p14"/>
          <p:cNvSpPr txBox="1"/>
          <p:nvPr/>
        </p:nvSpPr>
        <p:spPr>
          <a:xfrm>
            <a:off x="3276600" y="3450431"/>
            <a:ext cx="3383100" cy="1200600"/>
          </a:xfrm>
          <a:prstGeom prst="rect">
            <a:avLst/>
          </a:prstGeom>
          <a:noFill/>
          <a:ln cap="flat" cmpd="sng" w="9525">
            <a:solidFill>
              <a:srgbClr val="FEC30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chitects Daughter"/>
              <a:buNone/>
            </a:pPr>
            <a:r>
              <a:rPr b="1" i="0" lang="es-419" sz="24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marca= ‘Fiat’</a:t>
            </a:r>
            <a:endParaRPr sz="12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chitects Daughter"/>
              <a:buNone/>
            </a:pPr>
            <a:r>
              <a:rPr b="1" i="0" lang="es-419" sz="24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modelo= ‘Punto’</a:t>
            </a:r>
            <a:endParaRPr sz="12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chitects Daughter"/>
              <a:buNone/>
            </a:pPr>
            <a:r>
              <a:rPr b="1" i="0" lang="es-419" sz="24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Km: 12357</a:t>
            </a:r>
            <a:endParaRPr sz="1200"/>
          </a:p>
        </p:txBody>
      </p:sp>
      <p:sp>
        <p:nvSpPr>
          <p:cNvPr id="70" name="Google Shape;70;p14"/>
          <p:cNvSpPr txBox="1"/>
          <p:nvPr/>
        </p:nvSpPr>
        <p:spPr>
          <a:xfrm>
            <a:off x="5073650" y="4064794"/>
            <a:ext cx="3384600" cy="11544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chitects Daughter"/>
              <a:buNone/>
            </a:pPr>
            <a:r>
              <a:rPr b="1" i="0" lang="es-419" sz="23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marca= ‘Renault’</a:t>
            </a:r>
            <a:endParaRPr sz="11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chitects Daughter"/>
              <a:buNone/>
            </a:pPr>
            <a:r>
              <a:rPr b="1" i="0" lang="es-419" sz="23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modelo= ‘Captur’</a:t>
            </a:r>
            <a:endParaRPr sz="11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chitects Daughter"/>
              <a:buNone/>
            </a:pPr>
            <a:r>
              <a:rPr b="1" i="0" lang="es-419" sz="23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Km: 236925</a:t>
            </a:r>
            <a:endParaRPr sz="1100"/>
          </a:p>
        </p:txBody>
      </p:sp>
      <p:sp>
        <p:nvSpPr>
          <p:cNvPr id="71" name="Google Shape;71;p14"/>
          <p:cNvSpPr txBox="1"/>
          <p:nvPr/>
        </p:nvSpPr>
        <p:spPr>
          <a:xfrm>
            <a:off x="6843600" y="4732909"/>
            <a:ext cx="2300400" cy="492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chitects Daughter"/>
              <a:buNone/>
            </a:pPr>
            <a:r>
              <a:rPr b="1" i="0" lang="es-419" sz="26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marca= ‘xxx’</a:t>
            </a:r>
            <a:endParaRPr/>
          </a:p>
        </p:txBody>
      </p:sp>
      <p:grpSp>
        <p:nvGrpSpPr>
          <p:cNvPr id="72" name="Google Shape;72;p14"/>
          <p:cNvGrpSpPr/>
          <p:nvPr/>
        </p:nvGrpSpPr>
        <p:grpSpPr>
          <a:xfrm>
            <a:off x="5713412" y="1989534"/>
            <a:ext cx="1038262" cy="985050"/>
            <a:chOff x="5713413" y="2652713"/>
            <a:chExt cx="1038262" cy="1313400"/>
          </a:xfrm>
        </p:grpSpPr>
        <p:sp>
          <p:nvSpPr>
            <p:cNvPr id="73" name="Google Shape;73;p14"/>
            <p:cNvSpPr txBox="1"/>
            <p:nvPr/>
          </p:nvSpPr>
          <p:spPr>
            <a:xfrm>
              <a:off x="6289675" y="2652713"/>
              <a:ext cx="462000" cy="131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chitects Daughter"/>
                <a:buNone/>
              </a:pPr>
              <a:r>
                <a:rPr b="1" i="0" lang="es-419" sz="2400" u="none">
                  <a:solidFill>
                    <a:srgbClr val="00000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3 </a:t>
              </a:r>
              <a:endParaRPr/>
            </a:p>
            <a:p>
              <a:pPr indent="0" lvl="0" marL="0" marR="0" rtl="0" algn="just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chitects Daughter"/>
                <a:buNone/>
              </a:pPr>
              <a:r>
                <a:rPr b="1" i="0" lang="es-419" sz="2400" u="none">
                  <a:solidFill>
                    <a:srgbClr val="00000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1</a:t>
              </a: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5713413" y="2933700"/>
              <a:ext cx="484200" cy="484200"/>
            </a:xfrm>
            <a:prstGeom prst="chevron">
              <a:avLst>
                <a:gd fmla="val 10800" name="adj"/>
              </a:avLst>
            </a:prstGeom>
            <a:solidFill>
              <a:schemeClr val="accent2"/>
            </a:solidFill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/>
        </p:nvSpPr>
        <p:spPr>
          <a:xfrm>
            <a:off x="34925" y="4893469"/>
            <a:ext cx="18543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homa"/>
              <a:buNone/>
            </a:pPr>
            <a:r>
              <a:rPr b="1" i="0" lang="es-419" sz="10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7</a:t>
            </a: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-11112" y="4854178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 txBox="1"/>
          <p:nvPr/>
        </p:nvSpPr>
        <p:spPr>
          <a:xfrm>
            <a:off x="8691562" y="4825603"/>
            <a:ext cx="4524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 txBox="1"/>
          <p:nvPr/>
        </p:nvSpPr>
        <p:spPr>
          <a:xfrm>
            <a:off x="188912" y="104775"/>
            <a:ext cx="84867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 de Datos – </a:t>
            </a:r>
            <a:r>
              <a:rPr b="1" lang="es-419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</a:t>
            </a:r>
            <a:endParaRPr/>
          </a:p>
        </p:txBody>
      </p:sp>
      <p:pic>
        <p:nvPicPr>
          <p:cNvPr id="84" name="Google Shape;8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825" y="1012031"/>
            <a:ext cx="85844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/>
          <p:nvPr/>
        </p:nvSpPr>
        <p:spPr>
          <a:xfrm>
            <a:off x="1547812" y="897731"/>
            <a:ext cx="74151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tects Daughter"/>
              <a:buNone/>
            </a:pPr>
            <a:r>
              <a:rPr b="1" i="0" lang="es-419" sz="21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Se pide realizar un programa que lea autos hasta leer uno con marca “XXX”. Al finalizar informar la cantidad de autos con kilómetros impar, y la cantidad de autos cuya marca es ‘Fiat’.</a:t>
            </a:r>
            <a:endParaRPr sz="1100"/>
          </a:p>
        </p:txBody>
      </p:sp>
      <p:sp>
        <p:nvSpPr>
          <p:cNvPr id="86" name="Google Shape;86;p15"/>
          <p:cNvSpPr txBox="1"/>
          <p:nvPr/>
        </p:nvSpPr>
        <p:spPr>
          <a:xfrm>
            <a:off x="188900" y="2142044"/>
            <a:ext cx="8856600" cy="29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i="0" lang="es-419" sz="2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Inicializo contadores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i="0" lang="es-419" sz="2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Leo un </a:t>
            </a:r>
            <a:r>
              <a:rPr lang="es-419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b="0" i="0" lang="es-419" sz="2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auto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i="0" lang="es-419" sz="2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Mientras (no sea el último </a:t>
            </a:r>
            <a:r>
              <a:rPr lang="es-419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b="0" i="0" lang="es-419" sz="2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i="0" lang="es-419" sz="2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si (el código es impar) </a:t>
            </a:r>
            <a:r>
              <a:rPr lang="es-419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b="0" i="0" lang="es-419" sz="2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cuento un impar mas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i="0" lang="es-419" sz="2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si (la marca es Fiat) </a:t>
            </a:r>
            <a:r>
              <a:rPr lang="es-419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b="0" i="0" lang="es-419" sz="2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cuento uno Fiat mas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i="0" lang="es-419" sz="2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leo un </a:t>
            </a:r>
            <a:r>
              <a:rPr lang="es-419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b="0" i="0" lang="es-419" sz="2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auto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i="0" lang="es-419" sz="2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Informo los totales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/>
        </p:nvSpPr>
        <p:spPr>
          <a:xfrm>
            <a:off x="34925" y="4893469"/>
            <a:ext cx="18543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homa"/>
              <a:buNone/>
            </a:pPr>
            <a:r>
              <a:rPr b="1" i="0" lang="es-419" sz="10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7</a:t>
            </a:r>
            <a:endParaRPr/>
          </a:p>
        </p:txBody>
      </p:sp>
      <p:sp>
        <p:nvSpPr>
          <p:cNvPr id="93" name="Google Shape;93;p16"/>
          <p:cNvSpPr txBox="1"/>
          <p:nvPr/>
        </p:nvSpPr>
        <p:spPr>
          <a:xfrm>
            <a:off x="-11112" y="4854178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 txBox="1"/>
          <p:nvPr/>
        </p:nvSpPr>
        <p:spPr>
          <a:xfrm>
            <a:off x="8691562" y="4825603"/>
            <a:ext cx="4524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188912" y="104775"/>
            <a:ext cx="84867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Estructura de Datos – </a:t>
            </a:r>
            <a:r>
              <a:rPr b="1" lang="es-419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</a:t>
            </a:r>
            <a:endParaRPr/>
          </a:p>
        </p:txBody>
      </p:sp>
      <p:sp>
        <p:nvSpPr>
          <p:cNvPr id="96" name="Google Shape;96;p16"/>
          <p:cNvSpPr txBox="1"/>
          <p:nvPr/>
        </p:nvSpPr>
        <p:spPr>
          <a:xfrm>
            <a:off x="188912" y="1289446"/>
            <a:ext cx="3878400" cy="30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#include &lt;iostream&gt;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#include &lt;string&gt;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using namespace std;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 Auto {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string modelo;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string marca;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int km;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None/>
            </a:pPr>
            <a:r>
              <a:t/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3132125" y="841775"/>
            <a:ext cx="5748000" cy="44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main() {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Auto a;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int cantim = 0;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int cantm = 0;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leerAuto(a);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while (a.marca != "XXX") {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if (esImpar(a))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cantim++;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if (esMarcaBuscada(a))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cantm++;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leerAuto(a);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cout &lt;&lt; "Cantidad con km impar: " &lt;&lt; cantim &lt;&lt; endl;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cout &lt;&lt; "Cantidad de marca buscada: " &lt;&lt; cantm &lt;&lt; endl;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0;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/>
        </p:nvSpPr>
        <p:spPr>
          <a:xfrm>
            <a:off x="34925" y="4893469"/>
            <a:ext cx="18543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homa"/>
              <a:buNone/>
            </a:pPr>
            <a:r>
              <a:rPr b="1" i="0" lang="es-419" sz="10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7</a:t>
            </a:r>
            <a:endParaRPr/>
          </a:p>
        </p:txBody>
      </p:sp>
      <p:sp>
        <p:nvSpPr>
          <p:cNvPr id="104" name="Google Shape;104;p17"/>
          <p:cNvSpPr txBox="1"/>
          <p:nvPr/>
        </p:nvSpPr>
        <p:spPr>
          <a:xfrm>
            <a:off x="-11112" y="4854178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 txBox="1"/>
          <p:nvPr/>
        </p:nvSpPr>
        <p:spPr>
          <a:xfrm>
            <a:off x="8691562" y="4825603"/>
            <a:ext cx="4524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188912" y="104775"/>
            <a:ext cx="84867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Estructura de Datos – </a:t>
            </a:r>
            <a:r>
              <a:rPr b="1" lang="es-419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</a:t>
            </a:r>
            <a:endParaRPr/>
          </a:p>
        </p:txBody>
      </p:sp>
      <p:pic>
        <p:nvPicPr>
          <p:cNvPr id="107" name="Google Shape;10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1339" y="104775"/>
            <a:ext cx="713004" cy="71300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7"/>
          <p:cNvSpPr txBox="1"/>
          <p:nvPr/>
        </p:nvSpPr>
        <p:spPr>
          <a:xfrm>
            <a:off x="317500" y="1251347"/>
            <a:ext cx="81375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bool esImpar(Auto a) { </a:t>
            </a:r>
            <a:endParaRPr sz="2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a.km % 2 != 0;</a:t>
            </a:r>
            <a:endParaRPr sz="2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onsolas"/>
              <a:buNone/>
            </a:pPr>
            <a:r>
              <a:t/>
            </a:r>
            <a:endParaRPr sz="2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373062" y="3052763"/>
            <a:ext cx="8137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bool esMarcaBuscada(Auto a) {</a:t>
            </a:r>
            <a:endParaRPr sz="2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a.marca == "fiat"; </a:t>
            </a:r>
            <a:endParaRPr sz="2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" y="547688"/>
            <a:ext cx="540544" cy="540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/>
        </p:nvSpPr>
        <p:spPr>
          <a:xfrm>
            <a:off x="34925" y="4893469"/>
            <a:ext cx="18543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homa"/>
              <a:buNone/>
            </a:pPr>
            <a:r>
              <a:rPr b="1" i="0" lang="es-419" sz="10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7</a:t>
            </a:r>
            <a:endParaRPr/>
          </a:p>
        </p:txBody>
      </p:sp>
      <p:sp>
        <p:nvSpPr>
          <p:cNvPr id="117" name="Google Shape;117;p18"/>
          <p:cNvSpPr txBox="1"/>
          <p:nvPr/>
        </p:nvSpPr>
        <p:spPr>
          <a:xfrm>
            <a:off x="-11112" y="4854178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118" name="Google Shape;118;p18"/>
          <p:cNvSpPr txBox="1"/>
          <p:nvPr/>
        </p:nvSpPr>
        <p:spPr>
          <a:xfrm>
            <a:off x="8691562" y="4825603"/>
            <a:ext cx="4524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119" name="Google Shape;119;p18"/>
          <p:cNvSpPr txBox="1"/>
          <p:nvPr/>
        </p:nvSpPr>
        <p:spPr>
          <a:xfrm>
            <a:off x="188912" y="104775"/>
            <a:ext cx="84867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Estructura de Datos – </a:t>
            </a:r>
            <a:r>
              <a:rPr b="1" lang="es-419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</a:t>
            </a: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</a:t>
            </a:r>
            <a:endParaRPr/>
          </a:p>
        </p:txBody>
      </p:sp>
      <p:pic>
        <p:nvPicPr>
          <p:cNvPr id="120" name="Google Shape;12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1339" y="104775"/>
            <a:ext cx="713004" cy="71300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8"/>
          <p:cNvSpPr txBox="1"/>
          <p:nvPr/>
        </p:nvSpPr>
        <p:spPr>
          <a:xfrm>
            <a:off x="34925" y="1146572"/>
            <a:ext cx="4614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None/>
            </a:pPr>
            <a:r>
              <a:rPr b="0" i="0" lang="es-419" sz="22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if (</a:t>
            </a:r>
            <a:r>
              <a:rPr b="0" i="0" lang="es-419" sz="2200" u="none">
                <a:solidFill>
                  <a:srgbClr val="FF3399"/>
                </a:solidFill>
                <a:latin typeface="Consolas"/>
                <a:ea typeface="Consolas"/>
                <a:cs typeface="Consolas"/>
                <a:sym typeface="Consolas"/>
              </a:rPr>
              <a:t>impar (a)) </a:t>
            </a:r>
            <a:endParaRPr/>
          </a:p>
        </p:txBody>
      </p:sp>
      <p:pic>
        <p:nvPicPr>
          <p:cNvPr id="122" name="Google Shape;12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" y="547688"/>
            <a:ext cx="540544" cy="54054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8"/>
          <p:cNvSpPr txBox="1"/>
          <p:nvPr/>
        </p:nvSpPr>
        <p:spPr>
          <a:xfrm>
            <a:off x="4234150" y="1088228"/>
            <a:ext cx="5184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bool esImpar(Auto a) { </a:t>
            </a:r>
            <a:endParaRPr sz="2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a.km % 2 != 0;</a:t>
            </a:r>
            <a:endParaRPr sz="2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124" name="Google Shape;124;p18"/>
          <p:cNvSpPr/>
          <p:nvPr/>
        </p:nvSpPr>
        <p:spPr>
          <a:xfrm rot="-5400000">
            <a:off x="3867787" y="1600762"/>
            <a:ext cx="456000" cy="504900"/>
          </a:xfrm>
          <a:prstGeom prst="downArrow">
            <a:avLst>
              <a:gd fmla="val 108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125" name="Google Shape;125;p18"/>
          <p:cNvCxnSpPr/>
          <p:nvPr/>
        </p:nvCxnSpPr>
        <p:spPr>
          <a:xfrm>
            <a:off x="606425" y="2895600"/>
            <a:ext cx="7602600" cy="14400"/>
          </a:xfrm>
          <a:prstGeom prst="straightConnector1">
            <a:avLst/>
          </a:prstGeom>
          <a:noFill/>
          <a:ln cap="flat" cmpd="sng" w="38100">
            <a:solidFill>
              <a:srgbClr val="FFBF6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6" name="Google Shape;126;p18"/>
          <p:cNvCxnSpPr/>
          <p:nvPr/>
        </p:nvCxnSpPr>
        <p:spPr>
          <a:xfrm>
            <a:off x="2195512" y="2003003"/>
            <a:ext cx="0" cy="432300"/>
          </a:xfrm>
          <a:prstGeom prst="straightConnector1">
            <a:avLst/>
          </a:prstGeom>
          <a:noFill/>
          <a:ln cap="flat" cmpd="sng" w="57150">
            <a:solidFill>
              <a:srgbClr val="6F6F6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27" name="Google Shape;127;p18"/>
          <p:cNvSpPr txBox="1"/>
          <p:nvPr/>
        </p:nvSpPr>
        <p:spPr>
          <a:xfrm>
            <a:off x="1098562" y="2472988"/>
            <a:ext cx="2193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None/>
            </a:pPr>
            <a:r>
              <a:rPr b="0" i="0" lang="es-419" sz="19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tipo </a:t>
            </a:r>
            <a:r>
              <a:rPr lang="es-419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endParaRPr sz="1100"/>
          </a:p>
        </p:txBody>
      </p:sp>
      <p:grpSp>
        <p:nvGrpSpPr>
          <p:cNvPr id="128" name="Google Shape;128;p18"/>
          <p:cNvGrpSpPr/>
          <p:nvPr/>
        </p:nvGrpSpPr>
        <p:grpSpPr>
          <a:xfrm>
            <a:off x="-69660" y="3210626"/>
            <a:ext cx="8891109" cy="1682843"/>
            <a:chOff x="-36512" y="4265714"/>
            <a:chExt cx="8891109" cy="2243192"/>
          </a:xfrm>
        </p:grpSpPr>
        <p:sp>
          <p:nvSpPr>
            <p:cNvPr id="129" name="Google Shape;129;p18"/>
            <p:cNvSpPr txBox="1"/>
            <p:nvPr/>
          </p:nvSpPr>
          <p:spPr>
            <a:xfrm>
              <a:off x="-36512" y="4265714"/>
              <a:ext cx="4068000" cy="8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onsolas"/>
                <a:buNone/>
              </a:pPr>
              <a:r>
                <a:t/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onsolas"/>
                <a:buNone/>
              </a:pPr>
              <a:r>
                <a:rPr b="0" i="0" lang="es-419" sz="2200" u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if (</a:t>
              </a:r>
              <a:r>
                <a:rPr b="0" i="0" lang="es-419" sz="2200" u="none">
                  <a:solidFill>
                    <a:srgbClr val="FF3399"/>
                  </a:solidFill>
                  <a:latin typeface="Consolas"/>
                  <a:ea typeface="Consolas"/>
                  <a:cs typeface="Consolas"/>
                  <a:sym typeface="Consolas"/>
                </a:rPr>
                <a:t>impar(a.km))</a:t>
              </a:r>
              <a:endParaRPr/>
            </a:p>
          </p:txBody>
        </p:sp>
        <p:sp>
          <p:nvSpPr>
            <p:cNvPr id="130" name="Google Shape;130;p18"/>
            <p:cNvSpPr txBox="1"/>
            <p:nvPr/>
          </p:nvSpPr>
          <p:spPr>
            <a:xfrm>
              <a:off x="4149397" y="4550636"/>
              <a:ext cx="4705200" cy="172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419" sz="2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bool esImpar(int x) { </a:t>
              </a:r>
              <a:endParaRPr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419" sz="2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return x % 2 != 0;</a:t>
              </a:r>
              <a:endParaRPr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419" sz="2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31" name="Google Shape;131;p18"/>
            <p:cNvSpPr/>
            <p:nvPr/>
          </p:nvSpPr>
          <p:spPr>
            <a:xfrm rot="-5400000">
              <a:off x="3273246" y="5135774"/>
              <a:ext cx="607800" cy="503100"/>
            </a:xfrm>
            <a:prstGeom prst="downArrow">
              <a:avLst>
                <a:gd fmla="val 10800" name="adj1"/>
                <a:gd fmla="val 50000" name="adj2"/>
              </a:avLst>
            </a:prstGeom>
            <a:solidFill>
              <a:schemeClr val="accent2"/>
            </a:solidFill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32" name="Google Shape;132;p18"/>
            <p:cNvCxnSpPr/>
            <p:nvPr/>
          </p:nvCxnSpPr>
          <p:spPr>
            <a:xfrm>
              <a:off x="1889212" y="5356974"/>
              <a:ext cx="0" cy="576000"/>
            </a:xfrm>
            <a:prstGeom prst="straightConnector1">
              <a:avLst/>
            </a:prstGeom>
            <a:noFill/>
            <a:ln cap="flat" cmpd="sng" w="57150">
              <a:solidFill>
                <a:srgbClr val="6F6F6F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133" name="Google Shape;133;p18"/>
            <p:cNvSpPr txBox="1"/>
            <p:nvPr/>
          </p:nvSpPr>
          <p:spPr>
            <a:xfrm>
              <a:off x="900238" y="6016606"/>
              <a:ext cx="2194500" cy="49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onsolas"/>
                <a:buNone/>
              </a:pPr>
              <a:r>
                <a:rPr b="0" i="0" lang="es-419" sz="1800" u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tipo entero</a:t>
              </a:r>
              <a:endParaRPr sz="100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/>
        </p:nvSpPr>
        <p:spPr>
          <a:xfrm>
            <a:off x="34925" y="4893469"/>
            <a:ext cx="18543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homa"/>
              <a:buNone/>
            </a:pPr>
            <a:r>
              <a:rPr b="1" i="0" lang="es-419" sz="10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7</a:t>
            </a:r>
            <a:endParaRPr/>
          </a:p>
        </p:txBody>
      </p:sp>
      <p:sp>
        <p:nvSpPr>
          <p:cNvPr id="140" name="Google Shape;140;p19"/>
          <p:cNvSpPr txBox="1"/>
          <p:nvPr/>
        </p:nvSpPr>
        <p:spPr>
          <a:xfrm>
            <a:off x="-11112" y="4854178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141" name="Google Shape;141;p19"/>
          <p:cNvSpPr txBox="1"/>
          <p:nvPr/>
        </p:nvSpPr>
        <p:spPr>
          <a:xfrm>
            <a:off x="8691562" y="4825603"/>
            <a:ext cx="4524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 sz="1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 sz="1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2" name="Google Shape;142;p19"/>
          <p:cNvSpPr txBox="1"/>
          <p:nvPr/>
        </p:nvSpPr>
        <p:spPr>
          <a:xfrm>
            <a:off x="188912" y="104775"/>
            <a:ext cx="84867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 de Datos – </a:t>
            </a:r>
            <a:r>
              <a:rPr b="1" lang="es-419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</a:t>
            </a: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</a:t>
            </a:r>
            <a:endParaRPr/>
          </a:p>
        </p:txBody>
      </p:sp>
      <p:pic>
        <p:nvPicPr>
          <p:cNvPr id="143" name="Google Shape;14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1339" y="104775"/>
            <a:ext cx="713004" cy="71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362" y="635794"/>
            <a:ext cx="540544" cy="54054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5" name="Google Shape;145;p19"/>
          <p:cNvCxnSpPr/>
          <p:nvPr/>
        </p:nvCxnSpPr>
        <p:spPr>
          <a:xfrm rot="10800000">
            <a:off x="4678362" y="2190759"/>
            <a:ext cx="0" cy="2322900"/>
          </a:xfrm>
          <a:prstGeom prst="straightConnector1">
            <a:avLst/>
          </a:prstGeom>
          <a:noFill/>
          <a:ln cap="flat" cmpd="sng" w="38100">
            <a:solidFill>
              <a:srgbClr val="FFBF6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46" name="Google Shape;146;p19"/>
          <p:cNvSpPr txBox="1"/>
          <p:nvPr/>
        </p:nvSpPr>
        <p:spPr>
          <a:xfrm>
            <a:off x="107950" y="2160984"/>
            <a:ext cx="4680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leer(Auto &amp;a) {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cin &gt;&gt; a.marca;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cin &gt;&gt; a.modelo;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cin &gt;&gt; a.km;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None/>
            </a:pPr>
            <a:r>
              <a:t/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7" name="Google Shape;147;p19"/>
          <p:cNvSpPr txBox="1"/>
          <p:nvPr/>
        </p:nvSpPr>
        <p:spPr>
          <a:xfrm>
            <a:off x="4716462" y="2160984"/>
            <a:ext cx="45354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leer(Auto &amp;a) {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cin &gt;&gt; a.marca;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(a.marca != "XXX") {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cin &gt;&gt; a.modelo;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cin &gt;&gt; a.km;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None/>
            </a:pPr>
            <a:r>
              <a:t/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8" name="Google Shape;148;p19"/>
          <p:cNvSpPr txBox="1"/>
          <p:nvPr/>
        </p:nvSpPr>
        <p:spPr>
          <a:xfrm>
            <a:off x="2092325" y="4516040"/>
            <a:ext cx="44958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5000"/>
              <a:buFont typeface="Architects Daughter"/>
              <a:buNone/>
            </a:pPr>
            <a:r>
              <a:rPr b="1" i="0" lang="es-419" sz="3700" u="none">
                <a:solidFill>
                  <a:srgbClr val="6F6F6F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Comparacación</a:t>
            </a:r>
            <a:endParaRPr sz="100"/>
          </a:p>
        </p:txBody>
      </p:sp>
      <p:sp>
        <p:nvSpPr>
          <p:cNvPr id="149" name="Google Shape;149;p19"/>
          <p:cNvSpPr txBox="1"/>
          <p:nvPr/>
        </p:nvSpPr>
        <p:spPr>
          <a:xfrm>
            <a:off x="962025" y="573881"/>
            <a:ext cx="46149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None/>
            </a:pPr>
            <a:r>
              <a:rPr b="0" i="0" lang="es-419" sz="22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None/>
            </a:pPr>
            <a:r>
              <a:rPr b="0" i="0" lang="es-419" sz="22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leer (</a:t>
            </a:r>
            <a:r>
              <a:rPr b="0" i="0" lang="es-419" sz="2200" u="none">
                <a:solidFill>
                  <a:srgbClr val="FF3399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i="0" lang="es-419" sz="22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None/>
            </a:pPr>
            <a:r>
              <a:rPr b="0" i="0" lang="es-419" sz="22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while (a.marca </a:t>
            </a:r>
            <a:r>
              <a:rPr lang="es-419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!=</a:t>
            </a:r>
            <a:r>
              <a:rPr b="0" i="0" lang="es-419" sz="22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”XXX”)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None/>
            </a:pPr>
            <a:r>
              <a:rPr b="0" i="0" lang="es-419" sz="22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....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/>
        </p:nvSpPr>
        <p:spPr>
          <a:xfrm>
            <a:off x="34925" y="4893469"/>
            <a:ext cx="18543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homa"/>
              <a:buNone/>
            </a:pPr>
            <a:r>
              <a:rPr b="1" i="0" lang="es-419" sz="10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7</a:t>
            </a:r>
            <a:endParaRPr/>
          </a:p>
        </p:txBody>
      </p:sp>
      <p:sp>
        <p:nvSpPr>
          <p:cNvPr id="156" name="Google Shape;156;p20"/>
          <p:cNvSpPr txBox="1"/>
          <p:nvPr/>
        </p:nvSpPr>
        <p:spPr>
          <a:xfrm>
            <a:off x="-11112" y="4854178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157" name="Google Shape;157;p20"/>
          <p:cNvSpPr txBox="1"/>
          <p:nvPr/>
        </p:nvSpPr>
        <p:spPr>
          <a:xfrm>
            <a:off x="8691562" y="4825603"/>
            <a:ext cx="4524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158" name="Google Shape;158;p20"/>
          <p:cNvSpPr txBox="1"/>
          <p:nvPr/>
        </p:nvSpPr>
        <p:spPr>
          <a:xfrm>
            <a:off x="188912" y="104775"/>
            <a:ext cx="84867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Estructura de Datos – </a:t>
            </a:r>
            <a:r>
              <a:rPr b="1" lang="es-419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</a:t>
            </a:r>
            <a:endParaRPr/>
          </a:p>
        </p:txBody>
      </p:sp>
      <p:pic>
        <p:nvPicPr>
          <p:cNvPr id="159" name="Google Shape;15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1339" y="104775"/>
            <a:ext cx="713004" cy="713004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0"/>
          <p:cNvSpPr txBox="1"/>
          <p:nvPr/>
        </p:nvSpPr>
        <p:spPr>
          <a:xfrm>
            <a:off x="317500" y="1251349"/>
            <a:ext cx="81375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¿</a:t>
            </a:r>
            <a:r>
              <a:rPr lang="es-419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Qué</a:t>
            </a:r>
            <a:r>
              <a:rPr lang="es-419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ocurre si quiero guardar la fecha de fabricación del auto? </a:t>
            </a:r>
            <a:endParaRPr sz="2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373062" y="3052763"/>
            <a:ext cx="8137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62" name="Google Shape;16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" y="547688"/>
            <a:ext cx="540544" cy="54054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0"/>
          <p:cNvSpPr txBox="1"/>
          <p:nvPr/>
        </p:nvSpPr>
        <p:spPr>
          <a:xfrm>
            <a:off x="483825" y="2318100"/>
            <a:ext cx="31353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1"/>
                </a:solidFill>
              </a:rPr>
              <a:t>struct Auto {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1"/>
                </a:solidFill>
              </a:rPr>
              <a:t>    string modelo;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1"/>
                </a:solidFill>
              </a:rPr>
              <a:t>    string marca;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1"/>
                </a:solidFill>
              </a:rPr>
              <a:t>    int km;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1"/>
                </a:solidFill>
              </a:rPr>
              <a:t>    int dia;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1"/>
                </a:solidFill>
              </a:rPr>
              <a:t>    int mes;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1"/>
                </a:solidFill>
              </a:rPr>
              <a:t>    int año;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</a:rPr>
              <a:t>};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570425" y="2693875"/>
            <a:ext cx="46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2"/>
                </a:solidFill>
              </a:rPr>
              <a:t>Hay otra forma de hacerlo?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"/>
          <p:cNvSpPr txBox="1"/>
          <p:nvPr/>
        </p:nvSpPr>
        <p:spPr>
          <a:xfrm>
            <a:off x="34925" y="4893469"/>
            <a:ext cx="18543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homa"/>
              <a:buNone/>
            </a:pPr>
            <a:r>
              <a:rPr b="1" i="0" lang="es-419" sz="10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7</a:t>
            </a:r>
            <a:endParaRPr/>
          </a:p>
        </p:txBody>
      </p:sp>
      <p:sp>
        <p:nvSpPr>
          <p:cNvPr id="171" name="Google Shape;171;p21"/>
          <p:cNvSpPr txBox="1"/>
          <p:nvPr/>
        </p:nvSpPr>
        <p:spPr>
          <a:xfrm>
            <a:off x="-11112" y="4854178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172" name="Google Shape;172;p21"/>
          <p:cNvSpPr txBox="1"/>
          <p:nvPr/>
        </p:nvSpPr>
        <p:spPr>
          <a:xfrm>
            <a:off x="8691562" y="4825603"/>
            <a:ext cx="4524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173" name="Google Shape;173;p21"/>
          <p:cNvSpPr txBox="1"/>
          <p:nvPr/>
        </p:nvSpPr>
        <p:spPr>
          <a:xfrm>
            <a:off x="188912" y="104775"/>
            <a:ext cx="84867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 de Datos – </a:t>
            </a:r>
            <a:r>
              <a:rPr b="1" lang="es-419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</a:t>
            </a: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</a:t>
            </a:r>
            <a:endParaRPr/>
          </a:p>
        </p:txBody>
      </p:sp>
      <p:pic>
        <p:nvPicPr>
          <p:cNvPr id="174" name="Google Shape;17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1339" y="104775"/>
            <a:ext cx="713004" cy="713004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1"/>
          <p:cNvSpPr txBox="1"/>
          <p:nvPr/>
        </p:nvSpPr>
        <p:spPr>
          <a:xfrm>
            <a:off x="333375" y="627459"/>
            <a:ext cx="48150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 FechaFab {</a:t>
            </a:r>
            <a:endParaRPr sz="2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int dia;</a:t>
            </a:r>
            <a:endParaRPr sz="2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int mes;</a:t>
            </a:r>
            <a:endParaRPr sz="2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int año;</a:t>
            </a:r>
            <a:endParaRPr sz="2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2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 Auto {</a:t>
            </a:r>
            <a:endParaRPr sz="2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string modelo;</a:t>
            </a:r>
            <a:endParaRPr sz="2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string marca;</a:t>
            </a:r>
            <a:endParaRPr sz="2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int km;</a:t>
            </a:r>
            <a:endParaRPr sz="2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FechaFab fecha;</a:t>
            </a:r>
            <a:endParaRPr sz="2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2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76" name="Google Shape;176;p21"/>
          <p:cNvGrpSpPr/>
          <p:nvPr/>
        </p:nvGrpSpPr>
        <p:grpSpPr>
          <a:xfrm>
            <a:off x="4643437" y="1176260"/>
            <a:ext cx="4249800" cy="1180259"/>
            <a:chOff x="4643438" y="1568346"/>
            <a:chExt cx="4249800" cy="1573679"/>
          </a:xfrm>
        </p:grpSpPr>
        <p:sp>
          <p:nvSpPr>
            <p:cNvPr id="177" name="Google Shape;177;p21"/>
            <p:cNvSpPr txBox="1"/>
            <p:nvPr/>
          </p:nvSpPr>
          <p:spPr>
            <a:xfrm>
              <a:off x="4643438" y="1787525"/>
              <a:ext cx="4249800" cy="135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419" sz="3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Auto a;</a:t>
              </a:r>
              <a:endParaRPr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419" sz="3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cin &gt;&gt; a.fecha;</a:t>
              </a:r>
              <a:endParaRPr/>
            </a:p>
          </p:txBody>
        </p:sp>
        <p:pic>
          <p:nvPicPr>
            <p:cNvPr id="178" name="Google Shape;178;p21"/>
            <p:cNvPicPr preferRelativeResize="0"/>
            <p:nvPr/>
          </p:nvPicPr>
          <p:blipFill rotWithShape="1">
            <a:blip r:embed="rId4">
              <a:alphaModFix/>
            </a:blip>
            <a:srcRect b="25184" l="2873" r="48257" t="15752"/>
            <a:stretch/>
          </p:blipFill>
          <p:spPr>
            <a:xfrm>
              <a:off x="7695463" y="1568346"/>
              <a:ext cx="1108075" cy="97631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9" name="Google Shape;179;p21"/>
          <p:cNvSpPr txBox="1"/>
          <p:nvPr/>
        </p:nvSpPr>
        <p:spPr>
          <a:xfrm>
            <a:off x="4344375" y="2714603"/>
            <a:ext cx="4711800" cy="1939500"/>
          </a:xfrm>
          <a:prstGeom prst="rect">
            <a:avLst/>
          </a:prstGeom>
          <a:noFill/>
          <a:ln cap="flat" cmpd="sng" w="9525">
            <a:solidFill>
              <a:srgbClr val="FEC30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cin &gt;&gt; a.fecha.dia;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cin &gt;&gt; a.fecha.mes;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cin &gt;&gt; a.fecha.año;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nsolas"/>
              <a:buNone/>
            </a:pPr>
            <a:r>
              <a:rPr b="0" i="0" lang="es-419" sz="30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 txBox="1"/>
          <p:nvPr/>
        </p:nvSpPr>
        <p:spPr>
          <a:xfrm>
            <a:off x="34925" y="4893469"/>
            <a:ext cx="18543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homa"/>
              <a:buNone/>
            </a:pPr>
            <a:r>
              <a:rPr b="1" i="0" lang="es-419" sz="10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7</a:t>
            </a:r>
            <a:endParaRPr/>
          </a:p>
        </p:txBody>
      </p:sp>
      <p:sp>
        <p:nvSpPr>
          <p:cNvPr id="186" name="Google Shape;186;p22"/>
          <p:cNvSpPr txBox="1"/>
          <p:nvPr/>
        </p:nvSpPr>
        <p:spPr>
          <a:xfrm>
            <a:off x="-11112" y="4854178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187" name="Google Shape;187;p22"/>
          <p:cNvSpPr txBox="1"/>
          <p:nvPr/>
        </p:nvSpPr>
        <p:spPr>
          <a:xfrm>
            <a:off x="8691562" y="4825603"/>
            <a:ext cx="4524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188" name="Google Shape;188;p22"/>
          <p:cNvSpPr txBox="1"/>
          <p:nvPr/>
        </p:nvSpPr>
        <p:spPr>
          <a:xfrm>
            <a:off x="188912" y="104775"/>
            <a:ext cx="84867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 de Datos – </a:t>
            </a:r>
            <a:r>
              <a:rPr b="1" lang="es-419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</a:t>
            </a: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Cargar</a:t>
            </a:r>
            <a:endParaRPr/>
          </a:p>
        </p:txBody>
      </p:sp>
      <p:pic>
        <p:nvPicPr>
          <p:cNvPr id="189" name="Google Shape;18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1339" y="104775"/>
            <a:ext cx="713004" cy="713004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2"/>
          <p:cNvSpPr txBox="1"/>
          <p:nvPr/>
        </p:nvSpPr>
        <p:spPr>
          <a:xfrm>
            <a:off x="247650" y="857250"/>
            <a:ext cx="62247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leer(Auto &amp;a) {</a:t>
            </a:r>
            <a:endParaRPr sz="2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cin &gt;&gt; a.marca;</a:t>
            </a:r>
            <a:endParaRPr sz="2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cin &gt;&gt; a.modelo;</a:t>
            </a:r>
            <a:endParaRPr sz="2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cin &gt;&gt; a.km;</a:t>
            </a:r>
            <a:endParaRPr sz="2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cin &gt;&gt; a.fecha.dia;</a:t>
            </a:r>
            <a:endParaRPr sz="2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cin &gt;&gt; a.fecha.mes;</a:t>
            </a:r>
            <a:endParaRPr sz="2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cin &gt;&gt; a.fecha.año;</a:t>
            </a:r>
            <a:endParaRPr sz="2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onsolas"/>
              <a:buNone/>
            </a:pPr>
            <a:r>
              <a:t/>
            </a:r>
            <a:endParaRPr sz="2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91" name="Google Shape;191;p22"/>
          <p:cNvGrpSpPr/>
          <p:nvPr/>
        </p:nvGrpSpPr>
        <p:grpSpPr>
          <a:xfrm>
            <a:off x="5988050" y="1900087"/>
            <a:ext cx="2703600" cy="1681029"/>
            <a:chOff x="5988051" y="2533529"/>
            <a:chExt cx="2703600" cy="2241671"/>
          </a:xfrm>
        </p:grpSpPr>
        <p:pic>
          <p:nvPicPr>
            <p:cNvPr id="192" name="Google Shape;192;p22"/>
            <p:cNvPicPr preferRelativeResize="0"/>
            <p:nvPr/>
          </p:nvPicPr>
          <p:blipFill rotWithShape="1">
            <a:blip r:embed="rId4">
              <a:alphaModFix/>
            </a:blip>
            <a:srcRect b="0" l="0" r="28835" t="10944"/>
            <a:stretch/>
          </p:blipFill>
          <p:spPr>
            <a:xfrm>
              <a:off x="6162675" y="3087688"/>
              <a:ext cx="2262188" cy="16875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" name="Google Shape;193;p22"/>
            <p:cNvSpPr txBox="1"/>
            <p:nvPr/>
          </p:nvSpPr>
          <p:spPr>
            <a:xfrm>
              <a:off x="5988051" y="2533529"/>
              <a:ext cx="2703600" cy="12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B050"/>
                </a:buClr>
                <a:buSzPts val="3200"/>
                <a:buFont typeface="Architects Daughter"/>
                <a:buNone/>
              </a:pPr>
              <a:r>
                <a:rPr b="1" i="0" lang="es-419" sz="3200" u="none">
                  <a:solidFill>
                    <a:srgbClr val="00B05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Otra forma?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 txBox="1"/>
          <p:nvPr/>
        </p:nvSpPr>
        <p:spPr>
          <a:xfrm>
            <a:off x="34925" y="4893469"/>
            <a:ext cx="18543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homa"/>
              <a:buNone/>
            </a:pPr>
            <a:r>
              <a:rPr b="1" i="0" lang="es-419" sz="10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7</a:t>
            </a:r>
            <a:endParaRPr/>
          </a:p>
        </p:txBody>
      </p:sp>
      <p:sp>
        <p:nvSpPr>
          <p:cNvPr id="200" name="Google Shape;200;p23"/>
          <p:cNvSpPr txBox="1"/>
          <p:nvPr/>
        </p:nvSpPr>
        <p:spPr>
          <a:xfrm>
            <a:off x="-11112" y="4854178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201" name="Google Shape;201;p23"/>
          <p:cNvSpPr txBox="1"/>
          <p:nvPr/>
        </p:nvSpPr>
        <p:spPr>
          <a:xfrm>
            <a:off x="8691562" y="4825603"/>
            <a:ext cx="4524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202" name="Google Shape;202;p23"/>
          <p:cNvSpPr txBox="1"/>
          <p:nvPr/>
        </p:nvSpPr>
        <p:spPr>
          <a:xfrm>
            <a:off x="188912" y="104775"/>
            <a:ext cx="84867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 de Datos – </a:t>
            </a:r>
            <a:r>
              <a:rPr b="1" lang="es-419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</a:t>
            </a: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Cargar</a:t>
            </a:r>
            <a:endParaRPr/>
          </a:p>
        </p:txBody>
      </p:sp>
      <p:pic>
        <p:nvPicPr>
          <p:cNvPr id="203" name="Google Shape;20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1339" y="104775"/>
            <a:ext cx="713004" cy="713004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3"/>
          <p:cNvSpPr txBox="1"/>
          <p:nvPr/>
        </p:nvSpPr>
        <p:spPr>
          <a:xfrm>
            <a:off x="539750" y="2277665"/>
            <a:ext cx="51849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leer(Auto &amp;a) {</a:t>
            </a:r>
            <a:endParaRPr sz="2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FechaFab f;</a:t>
            </a:r>
            <a:endParaRPr sz="2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cin &gt;&gt; a.marca;</a:t>
            </a:r>
            <a:endParaRPr sz="2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cin &gt;&gt; a.modelo;</a:t>
            </a:r>
            <a:endParaRPr sz="2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cin &gt;&gt; a.km;</a:t>
            </a:r>
            <a:endParaRPr sz="2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leerFecha(f);</a:t>
            </a:r>
            <a:endParaRPr sz="2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a.fecha = f;</a:t>
            </a:r>
            <a:endParaRPr sz="2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5" name="Google Shape;205;p23"/>
          <p:cNvSpPr txBox="1"/>
          <p:nvPr/>
        </p:nvSpPr>
        <p:spPr>
          <a:xfrm>
            <a:off x="179387" y="492919"/>
            <a:ext cx="70899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leerFecha(FechaFab &amp;f) {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cin &gt;&gt; f.dia;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cin &gt;&gt; f.mes;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cin &gt;&gt; f.año;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t/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6" name="Google Shape;206;p23"/>
          <p:cNvSpPr txBox="1"/>
          <p:nvPr/>
        </p:nvSpPr>
        <p:spPr>
          <a:xfrm>
            <a:off x="3959100" y="2550469"/>
            <a:ext cx="51849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leer(Auto &amp;a)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cin &gt;&gt; a.marca;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cin &gt;&gt; a.modelo;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cin &gt;&gt; a.km;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leerFecha(</a:t>
            </a: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a.fecha</a:t>
            </a: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"/>
          <p:cNvSpPr txBox="1"/>
          <p:nvPr/>
        </p:nvSpPr>
        <p:spPr>
          <a:xfrm>
            <a:off x="34925" y="4893469"/>
            <a:ext cx="18543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homa"/>
              <a:buNone/>
            </a:pPr>
            <a:r>
              <a:rPr b="1" i="0" lang="es-419" sz="10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7</a:t>
            </a:r>
            <a:endParaRPr/>
          </a:p>
        </p:txBody>
      </p:sp>
      <p:sp>
        <p:nvSpPr>
          <p:cNvPr id="213" name="Google Shape;213;p24"/>
          <p:cNvSpPr txBox="1"/>
          <p:nvPr/>
        </p:nvSpPr>
        <p:spPr>
          <a:xfrm>
            <a:off x="-11112" y="4854178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214" name="Google Shape;214;p24"/>
          <p:cNvSpPr txBox="1"/>
          <p:nvPr/>
        </p:nvSpPr>
        <p:spPr>
          <a:xfrm>
            <a:off x="8691562" y="4825603"/>
            <a:ext cx="4524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215" name="Google Shape;215;p24"/>
          <p:cNvSpPr txBox="1"/>
          <p:nvPr/>
        </p:nvSpPr>
        <p:spPr>
          <a:xfrm>
            <a:off x="188912" y="104775"/>
            <a:ext cx="84867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 de Datos – </a:t>
            </a:r>
            <a:r>
              <a:rPr b="1" lang="es-419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</a:t>
            </a: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actividad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</a:t>
            </a:r>
            <a:endParaRPr/>
          </a:p>
        </p:txBody>
      </p:sp>
      <p:pic>
        <p:nvPicPr>
          <p:cNvPr id="216" name="Google Shape;21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1339" y="104775"/>
            <a:ext cx="713004" cy="71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825" y="897731"/>
            <a:ext cx="85844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4"/>
          <p:cNvSpPr txBox="1"/>
          <p:nvPr/>
        </p:nvSpPr>
        <p:spPr>
          <a:xfrm>
            <a:off x="1477962" y="860822"/>
            <a:ext cx="7415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tects Daughter"/>
              <a:buNone/>
            </a:pPr>
            <a:r>
              <a:rPr b="1" i="0" lang="es-419" sz="18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Se pide realizar un programa que lea autos hasta leer uno con marca “XXX”. Al finalizar informar la cantidad de autos por marca y la cantidad total de autos. </a:t>
            </a:r>
            <a:r>
              <a:rPr b="1" i="0" lang="es-419" sz="1800" u="sng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Los datos vienen ordenados por marca.</a:t>
            </a:r>
            <a:endParaRPr sz="800" u="sng"/>
          </a:p>
        </p:txBody>
      </p:sp>
      <p:sp>
        <p:nvSpPr>
          <p:cNvPr id="219" name="Google Shape;219;p24"/>
          <p:cNvSpPr txBox="1"/>
          <p:nvPr/>
        </p:nvSpPr>
        <p:spPr>
          <a:xfrm>
            <a:off x="188912" y="2171722"/>
            <a:ext cx="3384600" cy="1200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chitects Daughter"/>
              <a:buNone/>
            </a:pPr>
            <a:r>
              <a:rPr b="1" i="0" lang="es-419" sz="24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marca= ‘Fiat’</a:t>
            </a:r>
            <a:endParaRPr sz="12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chitects Daughter"/>
              <a:buNone/>
            </a:pPr>
            <a:r>
              <a:rPr b="1" i="0" lang="es-419" sz="24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modelo= ‘Punto’</a:t>
            </a:r>
            <a:endParaRPr sz="12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chitects Daughter"/>
              <a:buNone/>
            </a:pPr>
            <a:r>
              <a:rPr b="1" i="0" lang="es-419" sz="24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Km: 5015</a:t>
            </a:r>
            <a:endParaRPr sz="1200"/>
          </a:p>
        </p:txBody>
      </p:sp>
      <p:sp>
        <p:nvSpPr>
          <p:cNvPr id="220" name="Google Shape;220;p24"/>
          <p:cNvSpPr txBox="1"/>
          <p:nvPr/>
        </p:nvSpPr>
        <p:spPr>
          <a:xfrm>
            <a:off x="3851275" y="2356247"/>
            <a:ext cx="3384600" cy="1200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chitects Daughter"/>
              <a:buNone/>
            </a:pPr>
            <a:r>
              <a:rPr b="1" i="0" lang="es-419" sz="24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marca= ‘Fiat’</a:t>
            </a:r>
            <a:endParaRPr sz="12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chitects Daughter"/>
              <a:buNone/>
            </a:pPr>
            <a:r>
              <a:rPr b="1" i="0" lang="es-419" sz="24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modelo= ‘cronos’</a:t>
            </a:r>
            <a:endParaRPr sz="12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chitects Daughter"/>
              <a:buNone/>
            </a:pPr>
            <a:r>
              <a:rPr b="1" i="0" lang="es-419" sz="24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Km: 2560</a:t>
            </a:r>
            <a:endParaRPr sz="1200"/>
          </a:p>
        </p:txBody>
      </p:sp>
      <p:sp>
        <p:nvSpPr>
          <p:cNvPr id="221" name="Google Shape;221;p24"/>
          <p:cNvSpPr txBox="1"/>
          <p:nvPr/>
        </p:nvSpPr>
        <p:spPr>
          <a:xfrm>
            <a:off x="836375" y="3532596"/>
            <a:ext cx="3384600" cy="1200600"/>
          </a:xfrm>
          <a:prstGeom prst="rect">
            <a:avLst/>
          </a:prstGeom>
          <a:noFill/>
          <a:ln cap="flat" cmpd="sng" w="9525">
            <a:solidFill>
              <a:srgbClr val="FEC30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chitects Daughter"/>
              <a:buNone/>
            </a:pPr>
            <a:r>
              <a:rPr b="1" i="0" lang="es-419" sz="24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marca= ‘Volkswagen’</a:t>
            </a:r>
            <a:endParaRPr sz="12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chitects Daughter"/>
              <a:buNone/>
            </a:pPr>
            <a:r>
              <a:rPr b="1" i="0" lang="es-419" sz="24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modelo= ‘Gol’</a:t>
            </a:r>
            <a:endParaRPr sz="12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chitects Daughter"/>
              <a:buNone/>
            </a:pPr>
            <a:r>
              <a:rPr b="1" i="0" lang="es-419" sz="24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Km: 12357</a:t>
            </a:r>
            <a:endParaRPr sz="1200"/>
          </a:p>
        </p:txBody>
      </p:sp>
      <p:sp>
        <p:nvSpPr>
          <p:cNvPr id="222" name="Google Shape;222;p24"/>
          <p:cNvSpPr txBox="1"/>
          <p:nvPr/>
        </p:nvSpPr>
        <p:spPr>
          <a:xfrm>
            <a:off x="5281612" y="3726656"/>
            <a:ext cx="2298600" cy="461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chitects Daughter"/>
              <a:buNone/>
            </a:pPr>
            <a:r>
              <a:rPr b="1" i="0" lang="es-419" sz="24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marca= ‘xx</a:t>
            </a:r>
            <a:r>
              <a:rPr b="1" i="0" lang="es-419" sz="24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x’</a:t>
            </a:r>
            <a:endParaRPr sz="1200"/>
          </a:p>
        </p:txBody>
      </p:sp>
      <p:grpSp>
        <p:nvGrpSpPr>
          <p:cNvPr id="223" name="Google Shape;223;p24"/>
          <p:cNvGrpSpPr/>
          <p:nvPr/>
        </p:nvGrpSpPr>
        <p:grpSpPr>
          <a:xfrm>
            <a:off x="7580240" y="2625328"/>
            <a:ext cx="1062093" cy="461700"/>
            <a:chOff x="7580353" y="3500102"/>
            <a:chExt cx="1061350" cy="615600"/>
          </a:xfrm>
        </p:grpSpPr>
        <p:sp>
          <p:nvSpPr>
            <p:cNvPr id="224" name="Google Shape;224;p24"/>
            <p:cNvSpPr/>
            <p:nvPr/>
          </p:nvSpPr>
          <p:spPr>
            <a:xfrm>
              <a:off x="7580353" y="3500102"/>
              <a:ext cx="485400" cy="484200"/>
            </a:xfrm>
            <a:prstGeom prst="chevron">
              <a:avLst>
                <a:gd fmla="val 10828" name="adj"/>
              </a:avLst>
            </a:prstGeom>
            <a:solidFill>
              <a:schemeClr val="accent2"/>
            </a:solidFill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5" name="Google Shape;225;p24"/>
            <p:cNvSpPr txBox="1"/>
            <p:nvPr/>
          </p:nvSpPr>
          <p:spPr>
            <a:xfrm>
              <a:off x="8180003" y="3500102"/>
              <a:ext cx="4617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chitects Daughter"/>
                <a:buNone/>
              </a:pPr>
              <a:r>
                <a:rPr b="1" i="0" lang="es-419" sz="2400" u="none">
                  <a:solidFill>
                    <a:srgbClr val="00000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2 </a:t>
              </a:r>
              <a:endParaRPr/>
            </a:p>
          </p:txBody>
        </p:sp>
      </p:grpSp>
      <p:grpSp>
        <p:nvGrpSpPr>
          <p:cNvPr id="226" name="Google Shape;226;p24"/>
          <p:cNvGrpSpPr/>
          <p:nvPr/>
        </p:nvGrpSpPr>
        <p:grpSpPr>
          <a:xfrm>
            <a:off x="4220979" y="3758919"/>
            <a:ext cx="958841" cy="478512"/>
            <a:chOff x="4220369" y="5010996"/>
            <a:chExt cx="959513" cy="638441"/>
          </a:xfrm>
        </p:grpSpPr>
        <p:sp>
          <p:nvSpPr>
            <p:cNvPr id="227" name="Google Shape;227;p24"/>
            <p:cNvSpPr/>
            <p:nvPr/>
          </p:nvSpPr>
          <p:spPr>
            <a:xfrm>
              <a:off x="4220369" y="5010996"/>
              <a:ext cx="486000" cy="484500"/>
            </a:xfrm>
            <a:prstGeom prst="chevron">
              <a:avLst>
                <a:gd fmla="val 10835" name="adj"/>
              </a:avLst>
            </a:prstGeom>
            <a:solidFill>
              <a:schemeClr val="accent2"/>
            </a:solidFill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8" name="Google Shape;228;p24"/>
            <p:cNvSpPr txBox="1"/>
            <p:nvPr/>
          </p:nvSpPr>
          <p:spPr>
            <a:xfrm>
              <a:off x="4717582" y="5033237"/>
              <a:ext cx="462300" cy="6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chitects Daughter"/>
                <a:buNone/>
              </a:pPr>
              <a:r>
                <a:rPr b="1" i="0" lang="es-419" sz="2400" u="none">
                  <a:solidFill>
                    <a:srgbClr val="00000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1 </a:t>
              </a:r>
              <a:endParaRPr/>
            </a:p>
          </p:txBody>
        </p:sp>
      </p:grpSp>
      <p:grpSp>
        <p:nvGrpSpPr>
          <p:cNvPr id="229" name="Google Shape;229;p24"/>
          <p:cNvGrpSpPr/>
          <p:nvPr/>
        </p:nvGrpSpPr>
        <p:grpSpPr>
          <a:xfrm>
            <a:off x="6749986" y="4336256"/>
            <a:ext cx="1062092" cy="461700"/>
            <a:chOff x="6750050" y="5781196"/>
            <a:chExt cx="1061349" cy="615600"/>
          </a:xfrm>
        </p:grpSpPr>
        <p:sp>
          <p:nvSpPr>
            <p:cNvPr id="230" name="Google Shape;230;p24"/>
            <p:cNvSpPr/>
            <p:nvPr/>
          </p:nvSpPr>
          <p:spPr>
            <a:xfrm>
              <a:off x="6750050" y="5781196"/>
              <a:ext cx="485400" cy="484200"/>
            </a:xfrm>
            <a:prstGeom prst="chevron">
              <a:avLst>
                <a:gd fmla="val 10828" name="adj"/>
              </a:avLst>
            </a:prstGeom>
            <a:solidFill>
              <a:schemeClr val="accent2"/>
            </a:solidFill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1" name="Google Shape;231;p24"/>
            <p:cNvSpPr txBox="1"/>
            <p:nvPr/>
          </p:nvSpPr>
          <p:spPr>
            <a:xfrm>
              <a:off x="7349699" y="5781196"/>
              <a:ext cx="4617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chitects Daughter"/>
                <a:buNone/>
              </a:pPr>
              <a:r>
                <a:rPr b="1" i="0" lang="es-419" sz="2400" u="none">
                  <a:solidFill>
                    <a:srgbClr val="00000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3 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5"/>
          <p:cNvSpPr txBox="1"/>
          <p:nvPr/>
        </p:nvSpPr>
        <p:spPr>
          <a:xfrm>
            <a:off x="34925" y="4893469"/>
            <a:ext cx="18543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homa"/>
              <a:buNone/>
            </a:pPr>
            <a:r>
              <a:rPr b="1" i="0" lang="es-419" sz="10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7</a:t>
            </a:r>
            <a:endParaRPr/>
          </a:p>
        </p:txBody>
      </p:sp>
      <p:sp>
        <p:nvSpPr>
          <p:cNvPr id="238" name="Google Shape;238;p25"/>
          <p:cNvSpPr txBox="1"/>
          <p:nvPr/>
        </p:nvSpPr>
        <p:spPr>
          <a:xfrm>
            <a:off x="-11112" y="4854178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239" name="Google Shape;239;p25"/>
          <p:cNvSpPr txBox="1"/>
          <p:nvPr/>
        </p:nvSpPr>
        <p:spPr>
          <a:xfrm>
            <a:off x="8691562" y="4825603"/>
            <a:ext cx="4524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240" name="Google Shape;240;p25"/>
          <p:cNvSpPr txBox="1"/>
          <p:nvPr/>
        </p:nvSpPr>
        <p:spPr>
          <a:xfrm>
            <a:off x="188912" y="104775"/>
            <a:ext cx="84867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 de Datos – </a:t>
            </a:r>
            <a:r>
              <a:rPr b="1" lang="es-419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 - actividad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</a:t>
            </a:r>
            <a:endParaRPr/>
          </a:p>
        </p:txBody>
      </p:sp>
      <p:pic>
        <p:nvPicPr>
          <p:cNvPr id="241" name="Google Shape;24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1339" y="104775"/>
            <a:ext cx="713004" cy="71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5262" y="681038"/>
            <a:ext cx="479821" cy="479822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5"/>
          <p:cNvSpPr txBox="1"/>
          <p:nvPr/>
        </p:nvSpPr>
        <p:spPr>
          <a:xfrm>
            <a:off x="583225" y="1054922"/>
            <a:ext cx="8340600" cy="3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nsolas"/>
              <a:buNone/>
            </a:pPr>
            <a:r>
              <a:rPr b="0" i="0" lang="es-419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inicializar los datos generales </a:t>
            </a:r>
            <a:endParaRPr sz="10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nsolas"/>
              <a:buNone/>
            </a:pPr>
            <a:r>
              <a:rPr b="0" i="0" lang="es-419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leer un auto</a:t>
            </a:r>
            <a:endParaRPr sz="10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nsolas"/>
              <a:buNone/>
            </a:pPr>
            <a:r>
              <a:rPr b="0" i="0" lang="es-419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s-419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 (no sea el final){</a:t>
            </a:r>
            <a:endParaRPr sz="10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nsolas"/>
              <a:buNone/>
            </a:pPr>
            <a:r>
              <a:rPr b="0" i="0" lang="es-419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inicializar los datos correspondientes a una marca</a:t>
            </a:r>
            <a:endParaRPr sz="10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nsolas"/>
              <a:buNone/>
            </a:pPr>
            <a:r>
              <a:rPr b="1" i="0" lang="es-419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while (sea la misma marca){</a:t>
            </a:r>
            <a:endParaRPr sz="10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nsolas"/>
              <a:buNone/>
            </a:pPr>
            <a:r>
              <a:rPr b="0" i="0" lang="es-419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proceso la marca</a:t>
            </a:r>
            <a:endParaRPr sz="10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nsolas"/>
              <a:buNone/>
            </a:pPr>
            <a:r>
              <a:rPr b="0" i="0" lang="es-419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leer un auto;</a:t>
            </a:r>
            <a:endParaRPr sz="10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nsolas"/>
              <a:buNone/>
            </a:pPr>
            <a:r>
              <a:rPr b="0" i="0" lang="es-419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-419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b="0" i="0" lang="es-419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0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nsolas"/>
              <a:buNone/>
            </a:pPr>
            <a:r>
              <a:rPr b="1" i="0" lang="es-419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 sz="10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nsolas"/>
              <a:buNone/>
            </a:pPr>
            <a:r>
              <a:rPr b="1" i="0" lang="es-419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informa la cantidad de autos de la marca</a:t>
            </a:r>
            <a:endParaRPr sz="10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nsolas"/>
              <a:buNone/>
            </a:pPr>
            <a:r>
              <a:rPr b="0" i="0" lang="es-419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-419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nsolas"/>
              <a:buNone/>
            </a:pPr>
            <a:r>
              <a:rPr b="1" i="0" lang="es-419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informa la cantidad total de autos</a:t>
            </a:r>
            <a:r>
              <a:rPr b="0" i="0" lang="es-419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419" sz="20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6"/>
          <p:cNvSpPr txBox="1"/>
          <p:nvPr/>
        </p:nvSpPr>
        <p:spPr>
          <a:xfrm>
            <a:off x="34925" y="4893469"/>
            <a:ext cx="18543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homa"/>
              <a:buNone/>
            </a:pPr>
            <a:r>
              <a:rPr b="1" i="0" lang="es-419" sz="10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7</a:t>
            </a:r>
            <a:endParaRPr/>
          </a:p>
        </p:txBody>
      </p:sp>
      <p:sp>
        <p:nvSpPr>
          <p:cNvPr id="250" name="Google Shape;250;p26"/>
          <p:cNvSpPr txBox="1"/>
          <p:nvPr/>
        </p:nvSpPr>
        <p:spPr>
          <a:xfrm>
            <a:off x="-11112" y="4854178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251" name="Google Shape;251;p26"/>
          <p:cNvSpPr txBox="1"/>
          <p:nvPr/>
        </p:nvSpPr>
        <p:spPr>
          <a:xfrm>
            <a:off x="8693150" y="4820840"/>
            <a:ext cx="4524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252" name="Google Shape;252;p26"/>
          <p:cNvSpPr txBox="1"/>
          <p:nvPr/>
        </p:nvSpPr>
        <p:spPr>
          <a:xfrm>
            <a:off x="188912" y="104775"/>
            <a:ext cx="84867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 de Datos – </a:t>
            </a:r>
            <a:r>
              <a:rPr b="1" lang="es-419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</a:t>
            </a: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</a:t>
            </a:r>
            <a:endParaRPr/>
          </a:p>
        </p:txBody>
      </p:sp>
      <p:pic>
        <p:nvPicPr>
          <p:cNvPr id="253" name="Google Shape;25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1339" y="104775"/>
            <a:ext cx="713004" cy="71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5262" y="681038"/>
            <a:ext cx="479821" cy="479822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6"/>
          <p:cNvSpPr txBox="1"/>
          <p:nvPr/>
        </p:nvSpPr>
        <p:spPr>
          <a:xfrm>
            <a:off x="675075" y="445069"/>
            <a:ext cx="8388300" cy="46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Auto a;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total, cantMarca;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string actual;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leer(a);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total = 0;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 (a.marca != "XXX") {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actual = a.marca;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cantMarca = 0;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while (actual == a.marca) {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cantMarca = cantMarca + 1;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leer(a);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total = total + cantMarca;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cout &lt;&lt; "La cantidad de la marca: " &lt;&lt; actual &lt;&lt; " es " &lt;&lt; cantMarca &lt;&lt; endl;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cout &lt;&lt; total &lt;&lt;endl;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6" name="Google Shape;256;p26"/>
          <p:cNvSpPr txBox="1"/>
          <p:nvPr/>
        </p:nvSpPr>
        <p:spPr>
          <a:xfrm rot="-728516">
            <a:off x="6109475" y="1053219"/>
            <a:ext cx="2534915" cy="94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C306"/>
              </a:buClr>
              <a:buSzPts val="2800"/>
              <a:buFont typeface="Architects Daughter"/>
              <a:buNone/>
            </a:pPr>
            <a:r>
              <a:rPr b="1" i="0" lang="es-419" sz="2800" u="none">
                <a:solidFill>
                  <a:srgbClr val="FEC306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Puedo informar a.marca?</a:t>
            </a:r>
            <a:endParaRPr/>
          </a:p>
        </p:txBody>
      </p:sp>
      <p:sp>
        <p:nvSpPr>
          <p:cNvPr id="257" name="Google Shape;257;p26"/>
          <p:cNvSpPr txBox="1"/>
          <p:nvPr/>
        </p:nvSpPr>
        <p:spPr>
          <a:xfrm rot="-180143">
            <a:off x="5075978" y="2505203"/>
            <a:ext cx="3820344" cy="9207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800"/>
              <a:buFont typeface="Architects Daughter"/>
              <a:buNone/>
            </a:pPr>
            <a:r>
              <a:rPr b="1" i="0" lang="es-419" sz="2800" u="none">
                <a:solidFill>
                  <a:srgbClr val="00B05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Qué modifico si quiero informar la marca que mas autos se leyó?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