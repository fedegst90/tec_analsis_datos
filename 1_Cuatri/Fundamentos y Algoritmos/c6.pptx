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Architects Daughter"/>
      <p:regular r:id="rId31"/>
    </p:embeddedFont>
    <p:embeddedFont>
      <p:font typeface="Tahoma"/>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chitectsDaughter-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Tahoma-bold.fntdata"/><Relationship Id="rId10" Type="http://schemas.openxmlformats.org/officeDocument/2006/relationships/slide" Target="slides/slide5.xml"/><Relationship Id="rId32" Type="http://schemas.openxmlformats.org/officeDocument/2006/relationships/font" Target="fonts/Tahoma-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9f5e61b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9f5e61b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9f5e61b7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9f5e61b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9f5e61b7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9f5e61b7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59f5e61b7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59f5e61b7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9f5e61b7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9f5e61b7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9f5e61b7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9f5e61b7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9f5e61b7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9f5e61b7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9f5e61b7f_0_97:notes"/>
          <p:cNvSpPr txBox="1"/>
          <p:nvPr>
            <p:ph idx="1" type="body"/>
          </p:nvPr>
        </p:nvSpPr>
        <p:spPr>
          <a:xfrm>
            <a:off x="922946" y="4352614"/>
            <a:ext cx="4999200" cy="40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59f5e61b7f_0_97:notes"/>
          <p:cNvSpPr/>
          <p:nvPr>
            <p:ph idx="2" type="sldImg"/>
          </p:nvPr>
        </p:nvSpPr>
        <p:spPr>
          <a:xfrm>
            <a:off x="72622" y="702035"/>
            <a:ext cx="6699900" cy="3440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59f5e61b7f_0_132:notes"/>
          <p:cNvSpPr txBox="1"/>
          <p:nvPr>
            <p:ph idx="1" type="body"/>
          </p:nvPr>
        </p:nvSpPr>
        <p:spPr>
          <a:xfrm>
            <a:off x="922946" y="4352614"/>
            <a:ext cx="4999200" cy="40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59f5e61b7f_0_132:notes"/>
          <p:cNvSpPr/>
          <p:nvPr>
            <p:ph idx="2" type="sldImg"/>
          </p:nvPr>
        </p:nvSpPr>
        <p:spPr>
          <a:xfrm>
            <a:off x="72622" y="702035"/>
            <a:ext cx="6699900" cy="3440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59f5e61b7f_0_59:notes"/>
          <p:cNvSpPr txBox="1"/>
          <p:nvPr>
            <p:ph idx="1" type="body"/>
          </p:nvPr>
        </p:nvSpPr>
        <p:spPr>
          <a:xfrm>
            <a:off x="922946" y="4352614"/>
            <a:ext cx="4999200" cy="40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59f5e61b7f_0_59:notes"/>
          <p:cNvSpPr/>
          <p:nvPr>
            <p:ph idx="2" type="sldImg"/>
          </p:nvPr>
        </p:nvSpPr>
        <p:spPr>
          <a:xfrm>
            <a:off x="72622" y="702035"/>
            <a:ext cx="6699900" cy="3440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59f5e61b7f_0_160:notes"/>
          <p:cNvSpPr txBox="1"/>
          <p:nvPr>
            <p:ph idx="1" type="body"/>
          </p:nvPr>
        </p:nvSpPr>
        <p:spPr>
          <a:xfrm>
            <a:off x="922946" y="4352614"/>
            <a:ext cx="4999200" cy="40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59f5e61b7f_0_160:notes"/>
          <p:cNvSpPr/>
          <p:nvPr>
            <p:ph idx="2" type="sldImg"/>
          </p:nvPr>
        </p:nvSpPr>
        <p:spPr>
          <a:xfrm>
            <a:off x="72622" y="702035"/>
            <a:ext cx="6699900" cy="3440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59f5e61b7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59f5e61b7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59f5e61b7f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59f5e61b7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9f5e61b7f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9f5e61b7f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9f5e61b7f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9f5e61b7f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59f5e61b7f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59f5e61b7f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9f5e61b7f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9f5e61b7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59f5e61b7f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59f5e61b7f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9f5e61b7f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59f5e61b7f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9f5e61b7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59f5e61b7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59f5e61b7f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59f5e61b7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59f5e61b7f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59f5e61b7f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9f5e61b7f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59f5e61b7f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59f5e61b7f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59f5e61b7f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2800"/>
              <a:buNone/>
              <a:defRPr/>
            </a:lvl1pPr>
            <a:lvl2pPr lvl="1" algn="l">
              <a:lnSpc>
                <a:spcPct val="90000"/>
              </a:lnSpc>
              <a:spcBef>
                <a:spcPts val="0"/>
              </a:spcBef>
              <a:spcAft>
                <a:spcPts val="0"/>
              </a:spcAft>
              <a:buSzPts val="2800"/>
              <a:buNone/>
              <a:defRPr/>
            </a:lvl2pPr>
            <a:lvl3pPr lvl="2" algn="l">
              <a:lnSpc>
                <a:spcPct val="90000"/>
              </a:lnSpc>
              <a:spcBef>
                <a:spcPts val="0"/>
              </a:spcBef>
              <a:spcAft>
                <a:spcPts val="0"/>
              </a:spcAft>
              <a:buSzPts val="2800"/>
              <a:buNone/>
              <a:defRPr/>
            </a:lvl3pPr>
            <a:lvl4pPr lvl="3" algn="l">
              <a:lnSpc>
                <a:spcPct val="90000"/>
              </a:lnSpc>
              <a:spcBef>
                <a:spcPts val="0"/>
              </a:spcBef>
              <a:spcAft>
                <a:spcPts val="0"/>
              </a:spcAft>
              <a:buSzPts val="2800"/>
              <a:buNone/>
              <a:defRPr/>
            </a:lvl4pPr>
            <a:lvl5pPr lvl="4" algn="l">
              <a:lnSpc>
                <a:spcPct val="90000"/>
              </a:lnSpc>
              <a:spcBef>
                <a:spcPts val="0"/>
              </a:spcBef>
              <a:spcAft>
                <a:spcPts val="0"/>
              </a:spcAft>
              <a:buSzPts val="2800"/>
              <a:buNone/>
              <a:defRPr/>
            </a:lvl5pPr>
            <a:lvl6pPr lvl="5" algn="l">
              <a:lnSpc>
                <a:spcPct val="90000"/>
              </a:lnSpc>
              <a:spcBef>
                <a:spcPts val="0"/>
              </a:spcBef>
              <a:spcAft>
                <a:spcPts val="0"/>
              </a:spcAft>
              <a:buSzPts val="2800"/>
              <a:buNone/>
              <a:defRPr/>
            </a:lvl6pPr>
            <a:lvl7pPr lvl="6" algn="l">
              <a:lnSpc>
                <a:spcPct val="90000"/>
              </a:lnSpc>
              <a:spcBef>
                <a:spcPts val="0"/>
              </a:spcBef>
              <a:spcAft>
                <a:spcPts val="0"/>
              </a:spcAft>
              <a:buSzPts val="2800"/>
              <a:buNone/>
              <a:defRPr/>
            </a:lvl7pPr>
            <a:lvl8pPr lvl="7" algn="l">
              <a:lnSpc>
                <a:spcPct val="90000"/>
              </a:lnSpc>
              <a:spcBef>
                <a:spcPts val="0"/>
              </a:spcBef>
              <a:spcAft>
                <a:spcPts val="0"/>
              </a:spcAft>
              <a:buSzPts val="2800"/>
              <a:buNone/>
              <a:defRPr/>
            </a:lvl8pPr>
            <a:lvl9pPr lvl="8" algn="l">
              <a:lnSpc>
                <a:spcPct val="90000"/>
              </a:lnSpc>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900"/>
              <a:buFont typeface="Tahoma"/>
              <a:buNone/>
              <a:defRPr b="0" i="0" sz="9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s-419"/>
              <a:t>‹#›</a:t>
            </a:fld>
            <a:endParaRPr sz="1000">
              <a:solidFill>
                <a:schemeClr val="dk2"/>
              </a:solidFill>
              <a:latin typeface="Arial"/>
              <a:ea typeface="Arial"/>
              <a:cs typeface="Arial"/>
              <a:sym typeface="Arial"/>
            </a:endParaRPr>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3.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0.png"/><Relationship Id="rId7" Type="http://schemas.openxmlformats.org/officeDocument/2006/relationships/image" Target="../media/image22.png"/><Relationship Id="rId8"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Modularización</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Temas de la clase de hoy</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s-419"/>
              <a:t>Modularización</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es-419"/>
              <a:t>Ejercicios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     </a:t>
            </a:r>
            <a:endParaRPr/>
          </a:p>
          <a:p>
            <a:pPr indent="0" lvl="0" marL="0" rtl="0" algn="l">
              <a:spcBef>
                <a:spcPts val="1200"/>
              </a:spcBef>
              <a:spcAft>
                <a:spcPts val="1200"/>
              </a:spcAft>
              <a:buNone/>
            </a:pPr>
            <a:r>
              <a:t/>
            </a:r>
            <a:endParaRPr/>
          </a:p>
        </p:txBody>
      </p:sp>
      <p:pic>
        <p:nvPicPr>
          <p:cNvPr id="74" name="Google Shape;74;p16"/>
          <p:cNvPicPr preferRelativeResize="0"/>
          <p:nvPr/>
        </p:nvPicPr>
        <p:blipFill rotWithShape="1">
          <a:blip r:embed="rId3">
            <a:alphaModFix/>
          </a:blip>
          <a:srcRect b="0" l="0" r="0" t="0"/>
          <a:stretch/>
        </p:blipFill>
        <p:spPr>
          <a:xfrm>
            <a:off x="0" y="1017725"/>
            <a:ext cx="9510999" cy="4125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2200">
                <a:solidFill>
                  <a:schemeClr val="dk1"/>
                </a:solidFill>
              </a:rPr>
              <a:t>Modularizar:</a:t>
            </a:r>
            <a:r>
              <a:rPr lang="es-419">
                <a:solidFill>
                  <a:schemeClr val="dk1"/>
                </a:solidFill>
              </a:rPr>
              <a:t> </a:t>
            </a:r>
            <a:r>
              <a:rPr lang="es-419" sz="2000">
                <a:solidFill>
                  <a:schemeClr val="dk1"/>
                </a:solidFill>
              </a:rPr>
              <a:t>Significa dividir un problema en partes funcionalmente independientes, que encapsulen operaciones y datos.</a:t>
            </a:r>
            <a:endParaRPr sz="1400"/>
          </a:p>
        </p:txBody>
      </p:sp>
      <p:sp>
        <p:nvSpPr>
          <p:cNvPr id="81" name="Google Shape;81;p17"/>
          <p:cNvSpPr txBox="1"/>
          <p:nvPr/>
        </p:nvSpPr>
        <p:spPr>
          <a:xfrm>
            <a:off x="496200" y="2571750"/>
            <a:ext cx="3707100" cy="205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2400"/>
              <a:buFont typeface="Architects Daughter"/>
              <a:buNone/>
            </a:pPr>
            <a:r>
              <a:rPr lang="es-419" sz="2100">
                <a:solidFill>
                  <a:schemeClr val="dk1"/>
                </a:solidFill>
                <a:latin typeface="Architects Daughter"/>
                <a:ea typeface="Architects Daughter"/>
                <a:cs typeface="Architects Daughter"/>
                <a:sym typeface="Architects Daughter"/>
              </a:rPr>
              <a:t>No se trata simplemente de subdividir el código de un sistema de software en bloques con un número de instrucciones dado.</a:t>
            </a:r>
            <a:endParaRPr sz="1500">
              <a:solidFill>
                <a:schemeClr val="dk2"/>
              </a:solidFill>
            </a:endParaRPr>
          </a:p>
        </p:txBody>
      </p:sp>
      <p:sp>
        <p:nvSpPr>
          <p:cNvPr id="82" name="Google Shape;82;p17"/>
          <p:cNvSpPr txBox="1"/>
          <p:nvPr/>
        </p:nvSpPr>
        <p:spPr>
          <a:xfrm>
            <a:off x="4654775" y="2579200"/>
            <a:ext cx="3707100" cy="1805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2400"/>
              <a:buFont typeface="Architects Daughter"/>
              <a:buNone/>
            </a:pPr>
            <a:r>
              <a:rPr lang="es-419" sz="2000">
                <a:solidFill>
                  <a:schemeClr val="dk1"/>
                </a:solidFill>
                <a:latin typeface="Architects Daughter"/>
                <a:ea typeface="Architects Daughter"/>
                <a:cs typeface="Architects Daughter"/>
                <a:sym typeface="Architects Daughter"/>
              </a:rPr>
              <a:t>Separar en funciones lógicas con datos propios y datos de comunicación perfectamente especificados</a:t>
            </a:r>
            <a:endParaRPr>
              <a:solidFill>
                <a:schemeClr val="dk2"/>
              </a:solidFill>
            </a:endParaRPr>
          </a:p>
        </p:txBody>
      </p:sp>
      <p:pic>
        <p:nvPicPr>
          <p:cNvPr descr="tick (proporcionada por Getty Images)" id="83" name="Google Shape;83;p17"/>
          <p:cNvPicPr preferRelativeResize="0"/>
          <p:nvPr/>
        </p:nvPicPr>
        <p:blipFill>
          <a:blip r:embed="rId3">
            <a:alphaModFix/>
          </a:blip>
          <a:stretch>
            <a:fillRect/>
          </a:stretch>
        </p:blipFill>
        <p:spPr>
          <a:xfrm>
            <a:off x="5885950" y="4056600"/>
            <a:ext cx="889149" cy="889149"/>
          </a:xfrm>
          <a:prstGeom prst="rect">
            <a:avLst/>
          </a:prstGeom>
          <a:noFill/>
          <a:ln>
            <a:noFill/>
          </a:ln>
        </p:spPr>
      </p:pic>
      <p:pic>
        <p:nvPicPr>
          <p:cNvPr descr="3D Wrong Button in Circle Shape. (proporcionada por Getty Images)" id="84" name="Google Shape;84;p17"/>
          <p:cNvPicPr preferRelativeResize="0"/>
          <p:nvPr/>
        </p:nvPicPr>
        <p:blipFill>
          <a:blip r:embed="rId4">
            <a:alphaModFix/>
          </a:blip>
          <a:stretch>
            <a:fillRect/>
          </a:stretch>
        </p:blipFill>
        <p:spPr>
          <a:xfrm>
            <a:off x="1498250" y="4306250"/>
            <a:ext cx="639498" cy="6394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2100">
                <a:solidFill>
                  <a:schemeClr val="dk1"/>
                </a:solidFill>
              </a:rPr>
              <a:t>Modularizar</a:t>
            </a:r>
            <a:endParaRPr b="1" sz="2100">
              <a:solidFill>
                <a:schemeClr val="dk1"/>
              </a:solidFill>
            </a:endParaRPr>
          </a:p>
          <a:p>
            <a:pPr indent="-311150" lvl="0" marL="457200" rtl="0" algn="just">
              <a:lnSpc>
                <a:spcPct val="100000"/>
              </a:lnSpc>
              <a:spcBef>
                <a:spcPts val="1200"/>
              </a:spcBef>
              <a:spcAft>
                <a:spcPts val="0"/>
              </a:spcAft>
              <a:buClr>
                <a:schemeClr val="dk1"/>
              </a:buClr>
              <a:buSzPts val="1300"/>
              <a:buChar char="●"/>
            </a:pPr>
            <a:r>
              <a:rPr lang="es-419" sz="2200">
                <a:solidFill>
                  <a:schemeClr val="dk1"/>
                </a:solidFill>
                <a:latin typeface="Architects Daughter"/>
                <a:ea typeface="Architects Daughter"/>
                <a:cs typeface="Architects Daughter"/>
                <a:sym typeface="Architects Daughter"/>
              </a:rPr>
              <a:t>Cada subproblema está en un mismo nivel de detalle.</a:t>
            </a:r>
            <a:endParaRPr sz="2200">
              <a:solidFill>
                <a:schemeClr val="dk1"/>
              </a:solidFill>
              <a:latin typeface="Architects Daughter"/>
              <a:ea typeface="Architects Daughter"/>
              <a:cs typeface="Architects Daughter"/>
              <a:sym typeface="Architects Daughter"/>
            </a:endParaRPr>
          </a:p>
          <a:p>
            <a:pPr indent="0" lvl="0" marL="457200" rtl="0" algn="just">
              <a:lnSpc>
                <a:spcPct val="100000"/>
              </a:lnSpc>
              <a:spcBef>
                <a:spcPts val="0"/>
              </a:spcBef>
              <a:spcAft>
                <a:spcPts val="0"/>
              </a:spcAft>
              <a:buNone/>
            </a:pPr>
            <a:r>
              <a:t/>
            </a:r>
            <a:endParaRPr sz="2200">
              <a:solidFill>
                <a:schemeClr val="dk1"/>
              </a:solidFill>
              <a:latin typeface="Architects Daughter"/>
              <a:ea typeface="Architects Daughter"/>
              <a:cs typeface="Architects Daughter"/>
              <a:sym typeface="Architects Daughter"/>
            </a:endParaRPr>
          </a:p>
          <a:p>
            <a:pPr indent="-317500" lvl="0" marL="457200" rtl="0" algn="just">
              <a:lnSpc>
                <a:spcPct val="100000"/>
              </a:lnSpc>
              <a:spcBef>
                <a:spcPts val="0"/>
              </a:spcBef>
              <a:spcAft>
                <a:spcPts val="0"/>
              </a:spcAft>
              <a:buClr>
                <a:schemeClr val="dk1"/>
              </a:buClr>
              <a:buSzPts val="1400"/>
              <a:buFont typeface="Architects Daughter"/>
              <a:buChar char="●"/>
            </a:pPr>
            <a:r>
              <a:rPr lang="es-419" sz="2200">
                <a:solidFill>
                  <a:schemeClr val="dk1"/>
                </a:solidFill>
                <a:latin typeface="Architects Daughter"/>
                <a:ea typeface="Architects Daughter"/>
                <a:cs typeface="Architects Daughter"/>
                <a:sym typeface="Architects Daughter"/>
              </a:rPr>
              <a:t>Cada subproblema puede resolverse independientemente.</a:t>
            </a:r>
            <a:endParaRPr sz="2200">
              <a:solidFill>
                <a:schemeClr val="dk1"/>
              </a:solidFill>
              <a:latin typeface="Architects Daughter"/>
              <a:ea typeface="Architects Daughter"/>
              <a:cs typeface="Architects Daughter"/>
              <a:sym typeface="Architects Daughter"/>
            </a:endParaRPr>
          </a:p>
          <a:p>
            <a:pPr indent="0" lvl="0" marL="457200" rtl="0" algn="just">
              <a:lnSpc>
                <a:spcPct val="100000"/>
              </a:lnSpc>
              <a:spcBef>
                <a:spcPts val="0"/>
              </a:spcBef>
              <a:spcAft>
                <a:spcPts val="0"/>
              </a:spcAft>
              <a:buNone/>
            </a:pPr>
            <a:r>
              <a:t/>
            </a:r>
            <a:endParaRPr sz="2200">
              <a:solidFill>
                <a:schemeClr val="dk1"/>
              </a:solidFill>
              <a:latin typeface="Architects Daughter"/>
              <a:ea typeface="Architects Daughter"/>
              <a:cs typeface="Architects Daughter"/>
              <a:sym typeface="Architects Daughter"/>
            </a:endParaRPr>
          </a:p>
          <a:p>
            <a:pPr indent="-317500" lvl="0" marL="457200" rtl="0" algn="just">
              <a:lnSpc>
                <a:spcPct val="100000"/>
              </a:lnSpc>
              <a:spcBef>
                <a:spcPts val="0"/>
              </a:spcBef>
              <a:spcAft>
                <a:spcPts val="0"/>
              </a:spcAft>
              <a:buClr>
                <a:schemeClr val="dk1"/>
              </a:buClr>
              <a:buSzPts val="1400"/>
              <a:buFont typeface="Architects Daughter"/>
              <a:buChar char="●"/>
            </a:pPr>
            <a:r>
              <a:rPr lang="es-419" sz="2200">
                <a:solidFill>
                  <a:schemeClr val="dk1"/>
                </a:solidFill>
                <a:latin typeface="Architects Daughter"/>
                <a:ea typeface="Architects Daughter"/>
                <a:cs typeface="Architects Daughter"/>
                <a:sym typeface="Architects Daughter"/>
              </a:rPr>
              <a:t>Las soluciones de los subproblemas puede combinarse para resolver el problema original.</a:t>
            </a:r>
            <a:endParaRPr sz="1400">
              <a:solidFill>
                <a:schemeClr val="dk1"/>
              </a:solidFill>
              <a:latin typeface="Architects Daughter"/>
              <a:ea typeface="Architects Daughter"/>
              <a:cs typeface="Architects Daughter"/>
              <a:sym typeface="Architects Daugh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 - Módulo</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Clr>
                <a:schemeClr val="dk1"/>
              </a:buClr>
              <a:buSzPts val="2400"/>
              <a:buFont typeface="Architects Daughter"/>
              <a:buNone/>
            </a:pPr>
            <a:r>
              <a:rPr lang="es-419" sz="2000">
                <a:solidFill>
                  <a:schemeClr val="dk1"/>
                </a:solidFill>
              </a:rPr>
              <a:t>Significa dividir un problema en partes funcionalmente independientes, que encapsulen operaciones y datos.</a:t>
            </a:r>
            <a:endParaRPr sz="1400"/>
          </a:p>
        </p:txBody>
      </p:sp>
      <p:sp>
        <p:nvSpPr>
          <p:cNvPr id="97" name="Google Shape;97;p19"/>
          <p:cNvSpPr txBox="1"/>
          <p:nvPr/>
        </p:nvSpPr>
        <p:spPr>
          <a:xfrm>
            <a:off x="4004250" y="2045725"/>
            <a:ext cx="11355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Módulo</a:t>
            </a:r>
            <a:endParaRPr sz="1800">
              <a:solidFill>
                <a:schemeClr val="dk2"/>
              </a:solidFill>
            </a:endParaRPr>
          </a:p>
        </p:txBody>
      </p:sp>
      <p:sp>
        <p:nvSpPr>
          <p:cNvPr id="98" name="Google Shape;98;p19"/>
          <p:cNvSpPr txBox="1"/>
          <p:nvPr/>
        </p:nvSpPr>
        <p:spPr>
          <a:xfrm>
            <a:off x="564600" y="2975925"/>
            <a:ext cx="2776800" cy="216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2200"/>
              <a:buFont typeface="Architects Daughter"/>
              <a:buNone/>
            </a:pPr>
            <a:r>
              <a:rPr lang="es-419" sz="1900">
                <a:solidFill>
                  <a:schemeClr val="dk1"/>
                </a:solidFill>
                <a:latin typeface="Architects Daughter"/>
                <a:ea typeface="Architects Daughter"/>
                <a:cs typeface="Architects Daughter"/>
                <a:sym typeface="Architects Daughter"/>
              </a:rPr>
              <a:t>Tarea específica bien definida se comunican entre sí adecuadamente y cooperan para conseguir un objetivo común.</a:t>
            </a:r>
            <a:endParaRPr sz="1500">
              <a:solidFill>
                <a:schemeClr val="dk2"/>
              </a:solidFill>
            </a:endParaRPr>
          </a:p>
        </p:txBody>
      </p:sp>
      <p:sp>
        <p:nvSpPr>
          <p:cNvPr id="99" name="Google Shape;99;p19"/>
          <p:cNvSpPr txBox="1"/>
          <p:nvPr/>
        </p:nvSpPr>
        <p:spPr>
          <a:xfrm>
            <a:off x="3683525" y="3099025"/>
            <a:ext cx="1846800" cy="166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2200"/>
              <a:buFont typeface="Architects Daughter"/>
              <a:buNone/>
            </a:pPr>
            <a:r>
              <a:rPr lang="es-419" sz="1900">
                <a:solidFill>
                  <a:schemeClr val="dk1"/>
                </a:solidFill>
                <a:latin typeface="Architects Daughter"/>
                <a:ea typeface="Architects Daughter"/>
                <a:cs typeface="Architects Daughter"/>
                <a:sym typeface="Architects Daughter"/>
              </a:rPr>
              <a:t>Encapsula acciones tareas o funciones</a:t>
            </a:r>
            <a:endParaRPr sz="1500">
              <a:solidFill>
                <a:schemeClr val="dk2"/>
              </a:solidFill>
            </a:endParaRPr>
          </a:p>
        </p:txBody>
      </p:sp>
      <p:sp>
        <p:nvSpPr>
          <p:cNvPr id="100" name="Google Shape;100;p19"/>
          <p:cNvSpPr txBox="1"/>
          <p:nvPr/>
        </p:nvSpPr>
        <p:spPr>
          <a:xfrm>
            <a:off x="6036400" y="3099025"/>
            <a:ext cx="2872800" cy="166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2200"/>
              <a:buFont typeface="Architects Daughter"/>
              <a:buNone/>
            </a:pPr>
            <a:r>
              <a:rPr lang="es-419" sz="1900">
                <a:solidFill>
                  <a:schemeClr val="dk1"/>
                </a:solidFill>
                <a:latin typeface="Architects Daughter"/>
                <a:ea typeface="Architects Daughter"/>
                <a:cs typeface="Architects Daughter"/>
                <a:sym typeface="Architects Daughter"/>
              </a:rPr>
              <a:t>En ellos se pueden representar los objetivos relevantes del problema a resolver.</a:t>
            </a:r>
            <a:endParaRPr sz="1500">
              <a:solidFill>
                <a:schemeClr val="dk2"/>
              </a:solidFill>
            </a:endParaRPr>
          </a:p>
        </p:txBody>
      </p:sp>
      <p:cxnSp>
        <p:nvCxnSpPr>
          <p:cNvPr id="101" name="Google Shape;101;p19"/>
          <p:cNvCxnSpPr>
            <a:stCxn id="97" idx="1"/>
            <a:endCxn id="98" idx="0"/>
          </p:cNvCxnSpPr>
          <p:nvPr/>
        </p:nvCxnSpPr>
        <p:spPr>
          <a:xfrm flipH="1">
            <a:off x="1952850" y="2250925"/>
            <a:ext cx="2051400" cy="725100"/>
          </a:xfrm>
          <a:prstGeom prst="straightConnector1">
            <a:avLst/>
          </a:prstGeom>
          <a:noFill/>
          <a:ln cap="flat" cmpd="sng" w="9525">
            <a:solidFill>
              <a:schemeClr val="dk2"/>
            </a:solidFill>
            <a:prstDash val="solid"/>
            <a:round/>
            <a:headEnd len="med" w="med" type="none"/>
            <a:tailEnd len="med" w="med" type="triangle"/>
          </a:ln>
        </p:spPr>
      </p:cxnSp>
      <p:cxnSp>
        <p:nvCxnSpPr>
          <p:cNvPr id="102" name="Google Shape;102;p19"/>
          <p:cNvCxnSpPr>
            <a:stCxn id="97" idx="2"/>
            <a:endCxn id="99" idx="0"/>
          </p:cNvCxnSpPr>
          <p:nvPr/>
        </p:nvCxnSpPr>
        <p:spPr>
          <a:xfrm>
            <a:off x="4572000" y="2456125"/>
            <a:ext cx="34800" cy="642900"/>
          </a:xfrm>
          <a:prstGeom prst="straightConnector1">
            <a:avLst/>
          </a:prstGeom>
          <a:noFill/>
          <a:ln cap="flat" cmpd="sng" w="9525">
            <a:solidFill>
              <a:schemeClr val="dk2"/>
            </a:solidFill>
            <a:prstDash val="solid"/>
            <a:round/>
            <a:headEnd len="med" w="med" type="none"/>
            <a:tailEnd len="med" w="med" type="triangle"/>
          </a:ln>
        </p:spPr>
      </p:cxnSp>
      <p:cxnSp>
        <p:nvCxnSpPr>
          <p:cNvPr id="103" name="Google Shape;103;p19"/>
          <p:cNvCxnSpPr>
            <a:stCxn id="97" idx="3"/>
            <a:endCxn id="100" idx="0"/>
          </p:cNvCxnSpPr>
          <p:nvPr/>
        </p:nvCxnSpPr>
        <p:spPr>
          <a:xfrm>
            <a:off x="5139750" y="2250925"/>
            <a:ext cx="2333100" cy="848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a:t>
            </a:r>
            <a:endParaRPr/>
          </a:p>
        </p:txBody>
      </p:sp>
      <p:sp>
        <p:nvSpPr>
          <p:cNvPr id="109" name="Google Shape;10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   </a:t>
            </a:r>
            <a:endParaRPr/>
          </a:p>
        </p:txBody>
      </p:sp>
      <p:pic>
        <p:nvPicPr>
          <p:cNvPr id="110" name="Google Shape;110;p20"/>
          <p:cNvPicPr preferRelativeResize="0"/>
          <p:nvPr/>
        </p:nvPicPr>
        <p:blipFill rotWithShape="1">
          <a:blip r:embed="rId3">
            <a:alphaModFix/>
          </a:blip>
          <a:srcRect b="0" l="0" r="0" t="0"/>
          <a:stretch/>
        </p:blipFill>
        <p:spPr>
          <a:xfrm>
            <a:off x="517575" y="1249350"/>
            <a:ext cx="8108848" cy="3743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Modularización</a:t>
            </a:r>
            <a:endParaRPr/>
          </a:p>
        </p:txBody>
      </p:sp>
      <p:sp>
        <p:nvSpPr>
          <p:cNvPr id="116" name="Google Shape;11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  </a:t>
            </a:r>
            <a:endParaRPr/>
          </a:p>
        </p:txBody>
      </p:sp>
      <p:pic>
        <p:nvPicPr>
          <p:cNvPr id="117" name="Google Shape;117;p21"/>
          <p:cNvPicPr preferRelativeResize="0"/>
          <p:nvPr/>
        </p:nvPicPr>
        <p:blipFill rotWithShape="1">
          <a:blip r:embed="rId3">
            <a:alphaModFix/>
          </a:blip>
          <a:srcRect b="0" l="0" r="0" t="0"/>
          <a:stretch/>
        </p:blipFill>
        <p:spPr>
          <a:xfrm>
            <a:off x="143663" y="1076903"/>
            <a:ext cx="8856674" cy="3992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nvSpPr>
        <p:spPr>
          <a:xfrm>
            <a:off x="7956550" y="4827984"/>
            <a:ext cx="5730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Tahoma"/>
              <a:buNone/>
            </a:pPr>
            <a:fld id="{00000000-1234-1234-1234-123412341234}" type="slidenum">
              <a:rPr b="0" i="0" lang="es-419" sz="1200" u="none">
                <a:solidFill>
                  <a:schemeClr val="lt1"/>
                </a:solidFill>
                <a:latin typeface="Tahoma"/>
                <a:ea typeface="Tahoma"/>
                <a:cs typeface="Tahoma"/>
                <a:sym typeface="Tahoma"/>
              </a:rPr>
              <a:t>‹#›</a:t>
            </a:fld>
            <a:endParaRPr/>
          </a:p>
        </p:txBody>
      </p:sp>
      <p:sp>
        <p:nvSpPr>
          <p:cNvPr id="123" name="Google Shape;123;p22"/>
          <p:cNvSpPr txBox="1"/>
          <p:nvPr/>
        </p:nvSpPr>
        <p:spPr>
          <a:xfrm>
            <a:off x="3922712" y="4851797"/>
            <a:ext cx="766800" cy="277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900"/>
              <a:buFont typeface="Tahoma"/>
              <a:buNone/>
            </a:pPr>
            <a:r>
              <a:rPr b="0" i="0" lang="es-419" sz="900" u="none">
                <a:solidFill>
                  <a:schemeClr val="lt1"/>
                </a:solidFill>
                <a:latin typeface="Tahoma"/>
                <a:ea typeface="Tahoma"/>
                <a:cs typeface="Tahoma"/>
                <a:sym typeface="Tahoma"/>
              </a:rPr>
              <a:t>CADP</a:t>
            </a:r>
            <a:endParaRPr/>
          </a:p>
        </p:txBody>
      </p:sp>
      <p:sp>
        <p:nvSpPr>
          <p:cNvPr id="124" name="Google Shape;124;p22"/>
          <p:cNvSpPr txBox="1"/>
          <p:nvPr>
            <p:ph type="title"/>
          </p:nvPr>
        </p:nvSpPr>
        <p:spPr>
          <a:xfrm>
            <a:off x="179387" y="228600"/>
            <a:ext cx="8488500" cy="521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i="0" lang="es-419" sz="2500" u="none">
                <a:solidFill>
                  <a:schemeClr val="dk1"/>
                </a:solidFill>
              </a:rPr>
              <a:t>Modularización</a:t>
            </a:r>
            <a:r>
              <a:rPr b="1" i="0" lang="es-419" sz="3200" u="none">
                <a:solidFill>
                  <a:schemeClr val="dk1"/>
                </a:solidFill>
                <a:latin typeface="Calibri"/>
                <a:ea typeface="Calibri"/>
                <a:cs typeface="Calibri"/>
                <a:sym typeface="Calibri"/>
              </a:rPr>
              <a:t> </a:t>
            </a:r>
            <a:endParaRPr/>
          </a:p>
        </p:txBody>
      </p:sp>
      <p:sp>
        <p:nvSpPr>
          <p:cNvPr id="125" name="Google Shape;125;p22"/>
          <p:cNvSpPr txBox="1"/>
          <p:nvPr/>
        </p:nvSpPr>
        <p:spPr>
          <a:xfrm>
            <a:off x="6948487" y="4836319"/>
            <a:ext cx="20574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800"/>
              <a:buFont typeface="Tahoma"/>
              <a:buNone/>
            </a:pPr>
            <a:r>
              <a:rPr b="0" i="0" lang="es-419" sz="800" u="none">
                <a:solidFill>
                  <a:srgbClr val="898989"/>
                </a:solidFill>
                <a:latin typeface="Tahoma"/>
                <a:ea typeface="Tahoma"/>
                <a:cs typeface="Tahoma"/>
                <a:sym typeface="Tahoma"/>
              </a:rPr>
              <a:t>10</a:t>
            </a:r>
            <a:endParaRPr/>
          </a:p>
        </p:txBody>
      </p:sp>
      <p:sp>
        <p:nvSpPr>
          <p:cNvPr id="126" name="Google Shape;126;p22"/>
          <p:cNvSpPr txBox="1"/>
          <p:nvPr/>
        </p:nvSpPr>
        <p:spPr>
          <a:xfrm>
            <a:off x="457200" y="4836319"/>
            <a:ext cx="2133600" cy="27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t/>
            </a:r>
            <a:endParaRPr/>
          </a:p>
        </p:txBody>
      </p:sp>
      <p:pic>
        <p:nvPicPr>
          <p:cNvPr id="127" name="Google Shape;127;p22"/>
          <p:cNvPicPr preferRelativeResize="0"/>
          <p:nvPr/>
        </p:nvPicPr>
        <p:blipFill rotWithShape="1">
          <a:blip r:embed="rId3">
            <a:alphaModFix/>
          </a:blip>
          <a:srcRect b="0" l="0" r="0" t="0"/>
          <a:stretch/>
        </p:blipFill>
        <p:spPr>
          <a:xfrm>
            <a:off x="2050713" y="2320000"/>
            <a:ext cx="4745832" cy="3227784"/>
          </a:xfrm>
          <a:prstGeom prst="rect">
            <a:avLst/>
          </a:prstGeom>
          <a:noFill/>
          <a:ln>
            <a:noFill/>
          </a:ln>
        </p:spPr>
      </p:pic>
      <p:pic>
        <p:nvPicPr>
          <p:cNvPr id="128" name="Google Shape;128;p22"/>
          <p:cNvPicPr preferRelativeResize="0"/>
          <p:nvPr/>
        </p:nvPicPr>
        <p:blipFill rotWithShape="1">
          <a:blip r:embed="rId4">
            <a:alphaModFix/>
          </a:blip>
          <a:srcRect b="0" l="0" r="0" t="0"/>
          <a:stretch/>
        </p:blipFill>
        <p:spPr>
          <a:xfrm>
            <a:off x="396868" y="2733569"/>
            <a:ext cx="1763166" cy="1322639"/>
          </a:xfrm>
          <a:prstGeom prst="rect">
            <a:avLst/>
          </a:prstGeom>
          <a:noFill/>
          <a:ln>
            <a:noFill/>
          </a:ln>
        </p:spPr>
      </p:pic>
      <p:pic>
        <p:nvPicPr>
          <p:cNvPr id="129" name="Google Shape;129;p22"/>
          <p:cNvPicPr preferRelativeResize="0"/>
          <p:nvPr/>
        </p:nvPicPr>
        <p:blipFill rotWithShape="1">
          <a:blip r:embed="rId5">
            <a:alphaModFix/>
          </a:blip>
          <a:srcRect b="0" l="0" r="0" t="0"/>
          <a:stretch/>
        </p:blipFill>
        <p:spPr>
          <a:xfrm flipH="1">
            <a:off x="6766022" y="2571748"/>
            <a:ext cx="1763519" cy="1322463"/>
          </a:xfrm>
          <a:prstGeom prst="rect">
            <a:avLst/>
          </a:prstGeom>
          <a:noFill/>
          <a:ln>
            <a:noFill/>
          </a:ln>
        </p:spPr>
      </p:pic>
      <p:sp>
        <p:nvSpPr>
          <p:cNvPr id="130" name="Google Shape;130;p22"/>
          <p:cNvSpPr txBox="1"/>
          <p:nvPr/>
        </p:nvSpPr>
        <p:spPr>
          <a:xfrm>
            <a:off x="179387" y="750094"/>
            <a:ext cx="5819700" cy="156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chitects Daughter"/>
              <a:buNone/>
            </a:pPr>
            <a:r>
              <a:rPr i="0" lang="es-419" sz="1800" u="none">
                <a:solidFill>
                  <a:srgbClr val="000000"/>
                </a:solidFill>
              </a:rPr>
              <a:t>Al dividir un sistema de software en módulos funcionalmente independientes, un equipo de desarrollo puede trabajar simultáneamente en varios módulos, incrementando la productividad (es decir reduciendo el tiempo de desarrollo global del sistema)</a:t>
            </a:r>
            <a:r>
              <a:rPr b="1" i="0" lang="es-419" sz="2400" u="none">
                <a:solidFill>
                  <a:srgbClr val="000000"/>
                </a:solidFill>
                <a:latin typeface="Architects Daughter"/>
                <a:ea typeface="Architects Daughter"/>
                <a:cs typeface="Architects Daughter"/>
                <a:sym typeface="Architects Daughter"/>
              </a:rPr>
              <a:t>. </a:t>
            </a:r>
            <a:endParaRPr/>
          </a:p>
        </p:txBody>
      </p:sp>
      <p:sp>
        <p:nvSpPr>
          <p:cNvPr id="131" name="Google Shape;131;p22"/>
          <p:cNvSpPr txBox="1"/>
          <p:nvPr/>
        </p:nvSpPr>
        <p:spPr>
          <a:xfrm>
            <a:off x="5940425" y="1113234"/>
            <a:ext cx="30447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3399"/>
              </a:buClr>
              <a:buSzPts val="3600"/>
              <a:buFont typeface="Architects Daughter"/>
              <a:buNone/>
            </a:pPr>
            <a:r>
              <a:rPr b="1" i="0" lang="es-419" sz="3600" u="none">
                <a:solidFill>
                  <a:schemeClr val="dk1"/>
                </a:solidFill>
                <a:latin typeface="Architects Daughter"/>
                <a:ea typeface="Architects Daughter"/>
                <a:cs typeface="Architects Daughter"/>
                <a:sym typeface="Architects Daughter"/>
              </a:rPr>
              <a:t>Mayor productividad</a:t>
            </a:r>
            <a:endParaRPr>
              <a:solidFill>
                <a:schemeClr val="dk1"/>
              </a:solidFil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nvSpPr>
        <p:spPr>
          <a:xfrm>
            <a:off x="7956550" y="4827984"/>
            <a:ext cx="5730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Tahoma"/>
              <a:buNone/>
            </a:pPr>
            <a:fld id="{00000000-1234-1234-1234-123412341234}" type="slidenum">
              <a:rPr b="0" i="0" lang="es-419" sz="1200" u="none">
                <a:solidFill>
                  <a:schemeClr val="lt1"/>
                </a:solidFill>
                <a:latin typeface="Tahoma"/>
                <a:ea typeface="Tahoma"/>
                <a:cs typeface="Tahoma"/>
                <a:sym typeface="Tahoma"/>
              </a:rPr>
              <a:t>‹#›</a:t>
            </a:fld>
            <a:endParaRPr/>
          </a:p>
        </p:txBody>
      </p:sp>
      <p:sp>
        <p:nvSpPr>
          <p:cNvPr id="137" name="Google Shape;137;p23"/>
          <p:cNvSpPr txBox="1"/>
          <p:nvPr/>
        </p:nvSpPr>
        <p:spPr>
          <a:xfrm>
            <a:off x="3922712" y="4851797"/>
            <a:ext cx="766800" cy="277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900"/>
              <a:buFont typeface="Tahoma"/>
              <a:buNone/>
            </a:pPr>
            <a:r>
              <a:rPr b="0" i="0" lang="es-419" sz="900" u="none">
                <a:solidFill>
                  <a:schemeClr val="lt1"/>
                </a:solidFill>
                <a:latin typeface="Tahoma"/>
                <a:ea typeface="Tahoma"/>
                <a:cs typeface="Tahoma"/>
                <a:sym typeface="Tahoma"/>
              </a:rPr>
              <a:t>CADP</a:t>
            </a:r>
            <a:endParaRPr/>
          </a:p>
        </p:txBody>
      </p:sp>
      <p:sp>
        <p:nvSpPr>
          <p:cNvPr id="138" name="Google Shape;138;p23"/>
          <p:cNvSpPr txBox="1"/>
          <p:nvPr>
            <p:ph type="title"/>
          </p:nvPr>
        </p:nvSpPr>
        <p:spPr>
          <a:xfrm>
            <a:off x="179387" y="228600"/>
            <a:ext cx="8488500" cy="521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i="0" lang="es-419" sz="2500" u="none">
                <a:solidFill>
                  <a:schemeClr val="dk1"/>
                </a:solidFill>
              </a:rPr>
              <a:t>Modularización </a:t>
            </a:r>
            <a:endParaRPr sz="2100"/>
          </a:p>
        </p:txBody>
      </p:sp>
      <p:sp>
        <p:nvSpPr>
          <p:cNvPr id="139" name="Google Shape;139;p23"/>
          <p:cNvSpPr txBox="1"/>
          <p:nvPr/>
        </p:nvSpPr>
        <p:spPr>
          <a:xfrm>
            <a:off x="6948487" y="4836319"/>
            <a:ext cx="20574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800"/>
              <a:buFont typeface="Tahoma"/>
              <a:buNone/>
            </a:pPr>
            <a:r>
              <a:rPr b="0" i="0" lang="es-419" sz="800" u="none">
                <a:solidFill>
                  <a:srgbClr val="898989"/>
                </a:solidFill>
                <a:latin typeface="Tahoma"/>
                <a:ea typeface="Tahoma"/>
                <a:cs typeface="Tahoma"/>
                <a:sym typeface="Tahoma"/>
              </a:rPr>
              <a:t>11</a:t>
            </a:r>
            <a:endParaRPr/>
          </a:p>
        </p:txBody>
      </p:sp>
      <p:sp>
        <p:nvSpPr>
          <p:cNvPr id="140" name="Google Shape;140;p23"/>
          <p:cNvSpPr txBox="1"/>
          <p:nvPr/>
        </p:nvSpPr>
        <p:spPr>
          <a:xfrm>
            <a:off x="457200" y="4836319"/>
            <a:ext cx="2133600" cy="27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t/>
            </a:r>
            <a:endParaRPr/>
          </a:p>
        </p:txBody>
      </p:sp>
      <p:pic>
        <p:nvPicPr>
          <p:cNvPr id="141" name="Google Shape;141;p23"/>
          <p:cNvPicPr preferRelativeResize="0"/>
          <p:nvPr/>
        </p:nvPicPr>
        <p:blipFill rotWithShape="1">
          <a:blip r:embed="rId3">
            <a:alphaModFix/>
          </a:blip>
          <a:srcRect b="0" l="0" r="0" t="0"/>
          <a:stretch/>
        </p:blipFill>
        <p:spPr>
          <a:xfrm>
            <a:off x="1755775" y="2390775"/>
            <a:ext cx="4745832" cy="3227784"/>
          </a:xfrm>
          <a:prstGeom prst="rect">
            <a:avLst/>
          </a:prstGeom>
          <a:noFill/>
          <a:ln>
            <a:noFill/>
          </a:ln>
        </p:spPr>
      </p:pic>
      <p:sp>
        <p:nvSpPr>
          <p:cNvPr id="142" name="Google Shape;142;p23"/>
          <p:cNvSpPr txBox="1"/>
          <p:nvPr/>
        </p:nvSpPr>
        <p:spPr>
          <a:xfrm>
            <a:off x="179387" y="750094"/>
            <a:ext cx="5819700" cy="1847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chitects Daughter"/>
              <a:buNone/>
            </a:pPr>
            <a:r>
              <a:rPr i="0" lang="es-419" sz="1900" u="none">
                <a:solidFill>
                  <a:srgbClr val="000000"/>
                </a:solidFill>
              </a:rPr>
              <a:t>Un objetivo fundamental de la Ingeniería de Software es la reusabilidad, es decir la posibilidad de utilizar repetidamente el producto de software desarrollado. Naturalmente la descomposición funcional que ofrece la modularización favorece el reuso. </a:t>
            </a:r>
            <a:endParaRPr sz="900"/>
          </a:p>
        </p:txBody>
      </p:sp>
      <p:sp>
        <p:nvSpPr>
          <p:cNvPr id="143" name="Google Shape;143;p23"/>
          <p:cNvSpPr txBox="1"/>
          <p:nvPr/>
        </p:nvSpPr>
        <p:spPr>
          <a:xfrm>
            <a:off x="5940425" y="1113234"/>
            <a:ext cx="30447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3399"/>
              </a:buClr>
              <a:buSzPts val="3600"/>
              <a:buFont typeface="Architects Daughter"/>
              <a:buNone/>
            </a:pPr>
            <a:r>
              <a:rPr b="1" i="0" lang="es-419" sz="3600" u="none">
                <a:solidFill>
                  <a:schemeClr val="dk1"/>
                </a:solidFill>
                <a:latin typeface="Architects Daughter"/>
                <a:ea typeface="Architects Daughter"/>
                <a:cs typeface="Architects Daughter"/>
                <a:sym typeface="Architects Daughter"/>
              </a:rPr>
              <a:t>Reusabilidad</a:t>
            </a:r>
            <a:endParaRPr>
              <a:solidFill>
                <a:schemeClr val="dk1"/>
              </a:solidFill>
            </a:endParaRPr>
          </a:p>
        </p:txBody>
      </p:sp>
      <p:grpSp>
        <p:nvGrpSpPr>
          <p:cNvPr id="144" name="Google Shape;144;p23"/>
          <p:cNvGrpSpPr/>
          <p:nvPr/>
        </p:nvGrpSpPr>
        <p:grpSpPr>
          <a:xfrm>
            <a:off x="280361" y="2319618"/>
            <a:ext cx="7922405" cy="2823873"/>
            <a:chOff x="280694" y="3092173"/>
            <a:chExt cx="7922405" cy="3765665"/>
          </a:xfrm>
        </p:grpSpPr>
        <p:pic>
          <p:nvPicPr>
            <p:cNvPr id="145" name="Google Shape;145;p23"/>
            <p:cNvPicPr preferRelativeResize="0"/>
            <p:nvPr/>
          </p:nvPicPr>
          <p:blipFill rotWithShape="1">
            <a:blip r:embed="rId4">
              <a:alphaModFix/>
            </a:blip>
            <a:srcRect b="0" l="0" r="0" t="0"/>
            <a:stretch/>
          </p:blipFill>
          <p:spPr>
            <a:xfrm flipH="1">
              <a:off x="6439580" y="3092173"/>
              <a:ext cx="1763519" cy="1763519"/>
            </a:xfrm>
            <a:prstGeom prst="rect">
              <a:avLst/>
            </a:prstGeom>
            <a:noFill/>
            <a:ln>
              <a:noFill/>
            </a:ln>
          </p:spPr>
        </p:pic>
        <p:sp>
          <p:nvSpPr>
            <p:cNvPr id="146" name="Google Shape;146;p23"/>
            <p:cNvSpPr/>
            <p:nvPr/>
          </p:nvSpPr>
          <p:spPr>
            <a:xfrm>
              <a:off x="4120672" y="4391328"/>
              <a:ext cx="3401452" cy="2466510"/>
            </a:xfrm>
            <a:custGeom>
              <a:rect b="b" l="l" r="r" t="t"/>
              <a:pathLst>
                <a:path extrusionOk="0" h="2466510" w="3401452">
                  <a:moveTo>
                    <a:pt x="1964538" y="6338"/>
                  </a:moveTo>
                  <a:cubicBezTo>
                    <a:pt x="1948209" y="24481"/>
                    <a:pt x="1950318" y="110092"/>
                    <a:pt x="1942766" y="147853"/>
                  </a:cubicBezTo>
                  <a:cubicBezTo>
                    <a:pt x="1933627" y="193548"/>
                    <a:pt x="1923565" y="256440"/>
                    <a:pt x="1899224" y="300253"/>
                  </a:cubicBezTo>
                  <a:cubicBezTo>
                    <a:pt x="1890413" y="316113"/>
                    <a:pt x="1878770" y="330371"/>
                    <a:pt x="1866566" y="343796"/>
                  </a:cubicBezTo>
                  <a:cubicBezTo>
                    <a:pt x="1800833" y="416102"/>
                    <a:pt x="1813073" y="404858"/>
                    <a:pt x="1757709" y="441767"/>
                  </a:cubicBezTo>
                  <a:cubicBezTo>
                    <a:pt x="1746823" y="456281"/>
                    <a:pt x="1737312" y="471936"/>
                    <a:pt x="1725052" y="485310"/>
                  </a:cubicBezTo>
                  <a:cubicBezTo>
                    <a:pt x="1697312" y="515572"/>
                    <a:pt x="1660738" y="538238"/>
                    <a:pt x="1637966" y="572396"/>
                  </a:cubicBezTo>
                  <a:cubicBezTo>
                    <a:pt x="1609830" y="614600"/>
                    <a:pt x="1628607" y="600916"/>
                    <a:pt x="1583538" y="615938"/>
                  </a:cubicBezTo>
                  <a:cubicBezTo>
                    <a:pt x="1545071" y="654405"/>
                    <a:pt x="1580638" y="626305"/>
                    <a:pt x="1518224" y="648596"/>
                  </a:cubicBezTo>
                  <a:cubicBezTo>
                    <a:pt x="1481420" y="661740"/>
                    <a:pt x="1445790" y="677973"/>
                    <a:pt x="1409366" y="692138"/>
                  </a:cubicBezTo>
                  <a:cubicBezTo>
                    <a:pt x="1335962" y="720684"/>
                    <a:pt x="1342653" y="718006"/>
                    <a:pt x="1289624" y="735681"/>
                  </a:cubicBezTo>
                  <a:cubicBezTo>
                    <a:pt x="1252684" y="772621"/>
                    <a:pt x="1284498" y="748275"/>
                    <a:pt x="1224309" y="768338"/>
                  </a:cubicBezTo>
                  <a:cubicBezTo>
                    <a:pt x="1205771" y="774517"/>
                    <a:pt x="1188419" y="783931"/>
                    <a:pt x="1169881" y="790110"/>
                  </a:cubicBezTo>
                  <a:cubicBezTo>
                    <a:pt x="1144820" y="798464"/>
                    <a:pt x="1119081" y="804624"/>
                    <a:pt x="1093681" y="811881"/>
                  </a:cubicBezTo>
                  <a:cubicBezTo>
                    <a:pt x="1042978" y="862584"/>
                    <a:pt x="1108617" y="804413"/>
                    <a:pt x="1028366" y="844538"/>
                  </a:cubicBezTo>
                  <a:cubicBezTo>
                    <a:pt x="1004962" y="856240"/>
                    <a:pt x="983985" y="872382"/>
                    <a:pt x="963052" y="888081"/>
                  </a:cubicBezTo>
                  <a:cubicBezTo>
                    <a:pt x="948538" y="898967"/>
                    <a:pt x="935736" y="912624"/>
                    <a:pt x="919509" y="920738"/>
                  </a:cubicBezTo>
                  <a:cubicBezTo>
                    <a:pt x="906127" y="927429"/>
                    <a:pt x="890480" y="927995"/>
                    <a:pt x="875966" y="931624"/>
                  </a:cubicBezTo>
                  <a:cubicBezTo>
                    <a:pt x="799499" y="969859"/>
                    <a:pt x="863844" y="940252"/>
                    <a:pt x="799766" y="964281"/>
                  </a:cubicBezTo>
                  <a:cubicBezTo>
                    <a:pt x="781470" y="971142"/>
                    <a:pt x="764054" y="980438"/>
                    <a:pt x="745338" y="986053"/>
                  </a:cubicBezTo>
                  <a:cubicBezTo>
                    <a:pt x="727616" y="991370"/>
                    <a:pt x="709052" y="993310"/>
                    <a:pt x="690909" y="996938"/>
                  </a:cubicBezTo>
                  <a:cubicBezTo>
                    <a:pt x="676395" y="1004195"/>
                    <a:pt x="661455" y="1010659"/>
                    <a:pt x="647366" y="1018710"/>
                  </a:cubicBezTo>
                  <a:cubicBezTo>
                    <a:pt x="636007" y="1025201"/>
                    <a:pt x="627121" y="1036344"/>
                    <a:pt x="614709" y="1040481"/>
                  </a:cubicBezTo>
                  <a:cubicBezTo>
                    <a:pt x="593770" y="1047461"/>
                    <a:pt x="571166" y="1047738"/>
                    <a:pt x="549395" y="1051367"/>
                  </a:cubicBezTo>
                  <a:cubicBezTo>
                    <a:pt x="495389" y="1087370"/>
                    <a:pt x="525989" y="1063887"/>
                    <a:pt x="462309" y="1127567"/>
                  </a:cubicBezTo>
                  <a:cubicBezTo>
                    <a:pt x="451423" y="1138453"/>
                    <a:pt x="442461" y="1151685"/>
                    <a:pt x="429652" y="1160224"/>
                  </a:cubicBezTo>
                  <a:cubicBezTo>
                    <a:pt x="407881" y="1174738"/>
                    <a:pt x="384589" y="1187198"/>
                    <a:pt x="364338" y="1203767"/>
                  </a:cubicBezTo>
                  <a:cubicBezTo>
                    <a:pt x="294878" y="1260598"/>
                    <a:pt x="326861" y="1245042"/>
                    <a:pt x="277252" y="1301738"/>
                  </a:cubicBezTo>
                  <a:cubicBezTo>
                    <a:pt x="263735" y="1317186"/>
                    <a:pt x="246025" y="1328860"/>
                    <a:pt x="233709" y="1345281"/>
                  </a:cubicBezTo>
                  <a:cubicBezTo>
                    <a:pt x="193202" y="1399290"/>
                    <a:pt x="211116" y="1373728"/>
                    <a:pt x="179281" y="1421481"/>
                  </a:cubicBezTo>
                  <a:cubicBezTo>
                    <a:pt x="170496" y="1465405"/>
                    <a:pt x="169000" y="1490061"/>
                    <a:pt x="146624" y="1530338"/>
                  </a:cubicBezTo>
                  <a:cubicBezTo>
                    <a:pt x="137813" y="1546198"/>
                    <a:pt x="124852" y="1559367"/>
                    <a:pt x="113966" y="1573881"/>
                  </a:cubicBezTo>
                  <a:lnTo>
                    <a:pt x="59538" y="1737167"/>
                  </a:lnTo>
                  <a:cubicBezTo>
                    <a:pt x="22005" y="1830998"/>
                    <a:pt x="50318" y="1753107"/>
                    <a:pt x="26881" y="1835138"/>
                  </a:cubicBezTo>
                  <a:cubicBezTo>
                    <a:pt x="23729" y="1846171"/>
                    <a:pt x="18484" y="1856594"/>
                    <a:pt x="15995" y="1867796"/>
                  </a:cubicBezTo>
                  <a:cubicBezTo>
                    <a:pt x="11207" y="1889342"/>
                    <a:pt x="8738" y="1911339"/>
                    <a:pt x="5109" y="1933110"/>
                  </a:cubicBezTo>
                  <a:cubicBezTo>
                    <a:pt x="5505" y="1938255"/>
                    <a:pt x="-22509" y="2177633"/>
                    <a:pt x="48652" y="2248796"/>
                  </a:cubicBezTo>
                  <a:cubicBezTo>
                    <a:pt x="57903" y="2258047"/>
                    <a:pt x="69284" y="2265413"/>
                    <a:pt x="81309" y="2270567"/>
                  </a:cubicBezTo>
                  <a:cubicBezTo>
                    <a:pt x="95060" y="2276460"/>
                    <a:pt x="110338" y="2277824"/>
                    <a:pt x="124852" y="2281453"/>
                  </a:cubicBezTo>
                  <a:cubicBezTo>
                    <a:pt x="218437" y="2343842"/>
                    <a:pt x="100033" y="2269044"/>
                    <a:pt x="190166" y="2314110"/>
                  </a:cubicBezTo>
                  <a:cubicBezTo>
                    <a:pt x="201868" y="2319961"/>
                    <a:pt x="210868" y="2330567"/>
                    <a:pt x="222824" y="2335881"/>
                  </a:cubicBezTo>
                  <a:cubicBezTo>
                    <a:pt x="243795" y="2345201"/>
                    <a:pt x="266367" y="2350396"/>
                    <a:pt x="288138" y="2357653"/>
                  </a:cubicBezTo>
                  <a:cubicBezTo>
                    <a:pt x="299024" y="2361282"/>
                    <a:pt x="310532" y="2363406"/>
                    <a:pt x="320795" y="2368538"/>
                  </a:cubicBezTo>
                  <a:cubicBezTo>
                    <a:pt x="335309" y="2375795"/>
                    <a:pt x="349271" y="2384283"/>
                    <a:pt x="364338" y="2390310"/>
                  </a:cubicBezTo>
                  <a:cubicBezTo>
                    <a:pt x="385646" y="2398833"/>
                    <a:pt x="407881" y="2404824"/>
                    <a:pt x="429652" y="2412081"/>
                  </a:cubicBezTo>
                  <a:lnTo>
                    <a:pt x="462309" y="2422967"/>
                  </a:lnTo>
                  <a:lnTo>
                    <a:pt x="494966" y="2433853"/>
                  </a:lnTo>
                  <a:cubicBezTo>
                    <a:pt x="676395" y="2430224"/>
                    <a:pt x="858013" y="2432029"/>
                    <a:pt x="1039252" y="2422967"/>
                  </a:cubicBezTo>
                  <a:cubicBezTo>
                    <a:pt x="1076210" y="2421119"/>
                    <a:pt x="1148109" y="2401196"/>
                    <a:pt x="1148109" y="2401196"/>
                  </a:cubicBezTo>
                  <a:lnTo>
                    <a:pt x="2073395" y="2412081"/>
                  </a:lnTo>
                  <a:cubicBezTo>
                    <a:pt x="2102643" y="2412710"/>
                    <a:pt x="2131296" y="2420954"/>
                    <a:pt x="2160481" y="2422967"/>
                  </a:cubicBezTo>
                  <a:cubicBezTo>
                    <a:pt x="2236587" y="2428216"/>
                    <a:pt x="2312881" y="2430224"/>
                    <a:pt x="2389081" y="2433853"/>
                  </a:cubicBezTo>
                  <a:cubicBezTo>
                    <a:pt x="2407224" y="2437481"/>
                    <a:pt x="2425481" y="2440578"/>
                    <a:pt x="2443509" y="2444738"/>
                  </a:cubicBezTo>
                  <a:cubicBezTo>
                    <a:pt x="2472665" y="2451466"/>
                    <a:pt x="2530595" y="2466510"/>
                    <a:pt x="2530595" y="2466510"/>
                  </a:cubicBezTo>
                  <a:cubicBezTo>
                    <a:pt x="2545109" y="2459253"/>
                    <a:pt x="2560049" y="2452789"/>
                    <a:pt x="2574138" y="2444738"/>
                  </a:cubicBezTo>
                  <a:cubicBezTo>
                    <a:pt x="2610879" y="2423743"/>
                    <a:pt x="2643995" y="2395845"/>
                    <a:pt x="2682995" y="2379424"/>
                  </a:cubicBezTo>
                  <a:cubicBezTo>
                    <a:pt x="2701819" y="2371498"/>
                    <a:pt x="2790439" y="2358124"/>
                    <a:pt x="2824509" y="2346767"/>
                  </a:cubicBezTo>
                  <a:cubicBezTo>
                    <a:pt x="2834941" y="2343290"/>
                    <a:pt x="2892492" y="2317931"/>
                    <a:pt x="2911595" y="2314110"/>
                  </a:cubicBezTo>
                  <a:cubicBezTo>
                    <a:pt x="2936755" y="2309078"/>
                    <a:pt x="2962395" y="2306853"/>
                    <a:pt x="2987795" y="2303224"/>
                  </a:cubicBezTo>
                  <a:cubicBezTo>
                    <a:pt x="3111166" y="2306853"/>
                    <a:pt x="3234484" y="2314110"/>
                    <a:pt x="3357909" y="2314110"/>
                  </a:cubicBezTo>
                  <a:cubicBezTo>
                    <a:pt x="3369384" y="2314110"/>
                    <a:pt x="3383398" y="2312184"/>
                    <a:pt x="3390566" y="2303224"/>
                  </a:cubicBezTo>
                  <a:cubicBezTo>
                    <a:pt x="3399912" y="2291541"/>
                    <a:pt x="3397823" y="2274195"/>
                    <a:pt x="3401452" y="2259681"/>
                  </a:cubicBezTo>
                  <a:cubicBezTo>
                    <a:pt x="3397823" y="2183481"/>
                    <a:pt x="3396201" y="2107159"/>
                    <a:pt x="3390566" y="2031081"/>
                  </a:cubicBezTo>
                  <a:cubicBezTo>
                    <a:pt x="3388936" y="2009070"/>
                    <a:pt x="3385034" y="1987180"/>
                    <a:pt x="3379681" y="1965767"/>
                  </a:cubicBezTo>
                  <a:cubicBezTo>
                    <a:pt x="3357794" y="1878220"/>
                    <a:pt x="3357785" y="1926730"/>
                    <a:pt x="3347024" y="1846024"/>
                  </a:cubicBezTo>
                  <a:cubicBezTo>
                    <a:pt x="3342205" y="1809877"/>
                    <a:pt x="3341065" y="1773299"/>
                    <a:pt x="3336138" y="1737167"/>
                  </a:cubicBezTo>
                  <a:cubicBezTo>
                    <a:pt x="3321089" y="1626813"/>
                    <a:pt x="3319871" y="1621257"/>
                    <a:pt x="3292595" y="1530338"/>
                  </a:cubicBezTo>
                  <a:cubicBezTo>
                    <a:pt x="3289298" y="1519347"/>
                    <a:pt x="3286841" y="1507944"/>
                    <a:pt x="3281709" y="1497681"/>
                  </a:cubicBezTo>
                  <a:cubicBezTo>
                    <a:pt x="3271100" y="1476463"/>
                    <a:pt x="3246006" y="1445742"/>
                    <a:pt x="3227281" y="1432367"/>
                  </a:cubicBezTo>
                  <a:cubicBezTo>
                    <a:pt x="3214076" y="1422935"/>
                    <a:pt x="3198252" y="1417853"/>
                    <a:pt x="3183738" y="1410596"/>
                  </a:cubicBezTo>
                  <a:cubicBezTo>
                    <a:pt x="3126436" y="1353293"/>
                    <a:pt x="3179118" y="1397399"/>
                    <a:pt x="3096652" y="1356167"/>
                  </a:cubicBezTo>
                  <a:cubicBezTo>
                    <a:pt x="3084950" y="1350316"/>
                    <a:pt x="3075697" y="1340247"/>
                    <a:pt x="3063995" y="1334396"/>
                  </a:cubicBezTo>
                  <a:cubicBezTo>
                    <a:pt x="3048377" y="1326587"/>
                    <a:pt x="3001748" y="1316112"/>
                    <a:pt x="2987795" y="1312624"/>
                  </a:cubicBezTo>
                  <a:cubicBezTo>
                    <a:pt x="2976909" y="1301738"/>
                    <a:pt x="2966965" y="1289822"/>
                    <a:pt x="2955138" y="1279967"/>
                  </a:cubicBezTo>
                  <a:cubicBezTo>
                    <a:pt x="2898950" y="1233144"/>
                    <a:pt x="2944348" y="1286878"/>
                    <a:pt x="2889824" y="1225538"/>
                  </a:cubicBezTo>
                  <a:cubicBezTo>
                    <a:pt x="2776455" y="1097998"/>
                    <a:pt x="2893925" y="1218755"/>
                    <a:pt x="2780966" y="1105796"/>
                  </a:cubicBezTo>
                  <a:cubicBezTo>
                    <a:pt x="2773709" y="1098539"/>
                    <a:pt x="2767735" y="1089717"/>
                    <a:pt x="2759195" y="1084024"/>
                  </a:cubicBezTo>
                  <a:cubicBezTo>
                    <a:pt x="2748309" y="1076767"/>
                    <a:pt x="2736754" y="1070426"/>
                    <a:pt x="2726538" y="1062253"/>
                  </a:cubicBezTo>
                  <a:cubicBezTo>
                    <a:pt x="2718524" y="1055842"/>
                    <a:pt x="2712780" y="1046892"/>
                    <a:pt x="2704766" y="1040481"/>
                  </a:cubicBezTo>
                  <a:cubicBezTo>
                    <a:pt x="2694550" y="1032308"/>
                    <a:pt x="2682325" y="1026883"/>
                    <a:pt x="2672109" y="1018710"/>
                  </a:cubicBezTo>
                  <a:cubicBezTo>
                    <a:pt x="2664095" y="1012299"/>
                    <a:pt x="2658877" y="1002631"/>
                    <a:pt x="2650338" y="996938"/>
                  </a:cubicBezTo>
                  <a:cubicBezTo>
                    <a:pt x="2636836" y="987937"/>
                    <a:pt x="2621309" y="982424"/>
                    <a:pt x="2606795" y="975167"/>
                  </a:cubicBezTo>
                  <a:cubicBezTo>
                    <a:pt x="2592281" y="957024"/>
                    <a:pt x="2578552" y="938224"/>
                    <a:pt x="2563252" y="920738"/>
                  </a:cubicBezTo>
                  <a:cubicBezTo>
                    <a:pt x="2553115" y="909152"/>
                    <a:pt x="2540046" y="900233"/>
                    <a:pt x="2530595" y="888081"/>
                  </a:cubicBezTo>
                  <a:cubicBezTo>
                    <a:pt x="2514531" y="867427"/>
                    <a:pt x="2505554" y="841269"/>
                    <a:pt x="2487052" y="822767"/>
                  </a:cubicBezTo>
                  <a:cubicBezTo>
                    <a:pt x="2472538" y="808253"/>
                    <a:pt x="2456867" y="794809"/>
                    <a:pt x="2443509" y="779224"/>
                  </a:cubicBezTo>
                  <a:cubicBezTo>
                    <a:pt x="2325406" y="641437"/>
                    <a:pt x="2401284" y="704012"/>
                    <a:pt x="2312881" y="637710"/>
                  </a:cubicBezTo>
                  <a:cubicBezTo>
                    <a:pt x="2309252" y="623196"/>
                    <a:pt x="2308686" y="607549"/>
                    <a:pt x="2301995" y="594167"/>
                  </a:cubicBezTo>
                  <a:cubicBezTo>
                    <a:pt x="2236493" y="463162"/>
                    <a:pt x="2298121" y="633468"/>
                    <a:pt x="2247566" y="507081"/>
                  </a:cubicBezTo>
                  <a:cubicBezTo>
                    <a:pt x="2239043" y="485773"/>
                    <a:pt x="2231361" y="464031"/>
                    <a:pt x="2225795" y="441767"/>
                  </a:cubicBezTo>
                  <a:cubicBezTo>
                    <a:pt x="2222166" y="427253"/>
                    <a:pt x="2219941" y="412313"/>
                    <a:pt x="2214909" y="398224"/>
                  </a:cubicBezTo>
                  <a:cubicBezTo>
                    <a:pt x="2201765" y="361420"/>
                    <a:pt x="2183724" y="326443"/>
                    <a:pt x="2171366" y="289367"/>
                  </a:cubicBezTo>
                  <a:cubicBezTo>
                    <a:pt x="2167738" y="278481"/>
                    <a:pt x="2162970" y="267911"/>
                    <a:pt x="2160481" y="256710"/>
                  </a:cubicBezTo>
                  <a:cubicBezTo>
                    <a:pt x="2140927" y="168714"/>
                    <a:pt x="2165701" y="215556"/>
                    <a:pt x="2127824" y="158738"/>
                  </a:cubicBezTo>
                  <a:cubicBezTo>
                    <a:pt x="2124195" y="144224"/>
                    <a:pt x="2123629" y="128577"/>
                    <a:pt x="2116938" y="115196"/>
                  </a:cubicBezTo>
                  <a:cubicBezTo>
                    <a:pt x="2112348" y="106016"/>
                    <a:pt x="2101577" y="101438"/>
                    <a:pt x="2095166" y="93424"/>
                  </a:cubicBezTo>
                  <a:cubicBezTo>
                    <a:pt x="2037109" y="20852"/>
                    <a:pt x="2113310" y="97053"/>
                    <a:pt x="2040738" y="38996"/>
                  </a:cubicBezTo>
                  <a:cubicBezTo>
                    <a:pt x="2007109" y="12093"/>
                    <a:pt x="1980867" y="-11805"/>
                    <a:pt x="1964538" y="6338"/>
                  </a:cubicBezTo>
                  <a:close/>
                </a:path>
              </a:pathLst>
            </a:custGeom>
            <a:noFill/>
            <a:ln cap="flat" cmpd="sng" w="19050">
              <a:solidFill>
                <a:srgbClr val="70AD47"/>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sp>
          <p:nvSpPr>
            <p:cNvPr id="147" name="Google Shape;147;p23"/>
            <p:cNvSpPr txBox="1"/>
            <p:nvPr/>
          </p:nvSpPr>
          <p:spPr>
            <a:xfrm>
              <a:off x="280694" y="3462320"/>
              <a:ext cx="2246400" cy="1601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67171"/>
                </a:buClr>
                <a:buSzPts val="2400"/>
                <a:buFont typeface="Architects Daughter"/>
                <a:buNone/>
              </a:pPr>
              <a:r>
                <a:rPr b="1" i="0" lang="es-419" sz="2400" u="none">
                  <a:solidFill>
                    <a:srgbClr val="767171"/>
                  </a:solidFill>
                  <a:latin typeface="Architects Daughter"/>
                  <a:ea typeface="Architects Daughter"/>
                  <a:cs typeface="Architects Daughter"/>
                  <a:sym typeface="Architects Daughter"/>
                </a:rPr>
                <a:t>Se puede usar en otro sistema</a:t>
              </a:r>
              <a:endParaRPr/>
            </a:p>
          </p:txBody>
        </p:sp>
      </p:gr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nvSpPr>
        <p:spPr>
          <a:xfrm>
            <a:off x="7956550" y="4827984"/>
            <a:ext cx="5730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Tahoma"/>
              <a:buNone/>
            </a:pPr>
            <a:fld id="{00000000-1234-1234-1234-123412341234}" type="slidenum">
              <a:rPr b="0" i="0" lang="es-419" sz="1200" u="none">
                <a:solidFill>
                  <a:schemeClr val="lt1"/>
                </a:solidFill>
                <a:latin typeface="Tahoma"/>
                <a:ea typeface="Tahoma"/>
                <a:cs typeface="Tahoma"/>
                <a:sym typeface="Tahoma"/>
              </a:rPr>
              <a:t>‹#›</a:t>
            </a:fld>
            <a:endParaRPr/>
          </a:p>
        </p:txBody>
      </p:sp>
      <p:sp>
        <p:nvSpPr>
          <p:cNvPr id="153" name="Google Shape;153;p24"/>
          <p:cNvSpPr txBox="1"/>
          <p:nvPr/>
        </p:nvSpPr>
        <p:spPr>
          <a:xfrm>
            <a:off x="3922712" y="4851797"/>
            <a:ext cx="766800" cy="277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900"/>
              <a:buFont typeface="Tahoma"/>
              <a:buNone/>
            </a:pPr>
            <a:r>
              <a:rPr b="0" i="0" lang="es-419" sz="900" u="none">
                <a:solidFill>
                  <a:schemeClr val="lt1"/>
                </a:solidFill>
                <a:latin typeface="Tahoma"/>
                <a:ea typeface="Tahoma"/>
                <a:cs typeface="Tahoma"/>
                <a:sym typeface="Tahoma"/>
              </a:rPr>
              <a:t>CADP</a:t>
            </a:r>
            <a:endParaRPr/>
          </a:p>
        </p:txBody>
      </p:sp>
      <p:sp>
        <p:nvSpPr>
          <p:cNvPr id="154" name="Google Shape;154;p24"/>
          <p:cNvSpPr txBox="1"/>
          <p:nvPr>
            <p:ph type="title"/>
          </p:nvPr>
        </p:nvSpPr>
        <p:spPr>
          <a:xfrm>
            <a:off x="179387" y="228600"/>
            <a:ext cx="8488500" cy="521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i="0" lang="es-419" sz="2500" u="none">
                <a:solidFill>
                  <a:schemeClr val="dk1"/>
                </a:solidFill>
              </a:rPr>
              <a:t>Modularización</a:t>
            </a:r>
            <a:r>
              <a:rPr b="1" i="0" lang="es-419" sz="3200" u="none">
                <a:solidFill>
                  <a:schemeClr val="dk1"/>
                </a:solidFill>
                <a:latin typeface="Calibri"/>
                <a:ea typeface="Calibri"/>
                <a:cs typeface="Calibri"/>
                <a:sym typeface="Calibri"/>
              </a:rPr>
              <a:t> </a:t>
            </a:r>
            <a:endParaRPr/>
          </a:p>
        </p:txBody>
      </p:sp>
      <p:sp>
        <p:nvSpPr>
          <p:cNvPr id="155" name="Google Shape;155;p24"/>
          <p:cNvSpPr txBox="1"/>
          <p:nvPr/>
        </p:nvSpPr>
        <p:spPr>
          <a:xfrm>
            <a:off x="6948487" y="4836319"/>
            <a:ext cx="20574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800"/>
              <a:buFont typeface="Tahoma"/>
              <a:buNone/>
            </a:pPr>
            <a:r>
              <a:rPr b="0" i="0" lang="es-419" sz="800" u="none">
                <a:solidFill>
                  <a:srgbClr val="898989"/>
                </a:solidFill>
                <a:latin typeface="Tahoma"/>
                <a:ea typeface="Tahoma"/>
                <a:cs typeface="Tahoma"/>
                <a:sym typeface="Tahoma"/>
              </a:rPr>
              <a:t>12</a:t>
            </a:r>
            <a:endParaRPr/>
          </a:p>
        </p:txBody>
      </p:sp>
      <p:sp>
        <p:nvSpPr>
          <p:cNvPr id="156" name="Google Shape;156;p24"/>
          <p:cNvSpPr txBox="1"/>
          <p:nvPr/>
        </p:nvSpPr>
        <p:spPr>
          <a:xfrm>
            <a:off x="457200" y="4836319"/>
            <a:ext cx="2133600" cy="27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t/>
            </a:r>
            <a:endParaRPr/>
          </a:p>
        </p:txBody>
      </p:sp>
      <p:sp>
        <p:nvSpPr>
          <p:cNvPr id="157" name="Google Shape;157;p24"/>
          <p:cNvSpPr txBox="1"/>
          <p:nvPr/>
        </p:nvSpPr>
        <p:spPr>
          <a:xfrm>
            <a:off x="179387" y="750094"/>
            <a:ext cx="5819700" cy="1616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300"/>
              <a:buFont typeface="Architects Daughter"/>
              <a:buNone/>
            </a:pPr>
            <a:r>
              <a:rPr i="0" lang="es-419" sz="1900" u="none">
                <a:solidFill>
                  <a:srgbClr val="000000"/>
                </a:solidFill>
              </a:rPr>
              <a:t>Los sistemas de software reales crecen (es decir aparecen con el tiempo nuevos requerimientos del usuario). La modularización permite disminuir los riesgos y costos de incorporar nuevas prestaciones a un sistema en funcionamiento.</a:t>
            </a:r>
            <a:r>
              <a:rPr b="1" i="0" lang="es-419" sz="2300" u="none">
                <a:solidFill>
                  <a:srgbClr val="000000"/>
                </a:solidFill>
                <a:latin typeface="Architects Daughter"/>
                <a:ea typeface="Architects Daughter"/>
                <a:cs typeface="Architects Daughter"/>
                <a:sym typeface="Architects Daughter"/>
              </a:rPr>
              <a:t> </a:t>
            </a:r>
            <a:endParaRPr/>
          </a:p>
        </p:txBody>
      </p:sp>
      <p:sp>
        <p:nvSpPr>
          <p:cNvPr id="158" name="Google Shape;158;p24"/>
          <p:cNvSpPr txBox="1"/>
          <p:nvPr/>
        </p:nvSpPr>
        <p:spPr>
          <a:xfrm>
            <a:off x="5940425" y="1113234"/>
            <a:ext cx="30447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3399"/>
              </a:buClr>
              <a:buSzPts val="3400"/>
              <a:buFont typeface="Architects Daughter"/>
              <a:buNone/>
            </a:pPr>
            <a:r>
              <a:rPr b="1" i="0" lang="es-419" sz="3400" u="none">
                <a:solidFill>
                  <a:schemeClr val="dk1"/>
                </a:solidFill>
                <a:latin typeface="Architects Daughter"/>
                <a:ea typeface="Architects Daughter"/>
                <a:cs typeface="Architects Daughter"/>
                <a:sym typeface="Architects Daughter"/>
              </a:rPr>
              <a:t>Facilidad de crecimiento</a:t>
            </a:r>
            <a:endParaRPr>
              <a:solidFill>
                <a:schemeClr val="dk1"/>
              </a:solidFill>
            </a:endParaRPr>
          </a:p>
        </p:txBody>
      </p:sp>
      <p:pic>
        <p:nvPicPr>
          <p:cNvPr id="159" name="Google Shape;159;p24"/>
          <p:cNvPicPr preferRelativeResize="0"/>
          <p:nvPr/>
        </p:nvPicPr>
        <p:blipFill rotWithShape="1">
          <a:blip r:embed="rId3">
            <a:alphaModFix/>
          </a:blip>
          <a:srcRect b="0" l="0" r="0" t="0"/>
          <a:stretch/>
        </p:blipFill>
        <p:spPr>
          <a:xfrm>
            <a:off x="2590800" y="2405063"/>
            <a:ext cx="2834879" cy="1262062"/>
          </a:xfrm>
          <a:prstGeom prst="rect">
            <a:avLst/>
          </a:prstGeom>
          <a:noFill/>
          <a:ln>
            <a:noFill/>
          </a:ln>
        </p:spPr>
      </p:pic>
      <p:pic>
        <p:nvPicPr>
          <p:cNvPr id="160" name="Google Shape;160;p24"/>
          <p:cNvPicPr preferRelativeResize="0"/>
          <p:nvPr/>
        </p:nvPicPr>
        <p:blipFill rotWithShape="1">
          <a:blip r:embed="rId4">
            <a:alphaModFix/>
          </a:blip>
          <a:srcRect b="0" l="0" r="0" t="0"/>
          <a:stretch/>
        </p:blipFill>
        <p:spPr>
          <a:xfrm>
            <a:off x="3870325" y="4156472"/>
            <a:ext cx="1052513" cy="685800"/>
          </a:xfrm>
          <a:prstGeom prst="rect">
            <a:avLst/>
          </a:prstGeom>
          <a:noFill/>
          <a:ln>
            <a:noFill/>
          </a:ln>
        </p:spPr>
      </p:pic>
      <p:cxnSp>
        <p:nvCxnSpPr>
          <p:cNvPr id="161" name="Google Shape;161;p24"/>
          <p:cNvCxnSpPr/>
          <p:nvPr/>
        </p:nvCxnSpPr>
        <p:spPr>
          <a:xfrm>
            <a:off x="4500562" y="3651646"/>
            <a:ext cx="0" cy="485700"/>
          </a:xfrm>
          <a:prstGeom prst="straightConnector1">
            <a:avLst/>
          </a:prstGeom>
          <a:noFill/>
          <a:ln cap="flat" cmpd="sng" w="28575">
            <a:solidFill>
              <a:srgbClr val="767171"/>
            </a:solidFill>
            <a:prstDash val="solid"/>
            <a:miter lim="800000"/>
            <a:headEnd len="med" w="med" type="none"/>
            <a:tailEnd len="med" w="med" type="none"/>
          </a:ln>
        </p:spPr>
      </p:cxnSp>
      <p:cxnSp>
        <p:nvCxnSpPr>
          <p:cNvPr id="162" name="Google Shape;162;p24"/>
          <p:cNvCxnSpPr/>
          <p:nvPr/>
        </p:nvCxnSpPr>
        <p:spPr>
          <a:xfrm>
            <a:off x="2116137" y="3885009"/>
            <a:ext cx="2384400" cy="7200"/>
          </a:xfrm>
          <a:prstGeom prst="straightConnector1">
            <a:avLst/>
          </a:prstGeom>
          <a:noFill/>
          <a:ln cap="flat" cmpd="sng" w="28575">
            <a:solidFill>
              <a:srgbClr val="767171"/>
            </a:solidFill>
            <a:prstDash val="solid"/>
            <a:miter lim="800000"/>
            <a:headEnd len="med" w="med" type="none"/>
            <a:tailEnd len="med" w="med" type="none"/>
          </a:ln>
        </p:spPr>
      </p:cxnSp>
      <p:cxnSp>
        <p:nvCxnSpPr>
          <p:cNvPr id="163" name="Google Shape;163;p24"/>
          <p:cNvCxnSpPr/>
          <p:nvPr/>
        </p:nvCxnSpPr>
        <p:spPr>
          <a:xfrm>
            <a:off x="4500562" y="3894534"/>
            <a:ext cx="2384400" cy="7200"/>
          </a:xfrm>
          <a:prstGeom prst="straightConnector1">
            <a:avLst/>
          </a:prstGeom>
          <a:noFill/>
          <a:ln cap="flat" cmpd="sng" w="28575">
            <a:solidFill>
              <a:srgbClr val="767171"/>
            </a:solidFill>
            <a:prstDash val="solid"/>
            <a:miter lim="800000"/>
            <a:headEnd len="med" w="med" type="none"/>
            <a:tailEnd len="med" w="med" type="none"/>
          </a:ln>
        </p:spPr>
      </p:cxnSp>
      <p:cxnSp>
        <p:nvCxnSpPr>
          <p:cNvPr id="164" name="Google Shape;164;p24"/>
          <p:cNvCxnSpPr/>
          <p:nvPr/>
        </p:nvCxnSpPr>
        <p:spPr>
          <a:xfrm>
            <a:off x="2116137" y="3892153"/>
            <a:ext cx="0" cy="350100"/>
          </a:xfrm>
          <a:prstGeom prst="straightConnector1">
            <a:avLst/>
          </a:prstGeom>
          <a:noFill/>
          <a:ln cap="flat" cmpd="sng" w="28575">
            <a:solidFill>
              <a:srgbClr val="767171"/>
            </a:solidFill>
            <a:prstDash val="solid"/>
            <a:miter lim="800000"/>
            <a:headEnd len="med" w="med" type="none"/>
            <a:tailEnd len="med" w="med" type="none"/>
          </a:ln>
        </p:spPr>
      </p:cxnSp>
      <p:pic>
        <p:nvPicPr>
          <p:cNvPr id="165" name="Google Shape;165;p24"/>
          <p:cNvPicPr preferRelativeResize="0"/>
          <p:nvPr/>
        </p:nvPicPr>
        <p:blipFill rotWithShape="1">
          <a:blip r:embed="rId5">
            <a:alphaModFix/>
          </a:blip>
          <a:srcRect b="0" l="0" r="0" t="0"/>
          <a:stretch/>
        </p:blipFill>
        <p:spPr>
          <a:xfrm>
            <a:off x="1457325" y="4142184"/>
            <a:ext cx="1046559" cy="690563"/>
          </a:xfrm>
          <a:prstGeom prst="rect">
            <a:avLst/>
          </a:prstGeom>
          <a:noFill/>
          <a:ln>
            <a:noFill/>
          </a:ln>
        </p:spPr>
      </p:pic>
      <p:cxnSp>
        <p:nvCxnSpPr>
          <p:cNvPr id="166" name="Google Shape;166;p24"/>
          <p:cNvCxnSpPr/>
          <p:nvPr/>
        </p:nvCxnSpPr>
        <p:spPr>
          <a:xfrm>
            <a:off x="6884987" y="3898106"/>
            <a:ext cx="0" cy="351300"/>
          </a:xfrm>
          <a:prstGeom prst="straightConnector1">
            <a:avLst/>
          </a:prstGeom>
          <a:noFill/>
          <a:ln cap="flat" cmpd="sng" w="28575">
            <a:solidFill>
              <a:srgbClr val="767171"/>
            </a:solidFill>
            <a:prstDash val="solid"/>
            <a:miter lim="800000"/>
            <a:headEnd len="med" w="med" type="none"/>
            <a:tailEnd len="med" w="med" type="none"/>
          </a:ln>
        </p:spPr>
      </p:cxnSp>
      <p:pic>
        <p:nvPicPr>
          <p:cNvPr id="167" name="Google Shape;167;p24"/>
          <p:cNvPicPr preferRelativeResize="0"/>
          <p:nvPr/>
        </p:nvPicPr>
        <p:blipFill rotWithShape="1">
          <a:blip r:embed="rId6">
            <a:alphaModFix/>
          </a:blip>
          <a:srcRect b="0" l="0" r="0" t="0"/>
          <a:stretch/>
        </p:blipFill>
        <p:spPr>
          <a:xfrm>
            <a:off x="5883275" y="4174331"/>
            <a:ext cx="2139553" cy="690563"/>
          </a:xfrm>
          <a:prstGeom prst="rect">
            <a:avLst/>
          </a:prstGeom>
          <a:noFill/>
          <a:ln>
            <a:noFill/>
          </a:ln>
        </p:spPr>
      </p:pic>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nvSpPr>
        <p:spPr>
          <a:xfrm>
            <a:off x="7956550" y="4827984"/>
            <a:ext cx="5730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1200"/>
              <a:buFont typeface="Tahoma"/>
              <a:buNone/>
            </a:pPr>
            <a:fld id="{00000000-1234-1234-1234-123412341234}" type="slidenum">
              <a:rPr b="0" i="0" lang="es-419" sz="1200" u="none">
                <a:solidFill>
                  <a:schemeClr val="lt1"/>
                </a:solidFill>
                <a:latin typeface="Tahoma"/>
                <a:ea typeface="Tahoma"/>
                <a:cs typeface="Tahoma"/>
                <a:sym typeface="Tahoma"/>
              </a:rPr>
              <a:t>‹#›</a:t>
            </a:fld>
            <a:endParaRPr/>
          </a:p>
        </p:txBody>
      </p:sp>
      <p:sp>
        <p:nvSpPr>
          <p:cNvPr id="173" name="Google Shape;173;p25"/>
          <p:cNvSpPr txBox="1"/>
          <p:nvPr/>
        </p:nvSpPr>
        <p:spPr>
          <a:xfrm>
            <a:off x="3922712" y="4851797"/>
            <a:ext cx="766800" cy="2775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900"/>
              <a:buFont typeface="Tahoma"/>
              <a:buNone/>
            </a:pPr>
            <a:r>
              <a:rPr b="0" i="0" lang="es-419" sz="900" u="none">
                <a:solidFill>
                  <a:schemeClr val="lt1"/>
                </a:solidFill>
                <a:latin typeface="Tahoma"/>
                <a:ea typeface="Tahoma"/>
                <a:cs typeface="Tahoma"/>
                <a:sym typeface="Tahoma"/>
              </a:rPr>
              <a:t>CADP</a:t>
            </a:r>
            <a:endParaRPr/>
          </a:p>
        </p:txBody>
      </p:sp>
      <p:sp>
        <p:nvSpPr>
          <p:cNvPr id="174" name="Google Shape;174;p25"/>
          <p:cNvSpPr txBox="1"/>
          <p:nvPr>
            <p:ph type="title"/>
          </p:nvPr>
        </p:nvSpPr>
        <p:spPr>
          <a:xfrm>
            <a:off x="179387" y="228600"/>
            <a:ext cx="8488500" cy="521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libri"/>
              <a:buNone/>
            </a:pPr>
            <a:r>
              <a:rPr b="1" i="0" lang="es-419" sz="3200" u="none">
                <a:solidFill>
                  <a:schemeClr val="dk1"/>
                </a:solidFill>
                <a:latin typeface="Calibri"/>
                <a:ea typeface="Calibri"/>
                <a:cs typeface="Calibri"/>
                <a:sym typeface="Calibri"/>
              </a:rPr>
              <a:t>Modularización </a:t>
            </a:r>
            <a:endParaRPr/>
          </a:p>
        </p:txBody>
      </p:sp>
      <p:sp>
        <p:nvSpPr>
          <p:cNvPr id="175" name="Google Shape;175;p25"/>
          <p:cNvSpPr txBox="1"/>
          <p:nvPr/>
        </p:nvSpPr>
        <p:spPr>
          <a:xfrm>
            <a:off x="6948487" y="4836319"/>
            <a:ext cx="2057400" cy="273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800"/>
              <a:buFont typeface="Tahoma"/>
              <a:buNone/>
            </a:pPr>
            <a:r>
              <a:rPr b="0" i="0" lang="es-419" sz="800" u="none">
                <a:solidFill>
                  <a:srgbClr val="898989"/>
                </a:solidFill>
                <a:latin typeface="Tahoma"/>
                <a:ea typeface="Tahoma"/>
                <a:cs typeface="Tahoma"/>
                <a:sym typeface="Tahoma"/>
              </a:rPr>
              <a:t>13</a:t>
            </a:r>
            <a:endParaRPr/>
          </a:p>
        </p:txBody>
      </p:sp>
      <p:sp>
        <p:nvSpPr>
          <p:cNvPr id="176" name="Google Shape;176;p25"/>
          <p:cNvSpPr txBox="1"/>
          <p:nvPr/>
        </p:nvSpPr>
        <p:spPr>
          <a:xfrm>
            <a:off x="457200" y="4836319"/>
            <a:ext cx="2133600" cy="273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s-419" sz="1200" u="none">
                <a:solidFill>
                  <a:srgbClr val="595959"/>
                </a:solidFill>
                <a:latin typeface="Tahoma"/>
                <a:ea typeface="Tahoma"/>
                <a:cs typeface="Tahoma"/>
                <a:sym typeface="Tahoma"/>
              </a:rPr>
              <a:t>Clase 5</a:t>
            </a:r>
            <a:endParaRPr/>
          </a:p>
        </p:txBody>
      </p:sp>
      <p:sp>
        <p:nvSpPr>
          <p:cNvPr id="177" name="Google Shape;177;p25"/>
          <p:cNvSpPr txBox="1"/>
          <p:nvPr/>
        </p:nvSpPr>
        <p:spPr>
          <a:xfrm>
            <a:off x="323850" y="1762125"/>
            <a:ext cx="5818200" cy="1785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600"/>
              <a:buFont typeface="Architects Daughter"/>
              <a:buNone/>
            </a:pPr>
            <a:r>
              <a:rPr i="0" lang="es-419" sz="2100" u="none">
                <a:solidFill>
                  <a:srgbClr val="000000"/>
                </a:solidFill>
              </a:rPr>
              <a:t>Un efecto de la modularización es una mayor claridad para leer y comprender el código fuente. El ser humano maneja y comprende con mayor facilidad un número limitado de instrucciones directamente relacionadas.</a:t>
            </a:r>
            <a:r>
              <a:rPr b="1" i="0" lang="es-419" sz="2600" u="none">
                <a:solidFill>
                  <a:srgbClr val="000000"/>
                </a:solidFill>
                <a:latin typeface="Architects Daughter"/>
                <a:ea typeface="Architects Daughter"/>
                <a:cs typeface="Architects Daughter"/>
                <a:sym typeface="Architects Daughter"/>
              </a:rPr>
              <a:t> </a:t>
            </a:r>
            <a:endParaRPr/>
          </a:p>
        </p:txBody>
      </p:sp>
      <p:sp>
        <p:nvSpPr>
          <p:cNvPr id="178" name="Google Shape;178;p25"/>
          <p:cNvSpPr txBox="1"/>
          <p:nvPr/>
        </p:nvSpPr>
        <p:spPr>
          <a:xfrm>
            <a:off x="6030912" y="1558528"/>
            <a:ext cx="30447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3399"/>
              </a:buClr>
              <a:buSzPts val="3400"/>
              <a:buFont typeface="Architects Daughter"/>
              <a:buNone/>
            </a:pPr>
            <a:r>
              <a:rPr b="1" i="0" lang="es-419" sz="3400" u="none">
                <a:solidFill>
                  <a:schemeClr val="dk1"/>
                </a:solidFill>
                <a:latin typeface="Architects Daughter"/>
                <a:ea typeface="Architects Daughter"/>
                <a:cs typeface="Architects Daughter"/>
                <a:sym typeface="Architects Daughter"/>
              </a:rPr>
              <a:t>Legibilidad</a:t>
            </a:r>
            <a:endParaRPr>
              <a:solidFill>
                <a:schemeClr val="dk1"/>
              </a:solidFill>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type="title"/>
          </p:nvPr>
        </p:nvSpPr>
        <p:spPr>
          <a:xfrm>
            <a:off x="687700" y="-6"/>
            <a:ext cx="7886700" cy="994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a:t>
            </a:r>
            <a:endParaRPr sz="2200"/>
          </a:p>
        </p:txBody>
      </p:sp>
      <p:sp>
        <p:nvSpPr>
          <p:cNvPr id="184" name="Google Shape;184;p26"/>
          <p:cNvSpPr txBox="1"/>
          <p:nvPr>
            <p:ph idx="1" type="body"/>
          </p:nvPr>
        </p:nvSpPr>
        <p:spPr>
          <a:xfrm>
            <a:off x="628650" y="1081944"/>
            <a:ext cx="7886700" cy="3263400"/>
          </a:xfrm>
          <a:prstGeom prst="rect">
            <a:avLst/>
          </a:prstGeom>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2600"/>
              <a:buFont typeface="Architects Daughter"/>
              <a:buNone/>
            </a:pPr>
            <a:r>
              <a:rPr lang="es-419">
                <a:solidFill>
                  <a:schemeClr val="dk1"/>
                </a:solidFill>
              </a:rPr>
              <a:t>Recursos de los lenguajes de programación para especificar la modularización</a:t>
            </a:r>
            <a:endParaRPr sz="1000"/>
          </a:p>
        </p:txBody>
      </p:sp>
      <p:pic>
        <p:nvPicPr>
          <p:cNvPr id="185" name="Google Shape;185;p26"/>
          <p:cNvPicPr preferRelativeResize="0"/>
          <p:nvPr/>
        </p:nvPicPr>
        <p:blipFill rotWithShape="1">
          <a:blip r:embed="rId3">
            <a:alphaModFix/>
          </a:blip>
          <a:srcRect b="0" l="0" r="0" t="0"/>
          <a:stretch/>
        </p:blipFill>
        <p:spPr>
          <a:xfrm>
            <a:off x="751600" y="1846475"/>
            <a:ext cx="7640800" cy="2841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type="title"/>
          </p:nvPr>
        </p:nvSpPr>
        <p:spPr>
          <a:xfrm>
            <a:off x="628650" y="273848"/>
            <a:ext cx="7886700" cy="732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a:t>
            </a:r>
            <a:endParaRPr sz="2500"/>
          </a:p>
        </p:txBody>
      </p:sp>
      <p:sp>
        <p:nvSpPr>
          <p:cNvPr id="191" name="Google Shape;191;p27"/>
          <p:cNvSpPr txBox="1"/>
          <p:nvPr>
            <p:ph idx="1" type="body"/>
          </p:nvPr>
        </p:nvSpPr>
        <p:spPr>
          <a:xfrm>
            <a:off x="628650" y="1088151"/>
            <a:ext cx="7886700" cy="35445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sz="1700"/>
              <a:t>// inclusión de bibliotecas</a:t>
            </a:r>
            <a:endParaRPr sz="1700"/>
          </a:p>
          <a:p>
            <a:pPr indent="0" lvl="0" marL="0" rtl="0" algn="l">
              <a:spcBef>
                <a:spcPts val="750"/>
              </a:spcBef>
              <a:spcAft>
                <a:spcPts val="0"/>
              </a:spcAft>
              <a:buClr>
                <a:schemeClr val="dk1"/>
              </a:buClr>
              <a:buSzPts val="1100"/>
              <a:buFont typeface="Arial"/>
              <a:buNone/>
            </a:pPr>
            <a:r>
              <a:rPr lang="es-419">
                <a:solidFill>
                  <a:schemeClr val="dk1"/>
                </a:solidFill>
              </a:rPr>
              <a:t>#include &lt;iostream&gt;</a:t>
            </a:r>
            <a:endParaRPr>
              <a:solidFill>
                <a:schemeClr val="dk1"/>
              </a:solidFill>
            </a:endParaRPr>
          </a:p>
          <a:p>
            <a:pPr indent="0" lvl="0" marL="0" rtl="0" algn="l">
              <a:spcBef>
                <a:spcPts val="750"/>
              </a:spcBef>
              <a:spcAft>
                <a:spcPts val="0"/>
              </a:spcAft>
              <a:buClr>
                <a:schemeClr val="dk1"/>
              </a:buClr>
              <a:buSzPts val="1100"/>
              <a:buFont typeface="Arial"/>
              <a:buNone/>
            </a:pPr>
            <a:r>
              <a:rPr lang="es-419" sz="1700"/>
              <a:t>//declaración e implementación de funciones</a:t>
            </a:r>
            <a:endParaRPr sz="1700"/>
          </a:p>
          <a:p>
            <a:pPr indent="0" lvl="0" marL="0" rtl="0" algn="l">
              <a:spcBef>
                <a:spcPts val="750"/>
              </a:spcBef>
              <a:spcAft>
                <a:spcPts val="0"/>
              </a:spcAft>
              <a:buClr>
                <a:schemeClr val="dk1"/>
              </a:buClr>
              <a:buSzPts val="1100"/>
              <a:buFont typeface="Arial"/>
              <a:buNone/>
            </a:pPr>
            <a:r>
              <a:rPr lang="es-419">
                <a:solidFill>
                  <a:schemeClr val="dk1"/>
                </a:solidFill>
              </a:rPr>
              <a:t>void nombreFunción() {</a:t>
            </a:r>
            <a:endParaRPr>
              <a:solidFill>
                <a:schemeClr val="dk1"/>
              </a:solidFill>
            </a:endParaRPr>
          </a:p>
          <a:p>
            <a:pPr indent="0" lvl="0" marL="0" rtl="0" algn="l">
              <a:spcBef>
                <a:spcPts val="750"/>
              </a:spcBef>
              <a:spcAft>
                <a:spcPts val="0"/>
              </a:spcAft>
              <a:buClr>
                <a:schemeClr val="dk1"/>
              </a:buClr>
              <a:buSzPts val="1100"/>
              <a:buFont typeface="Arial"/>
              <a:buNone/>
            </a:pPr>
            <a:r>
              <a:rPr lang="es-419">
                <a:solidFill>
                  <a:schemeClr val="dk1"/>
                </a:solidFill>
              </a:rPr>
              <a:t>    /* Codigo de función*/</a:t>
            </a:r>
            <a:endParaRPr>
              <a:solidFill>
                <a:schemeClr val="dk1"/>
              </a:solidFill>
            </a:endParaRPr>
          </a:p>
          <a:p>
            <a:pPr indent="0" lvl="0" marL="0" rtl="0" algn="l">
              <a:spcBef>
                <a:spcPts val="750"/>
              </a:spcBef>
              <a:spcAft>
                <a:spcPts val="0"/>
              </a:spcAft>
              <a:buClr>
                <a:schemeClr val="dk1"/>
              </a:buClr>
              <a:buSzPts val="1100"/>
              <a:buFont typeface="Arial"/>
              <a:buNone/>
            </a:pPr>
            <a:r>
              <a:rPr lang="es-419">
                <a:solidFill>
                  <a:schemeClr val="dk1"/>
                </a:solidFill>
              </a:rPr>
              <a:t>}</a:t>
            </a:r>
            <a:endParaRPr>
              <a:solidFill>
                <a:schemeClr val="dk1"/>
              </a:solidFill>
            </a:endParaRPr>
          </a:p>
          <a:p>
            <a:pPr indent="0" lvl="0" marL="0" rtl="0" algn="l">
              <a:spcBef>
                <a:spcPts val="750"/>
              </a:spcBef>
              <a:spcAft>
                <a:spcPts val="0"/>
              </a:spcAft>
              <a:buClr>
                <a:schemeClr val="dk1"/>
              </a:buClr>
              <a:buSzPts val="1100"/>
              <a:buFont typeface="Arial"/>
              <a:buNone/>
            </a:pPr>
            <a:r>
              <a:rPr lang="es-419" sz="1700"/>
              <a:t>//funcion principal </a:t>
            </a:r>
            <a:endParaRPr sz="1700"/>
          </a:p>
          <a:p>
            <a:pPr indent="0" lvl="0" marL="0" rtl="0" algn="l">
              <a:spcBef>
                <a:spcPts val="750"/>
              </a:spcBef>
              <a:spcAft>
                <a:spcPts val="0"/>
              </a:spcAft>
              <a:buClr>
                <a:schemeClr val="dk1"/>
              </a:buClr>
              <a:buSzPts val="1100"/>
              <a:buFont typeface="Arial"/>
              <a:buNone/>
            </a:pPr>
            <a:r>
              <a:rPr lang="es-419">
                <a:solidFill>
                  <a:schemeClr val="dk1"/>
                </a:solidFill>
              </a:rPr>
              <a:t>int main() {</a:t>
            </a:r>
            <a:endParaRPr>
              <a:solidFill>
                <a:schemeClr val="dk1"/>
              </a:solidFill>
            </a:endParaRPr>
          </a:p>
          <a:p>
            <a:pPr indent="0" lvl="0" marL="0" rtl="0" algn="l">
              <a:spcBef>
                <a:spcPts val="750"/>
              </a:spcBef>
              <a:spcAft>
                <a:spcPts val="0"/>
              </a:spcAft>
              <a:buClr>
                <a:schemeClr val="dk1"/>
              </a:buClr>
              <a:buSzPts val="1100"/>
              <a:buFont typeface="Arial"/>
              <a:buNone/>
            </a:pPr>
            <a:r>
              <a:rPr lang="es-419">
                <a:solidFill>
                  <a:schemeClr val="dk1"/>
                </a:solidFill>
              </a:rPr>
              <a:t>    nombreFuncion(); </a:t>
            </a:r>
            <a:r>
              <a:rPr lang="es-419" sz="1700"/>
              <a:t>//llamada a una función</a:t>
            </a:r>
            <a:endParaRPr sz="1700"/>
          </a:p>
          <a:p>
            <a:pPr indent="0" lvl="0" marL="0" rtl="0" algn="l">
              <a:spcBef>
                <a:spcPts val="750"/>
              </a:spcBef>
              <a:spcAft>
                <a:spcPts val="0"/>
              </a:spcAft>
              <a:buClr>
                <a:schemeClr val="dk1"/>
              </a:buClr>
              <a:buSzPts val="1100"/>
              <a:buFont typeface="Arial"/>
              <a:buNone/>
            </a:pPr>
            <a:r>
              <a:rPr lang="es-419">
                <a:solidFill>
                  <a:schemeClr val="dk1"/>
                </a:solidFill>
              </a:rPr>
              <a:t>    </a:t>
            </a:r>
            <a:endParaRPr>
              <a:solidFill>
                <a:schemeClr val="dk1"/>
              </a:solidFill>
            </a:endParaRPr>
          </a:p>
          <a:p>
            <a:pPr indent="0" lvl="0" marL="0" rtl="0" algn="l">
              <a:spcBef>
                <a:spcPts val="750"/>
              </a:spcBef>
              <a:spcAft>
                <a:spcPts val="0"/>
              </a:spcAft>
              <a:buClr>
                <a:schemeClr val="dk1"/>
              </a:buClr>
              <a:buSzPts val="1100"/>
              <a:buFont typeface="Arial"/>
              <a:buNone/>
            </a:pPr>
            <a:r>
              <a:rPr lang="es-419">
                <a:solidFill>
                  <a:schemeClr val="dk1"/>
                </a:solidFill>
              </a:rPr>
              <a:t>}</a:t>
            </a:r>
            <a:endParaRPr>
              <a:solidFill>
                <a:schemeClr val="dk1"/>
              </a:solidFill>
            </a:endParaRPr>
          </a:p>
          <a:p>
            <a:pPr indent="0" lvl="0" marL="0" rtl="0" algn="l">
              <a:spcBef>
                <a:spcPts val="75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ph type="title"/>
          </p:nvPr>
        </p:nvSpPr>
        <p:spPr>
          <a:xfrm>
            <a:off x="628650" y="273848"/>
            <a:ext cx="7886700" cy="609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funciones</a:t>
            </a:r>
            <a:endParaRPr sz="2500"/>
          </a:p>
        </p:txBody>
      </p:sp>
      <p:sp>
        <p:nvSpPr>
          <p:cNvPr id="197" name="Google Shape;197;p28"/>
          <p:cNvSpPr txBox="1"/>
          <p:nvPr>
            <p:ph idx="1" type="body"/>
          </p:nvPr>
        </p:nvSpPr>
        <p:spPr>
          <a:xfrm>
            <a:off x="628650" y="965026"/>
            <a:ext cx="7886700" cy="36675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Clr>
                <a:schemeClr val="dk1"/>
              </a:buClr>
              <a:buSzPts val="1100"/>
              <a:buFont typeface="Arial"/>
              <a:buNone/>
            </a:pPr>
            <a:r>
              <a:rPr lang="es-419"/>
              <a:t>int cuadrado(int x) {</a:t>
            </a:r>
            <a:endParaRPr/>
          </a:p>
          <a:p>
            <a:pPr indent="0" lvl="0" marL="0" rtl="0" algn="l">
              <a:spcBef>
                <a:spcPts val="750"/>
              </a:spcBef>
              <a:spcAft>
                <a:spcPts val="0"/>
              </a:spcAft>
              <a:buClr>
                <a:schemeClr val="dk1"/>
              </a:buClr>
              <a:buSzPts val="1100"/>
              <a:buFont typeface="Arial"/>
              <a:buNone/>
            </a:pPr>
            <a:r>
              <a:rPr lang="es-419"/>
              <a:t>    return x * x;</a:t>
            </a:r>
            <a:endParaRPr/>
          </a:p>
          <a:p>
            <a:pPr indent="0" lvl="0" marL="0" rtl="0" algn="l">
              <a:spcBef>
                <a:spcPts val="750"/>
              </a:spcBef>
              <a:spcAft>
                <a:spcPts val="0"/>
              </a:spcAft>
              <a:buClr>
                <a:schemeClr val="dk1"/>
              </a:buClr>
              <a:buSzPts val="1100"/>
              <a:buFont typeface="Arial"/>
              <a:buNone/>
            </a:pPr>
            <a:r>
              <a:rPr lang="es-419"/>
              <a:t>}</a:t>
            </a:r>
            <a:endParaRPr/>
          </a:p>
          <a:p>
            <a:pPr indent="0" lvl="0" marL="0" rtl="0" algn="l">
              <a:spcBef>
                <a:spcPts val="750"/>
              </a:spcBef>
              <a:spcAft>
                <a:spcPts val="0"/>
              </a:spcAft>
              <a:buNone/>
            </a:pPr>
            <a:r>
              <a:t/>
            </a:r>
            <a:endParaRPr/>
          </a:p>
        </p:txBody>
      </p:sp>
      <p:cxnSp>
        <p:nvCxnSpPr>
          <p:cNvPr id="198" name="Google Shape;198;p28"/>
          <p:cNvCxnSpPr/>
          <p:nvPr/>
        </p:nvCxnSpPr>
        <p:spPr>
          <a:xfrm>
            <a:off x="865550" y="1949950"/>
            <a:ext cx="54600" cy="1245000"/>
          </a:xfrm>
          <a:prstGeom prst="straightConnector1">
            <a:avLst/>
          </a:prstGeom>
          <a:noFill/>
          <a:ln cap="flat" cmpd="sng" w="9525">
            <a:solidFill>
              <a:schemeClr val="dk2"/>
            </a:solidFill>
            <a:prstDash val="solid"/>
            <a:round/>
            <a:headEnd len="med" w="med" type="none"/>
            <a:tailEnd len="med" w="med" type="triangle"/>
          </a:ln>
        </p:spPr>
      </p:cxnSp>
      <p:sp>
        <p:nvSpPr>
          <p:cNvPr id="199" name="Google Shape;199;p28"/>
          <p:cNvSpPr txBox="1"/>
          <p:nvPr/>
        </p:nvSpPr>
        <p:spPr>
          <a:xfrm>
            <a:off x="742425" y="3304225"/>
            <a:ext cx="19698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Que devuelve</a:t>
            </a:r>
            <a:endParaRPr sz="1800">
              <a:solidFill>
                <a:schemeClr val="dk2"/>
              </a:solidFill>
            </a:endParaRPr>
          </a:p>
        </p:txBody>
      </p:sp>
      <p:cxnSp>
        <p:nvCxnSpPr>
          <p:cNvPr id="200" name="Google Shape;200;p28"/>
          <p:cNvCxnSpPr/>
          <p:nvPr/>
        </p:nvCxnSpPr>
        <p:spPr>
          <a:xfrm>
            <a:off x="1973575" y="1922600"/>
            <a:ext cx="1573200" cy="1449900"/>
          </a:xfrm>
          <a:prstGeom prst="straightConnector1">
            <a:avLst/>
          </a:prstGeom>
          <a:noFill/>
          <a:ln cap="flat" cmpd="sng" w="9525">
            <a:solidFill>
              <a:schemeClr val="dk2"/>
            </a:solidFill>
            <a:prstDash val="solid"/>
            <a:round/>
            <a:headEnd len="med" w="med" type="none"/>
            <a:tailEnd len="med" w="med" type="triangle"/>
          </a:ln>
        </p:spPr>
      </p:cxnSp>
      <p:sp>
        <p:nvSpPr>
          <p:cNvPr id="201" name="Google Shape;201;p28"/>
          <p:cNvSpPr txBox="1"/>
          <p:nvPr/>
        </p:nvSpPr>
        <p:spPr>
          <a:xfrm>
            <a:off x="3327850" y="3468375"/>
            <a:ext cx="1969800" cy="12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Nombre de la función, con este nombre la invocamos</a:t>
            </a:r>
            <a:endParaRPr sz="1800">
              <a:solidFill>
                <a:schemeClr val="dk2"/>
              </a:solidFill>
            </a:endParaRPr>
          </a:p>
        </p:txBody>
      </p:sp>
      <p:cxnSp>
        <p:nvCxnSpPr>
          <p:cNvPr id="202" name="Google Shape;202;p28"/>
          <p:cNvCxnSpPr/>
          <p:nvPr/>
        </p:nvCxnSpPr>
        <p:spPr>
          <a:xfrm>
            <a:off x="2397650" y="1908925"/>
            <a:ext cx="3843900" cy="1463700"/>
          </a:xfrm>
          <a:prstGeom prst="straightConnector1">
            <a:avLst/>
          </a:prstGeom>
          <a:noFill/>
          <a:ln cap="flat" cmpd="sng" w="9525">
            <a:solidFill>
              <a:schemeClr val="dk2"/>
            </a:solidFill>
            <a:prstDash val="solid"/>
            <a:round/>
            <a:headEnd len="med" w="med" type="none"/>
            <a:tailEnd len="med" w="med" type="triangle"/>
          </a:ln>
        </p:spPr>
      </p:cxnSp>
      <p:sp>
        <p:nvSpPr>
          <p:cNvPr id="203" name="Google Shape;203;p28"/>
          <p:cNvSpPr txBox="1"/>
          <p:nvPr/>
        </p:nvSpPr>
        <p:spPr>
          <a:xfrm>
            <a:off x="5913275" y="3468375"/>
            <a:ext cx="26265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Que recibe</a:t>
            </a:r>
            <a:endParaRPr sz="1800">
              <a:solidFill>
                <a:schemeClr val="dk2"/>
              </a:solidFill>
            </a:endParaRPr>
          </a:p>
        </p:txBody>
      </p:sp>
      <p:cxnSp>
        <p:nvCxnSpPr>
          <p:cNvPr id="204" name="Google Shape;204;p28"/>
          <p:cNvCxnSpPr/>
          <p:nvPr/>
        </p:nvCxnSpPr>
        <p:spPr>
          <a:xfrm>
            <a:off x="2219825" y="2209875"/>
            <a:ext cx="3050400" cy="13800"/>
          </a:xfrm>
          <a:prstGeom prst="straightConnector1">
            <a:avLst/>
          </a:prstGeom>
          <a:noFill/>
          <a:ln cap="flat" cmpd="sng" w="9525">
            <a:solidFill>
              <a:schemeClr val="dk2"/>
            </a:solidFill>
            <a:prstDash val="solid"/>
            <a:round/>
            <a:headEnd len="med" w="med" type="none"/>
            <a:tailEnd len="med" w="med" type="triangle"/>
          </a:ln>
        </p:spPr>
      </p:cxnSp>
      <p:sp>
        <p:nvSpPr>
          <p:cNvPr id="205" name="Google Shape;205;p28"/>
          <p:cNvSpPr txBox="1"/>
          <p:nvPr/>
        </p:nvSpPr>
        <p:spPr>
          <a:xfrm>
            <a:off x="5612325" y="1840525"/>
            <a:ext cx="2903100" cy="8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Cuerpo de la función</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type="title"/>
          </p:nvPr>
        </p:nvSpPr>
        <p:spPr>
          <a:xfrm>
            <a:off x="628650" y="273848"/>
            <a:ext cx="7886700" cy="732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funciones</a:t>
            </a:r>
            <a:endParaRPr sz="2500"/>
          </a:p>
        </p:txBody>
      </p:sp>
      <p:sp>
        <p:nvSpPr>
          <p:cNvPr id="211" name="Google Shape;211;p29"/>
          <p:cNvSpPr txBox="1"/>
          <p:nvPr>
            <p:ph idx="1" type="body"/>
          </p:nvPr>
        </p:nvSpPr>
        <p:spPr>
          <a:xfrm>
            <a:off x="628650" y="1006151"/>
            <a:ext cx="7886700" cy="36264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a:p>
            <a:pPr indent="0" lvl="0" marL="0" rtl="0" algn="l">
              <a:spcBef>
                <a:spcPts val="750"/>
              </a:spcBef>
              <a:spcAft>
                <a:spcPts val="0"/>
              </a:spcAft>
              <a:buNone/>
            </a:pPr>
            <a:r>
              <a:t/>
            </a:r>
            <a:endParaRPr/>
          </a:p>
          <a:p>
            <a:pPr indent="0" lvl="0" marL="0" rtl="0" algn="l">
              <a:spcBef>
                <a:spcPts val="750"/>
              </a:spcBef>
              <a:spcAft>
                <a:spcPts val="0"/>
              </a:spcAft>
              <a:buClr>
                <a:schemeClr val="dk1"/>
              </a:buClr>
              <a:buSzPts val="1100"/>
              <a:buFont typeface="Arial"/>
              <a:buNone/>
            </a:pPr>
            <a:r>
              <a:rPr lang="es-419"/>
              <a:t>void saludar() {</a:t>
            </a:r>
            <a:endParaRPr/>
          </a:p>
          <a:p>
            <a:pPr indent="0" lvl="0" marL="0" rtl="0" algn="l">
              <a:spcBef>
                <a:spcPts val="750"/>
              </a:spcBef>
              <a:spcAft>
                <a:spcPts val="0"/>
              </a:spcAft>
              <a:buClr>
                <a:schemeClr val="dk1"/>
              </a:buClr>
              <a:buSzPts val="1100"/>
              <a:buFont typeface="Arial"/>
              <a:buNone/>
            </a:pPr>
            <a:r>
              <a:rPr lang="es-419"/>
              <a:t>    cout &lt;&lt; "Hola!" &lt;&lt; endl;</a:t>
            </a:r>
            <a:endParaRPr/>
          </a:p>
          <a:p>
            <a:pPr indent="0" lvl="0" marL="0" rtl="0" algn="l">
              <a:spcBef>
                <a:spcPts val="750"/>
              </a:spcBef>
              <a:spcAft>
                <a:spcPts val="0"/>
              </a:spcAft>
              <a:buClr>
                <a:schemeClr val="dk1"/>
              </a:buClr>
              <a:buSzPts val="1100"/>
              <a:buFont typeface="Arial"/>
              <a:buNone/>
            </a:pPr>
            <a:r>
              <a:rPr lang="es-419"/>
              <a:t>}</a:t>
            </a:r>
            <a:endParaRPr/>
          </a:p>
          <a:p>
            <a:pPr indent="0" lvl="0" marL="0" rtl="0" algn="l">
              <a:spcBef>
                <a:spcPts val="750"/>
              </a:spcBef>
              <a:spcAft>
                <a:spcPts val="0"/>
              </a:spcAft>
              <a:buNone/>
            </a:pPr>
            <a:r>
              <a:t/>
            </a:r>
            <a:endParaRPr/>
          </a:p>
        </p:txBody>
      </p:sp>
      <p:sp>
        <p:nvSpPr>
          <p:cNvPr id="212" name="Google Shape;212;p29"/>
          <p:cNvSpPr txBox="1"/>
          <p:nvPr/>
        </p:nvSpPr>
        <p:spPr>
          <a:xfrm>
            <a:off x="3368875" y="2867950"/>
            <a:ext cx="3570300" cy="17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Función que no devuelve </a:t>
            </a:r>
            <a:r>
              <a:rPr lang="es-419" sz="1800">
                <a:solidFill>
                  <a:schemeClr val="dk2"/>
                </a:solidFill>
              </a:rPr>
              <a:t>ningún</a:t>
            </a:r>
            <a:r>
              <a:rPr lang="es-419" sz="1800">
                <a:solidFill>
                  <a:schemeClr val="dk2"/>
                </a:solidFill>
              </a:rPr>
              <a:t> valor</a:t>
            </a:r>
            <a:endParaRPr sz="1800">
              <a:solidFill>
                <a:schemeClr val="dk2"/>
              </a:solidFill>
            </a:endParaRPr>
          </a:p>
        </p:txBody>
      </p:sp>
      <p:cxnSp>
        <p:nvCxnSpPr>
          <p:cNvPr id="213" name="Google Shape;213;p29"/>
          <p:cNvCxnSpPr/>
          <p:nvPr/>
        </p:nvCxnSpPr>
        <p:spPr>
          <a:xfrm>
            <a:off x="1152800" y="1881550"/>
            <a:ext cx="2298300" cy="1313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628650" y="273848"/>
            <a:ext cx="7886700" cy="622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funciones</a:t>
            </a:r>
            <a:endParaRPr sz="2500"/>
          </a:p>
        </p:txBody>
      </p:sp>
      <p:sp>
        <p:nvSpPr>
          <p:cNvPr id="219" name="Google Shape;219;p30"/>
          <p:cNvSpPr txBox="1"/>
          <p:nvPr>
            <p:ph idx="1" type="body"/>
          </p:nvPr>
        </p:nvSpPr>
        <p:spPr>
          <a:xfrm>
            <a:off x="628650" y="1060775"/>
            <a:ext cx="7886700" cy="39945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Clr>
                <a:schemeClr val="dk1"/>
              </a:buClr>
              <a:buSzPts val="1100"/>
              <a:buFont typeface="Arial"/>
              <a:buNone/>
            </a:pPr>
            <a:r>
              <a:rPr lang="es-419"/>
              <a:t>int obtenerNumero() {</a:t>
            </a:r>
            <a:endParaRPr/>
          </a:p>
          <a:p>
            <a:pPr indent="0" lvl="0" marL="0" rtl="0" algn="l">
              <a:spcBef>
                <a:spcPts val="750"/>
              </a:spcBef>
              <a:spcAft>
                <a:spcPts val="0"/>
              </a:spcAft>
              <a:buClr>
                <a:schemeClr val="dk1"/>
              </a:buClr>
              <a:buSzPts val="1100"/>
              <a:buFont typeface="Arial"/>
              <a:buNone/>
            </a:pPr>
            <a:r>
              <a:rPr lang="es-419"/>
              <a:t>    return 42;</a:t>
            </a:r>
            <a:endParaRPr/>
          </a:p>
          <a:p>
            <a:pPr indent="0" lvl="0" marL="0" rtl="0" algn="l">
              <a:spcBef>
                <a:spcPts val="750"/>
              </a:spcBef>
              <a:spcAft>
                <a:spcPts val="0"/>
              </a:spcAft>
              <a:buClr>
                <a:schemeClr val="dk1"/>
              </a:buClr>
              <a:buSzPts val="1100"/>
              <a:buFont typeface="Arial"/>
              <a:buNone/>
            </a:pPr>
            <a:r>
              <a:rPr lang="es-419"/>
              <a:t>}</a:t>
            </a:r>
            <a:endParaRPr/>
          </a:p>
          <a:p>
            <a:pPr indent="0" lvl="0" marL="0" rtl="0" algn="l">
              <a:spcBef>
                <a:spcPts val="750"/>
              </a:spcBef>
              <a:spcAft>
                <a:spcPts val="0"/>
              </a:spcAft>
              <a:buNone/>
            </a:pPr>
            <a:r>
              <a:t/>
            </a:r>
            <a:endParaRPr/>
          </a:p>
          <a:p>
            <a:pPr indent="0" lvl="0" marL="0" rtl="0" algn="l">
              <a:spcBef>
                <a:spcPts val="750"/>
              </a:spcBef>
              <a:spcAft>
                <a:spcPts val="0"/>
              </a:spcAft>
              <a:buClr>
                <a:schemeClr val="dk1"/>
              </a:buClr>
              <a:buSzPts val="1100"/>
              <a:buFont typeface="Arial"/>
              <a:buNone/>
            </a:pPr>
            <a:r>
              <a:rPr lang="es-419"/>
              <a:t>int sumar(int a, int b) {</a:t>
            </a:r>
            <a:endParaRPr/>
          </a:p>
          <a:p>
            <a:pPr indent="0" lvl="0" marL="0" rtl="0" algn="l">
              <a:spcBef>
                <a:spcPts val="750"/>
              </a:spcBef>
              <a:spcAft>
                <a:spcPts val="0"/>
              </a:spcAft>
              <a:buClr>
                <a:schemeClr val="dk1"/>
              </a:buClr>
              <a:buSzPts val="1100"/>
              <a:buFont typeface="Arial"/>
              <a:buNone/>
            </a:pPr>
            <a:r>
              <a:rPr lang="es-419"/>
              <a:t>    return a + b;</a:t>
            </a:r>
            <a:endParaRPr/>
          </a:p>
          <a:p>
            <a:pPr indent="0" lvl="0" marL="0" rtl="0" algn="l">
              <a:spcBef>
                <a:spcPts val="750"/>
              </a:spcBef>
              <a:spcAft>
                <a:spcPts val="0"/>
              </a:spcAft>
              <a:buNone/>
            </a:pPr>
            <a:r>
              <a:rPr lang="es-419"/>
              <a:t>}</a:t>
            </a:r>
            <a:endParaRPr/>
          </a:p>
          <a:p>
            <a:pPr indent="0" lvl="0" marL="0" rtl="0" algn="l">
              <a:spcBef>
                <a:spcPts val="750"/>
              </a:spcBef>
              <a:spcAft>
                <a:spcPts val="0"/>
              </a:spcAft>
              <a:buClr>
                <a:schemeClr val="dk1"/>
              </a:buClr>
              <a:buSzPts val="1100"/>
              <a:buFont typeface="Arial"/>
              <a:buNone/>
            </a:pPr>
            <a:r>
              <a:t/>
            </a:r>
            <a:endParaRPr/>
          </a:p>
          <a:p>
            <a:pPr indent="0" lvl="0" marL="0" rtl="0" algn="l">
              <a:spcBef>
                <a:spcPts val="750"/>
              </a:spcBef>
              <a:spcAft>
                <a:spcPts val="0"/>
              </a:spcAft>
              <a:buClr>
                <a:schemeClr val="dk1"/>
              </a:buClr>
              <a:buSzPts val="1100"/>
              <a:buFont typeface="Arial"/>
              <a:buNone/>
            </a:pPr>
            <a:r>
              <a:rPr lang="es-419"/>
              <a:t>void incrementar(int&amp; x) {</a:t>
            </a:r>
            <a:endParaRPr/>
          </a:p>
          <a:p>
            <a:pPr indent="0" lvl="0" marL="0" rtl="0" algn="l">
              <a:spcBef>
                <a:spcPts val="750"/>
              </a:spcBef>
              <a:spcAft>
                <a:spcPts val="0"/>
              </a:spcAft>
              <a:buClr>
                <a:schemeClr val="dk1"/>
              </a:buClr>
              <a:buSzPts val="1100"/>
              <a:buFont typeface="Arial"/>
              <a:buNone/>
            </a:pPr>
            <a:r>
              <a:rPr lang="es-419"/>
              <a:t>    x++;</a:t>
            </a:r>
            <a:endParaRPr/>
          </a:p>
          <a:p>
            <a:pPr indent="0" lvl="0" marL="0" rtl="0" algn="l">
              <a:spcBef>
                <a:spcPts val="750"/>
              </a:spcBef>
              <a:spcAft>
                <a:spcPts val="0"/>
              </a:spcAft>
              <a:buClr>
                <a:schemeClr val="dk1"/>
              </a:buClr>
              <a:buSzPts val="1100"/>
              <a:buFont typeface="Arial"/>
              <a:buNone/>
            </a:pPr>
            <a:r>
              <a:rPr lang="es-419"/>
              <a:t>}</a:t>
            </a:r>
            <a:endParaRPr/>
          </a:p>
          <a:p>
            <a:pPr indent="0" lvl="0" marL="0" rtl="0" algn="l">
              <a:spcBef>
                <a:spcPts val="750"/>
              </a:spcBef>
              <a:spcAft>
                <a:spcPts val="0"/>
              </a:spcAft>
              <a:buNone/>
            </a:pPr>
            <a:r>
              <a:t/>
            </a:r>
            <a:endParaRPr/>
          </a:p>
        </p:txBody>
      </p:sp>
      <p:sp>
        <p:nvSpPr>
          <p:cNvPr id="220" name="Google Shape;220;p30"/>
          <p:cNvSpPr txBox="1"/>
          <p:nvPr/>
        </p:nvSpPr>
        <p:spPr>
          <a:xfrm>
            <a:off x="3621900" y="1060775"/>
            <a:ext cx="38988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Sin </a:t>
            </a:r>
            <a:r>
              <a:rPr lang="es-419" sz="1800">
                <a:solidFill>
                  <a:schemeClr val="dk2"/>
                </a:solidFill>
              </a:rPr>
              <a:t>parámetros</a:t>
            </a:r>
            <a:endParaRPr sz="1800">
              <a:solidFill>
                <a:schemeClr val="dk2"/>
              </a:solidFill>
            </a:endParaRPr>
          </a:p>
        </p:txBody>
      </p:sp>
      <p:sp>
        <p:nvSpPr>
          <p:cNvPr id="221" name="Google Shape;221;p30"/>
          <p:cNvSpPr txBox="1"/>
          <p:nvPr/>
        </p:nvSpPr>
        <p:spPr>
          <a:xfrm>
            <a:off x="3635700" y="2395175"/>
            <a:ext cx="3885000" cy="9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Con parámetros por valor</a:t>
            </a:r>
            <a:endParaRPr sz="1800">
              <a:solidFill>
                <a:schemeClr val="dk2"/>
              </a:solidFill>
            </a:endParaRPr>
          </a:p>
        </p:txBody>
      </p:sp>
      <p:sp>
        <p:nvSpPr>
          <p:cNvPr id="222" name="Google Shape;222;p30"/>
          <p:cNvSpPr txBox="1"/>
          <p:nvPr/>
        </p:nvSpPr>
        <p:spPr>
          <a:xfrm>
            <a:off x="3669850" y="3851400"/>
            <a:ext cx="3447300" cy="83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Con parámetros por referencia</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628650" y="273848"/>
            <a:ext cx="7886700" cy="66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funciones</a:t>
            </a:r>
            <a:endParaRPr sz="2500"/>
          </a:p>
        </p:txBody>
      </p:sp>
      <p:sp>
        <p:nvSpPr>
          <p:cNvPr id="228" name="Google Shape;228;p31"/>
          <p:cNvSpPr txBox="1"/>
          <p:nvPr>
            <p:ph idx="1" type="body"/>
          </p:nvPr>
        </p:nvSpPr>
        <p:spPr>
          <a:xfrm>
            <a:off x="628650" y="1033426"/>
            <a:ext cx="7886700" cy="35991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a:t>int main(){</a:t>
            </a:r>
            <a:endParaRPr/>
          </a:p>
          <a:p>
            <a:pPr indent="0" lvl="0" marL="0" rtl="0" algn="l">
              <a:spcBef>
                <a:spcPts val="750"/>
              </a:spcBef>
              <a:spcAft>
                <a:spcPts val="0"/>
              </a:spcAft>
              <a:buNone/>
            </a:pPr>
            <a:r>
              <a:rPr lang="es-419"/>
              <a:t>	int x, resultado;</a:t>
            </a:r>
            <a:endParaRPr/>
          </a:p>
          <a:p>
            <a:pPr indent="0" lvl="0" marL="0" rtl="0" algn="l">
              <a:spcBef>
                <a:spcPts val="750"/>
              </a:spcBef>
              <a:spcAft>
                <a:spcPts val="0"/>
              </a:spcAft>
              <a:buNone/>
            </a:pPr>
            <a:r>
              <a:rPr lang="es-419"/>
              <a:t>	x = obtenerNumero();</a:t>
            </a:r>
            <a:endParaRPr/>
          </a:p>
          <a:p>
            <a:pPr indent="0" lvl="0" marL="0" rtl="0" algn="l">
              <a:spcBef>
                <a:spcPts val="750"/>
              </a:spcBef>
              <a:spcAft>
                <a:spcPts val="0"/>
              </a:spcAft>
              <a:buNone/>
            </a:pPr>
            <a:r>
              <a:rPr lang="es-419"/>
              <a:t>	incrementar(x);</a:t>
            </a:r>
            <a:endParaRPr/>
          </a:p>
          <a:p>
            <a:pPr indent="0" lvl="0" marL="0" rtl="0" algn="l">
              <a:spcBef>
                <a:spcPts val="750"/>
              </a:spcBef>
              <a:spcAft>
                <a:spcPts val="0"/>
              </a:spcAft>
              <a:buNone/>
            </a:pPr>
            <a:r>
              <a:rPr lang="es-419"/>
              <a:t>	resultado = sumar(x,10);</a:t>
            </a:r>
            <a:endParaRPr/>
          </a:p>
          <a:p>
            <a:pPr indent="0" lvl="0" marL="0" rtl="0" algn="l">
              <a:spcBef>
                <a:spcPts val="750"/>
              </a:spcBef>
              <a:spcAft>
                <a:spcPts val="0"/>
              </a:spcAft>
              <a:buNone/>
            </a:pPr>
            <a:r>
              <a:rPr lang="es-419"/>
              <a:t>	</a:t>
            </a:r>
            <a:endParaRPr/>
          </a:p>
          <a:p>
            <a:pPr indent="457200" lvl="0" marL="0" rtl="0" algn="l">
              <a:spcBef>
                <a:spcPts val="750"/>
              </a:spcBef>
              <a:spcAft>
                <a:spcPts val="0"/>
              </a:spcAft>
              <a:buNone/>
            </a:pPr>
            <a:r>
              <a:rPr lang="es-419"/>
              <a:t>cout&lt;&lt;”el resultado es: “&lt;&lt; resultado&lt;&lt;endl;</a:t>
            </a:r>
            <a:endParaRPr/>
          </a:p>
          <a:p>
            <a:pPr indent="457200" lvl="0" marL="0" rtl="0" algn="l">
              <a:spcBef>
                <a:spcPts val="750"/>
              </a:spcBef>
              <a:spcAft>
                <a:spcPts val="0"/>
              </a:spcAft>
              <a:buNone/>
            </a:pPr>
            <a:r>
              <a:rPr lang="es-419"/>
              <a:t>return 0;</a:t>
            </a:r>
            <a:endParaRPr/>
          </a:p>
          <a:p>
            <a:pPr indent="0" lvl="0" marL="0" rtl="0" algn="l">
              <a:spcBef>
                <a:spcPts val="750"/>
              </a:spcBef>
              <a:spcAft>
                <a:spcPts val="0"/>
              </a:spcAft>
              <a:buNone/>
            </a:pPr>
            <a:r>
              <a:rPr lang="es-419"/>
              <a:t>}</a:t>
            </a:r>
            <a:endParaRPr/>
          </a:p>
        </p:txBody>
      </p:sp>
      <p:cxnSp>
        <p:nvCxnSpPr>
          <p:cNvPr id="229" name="Google Shape;229;p31"/>
          <p:cNvCxnSpPr/>
          <p:nvPr/>
        </p:nvCxnSpPr>
        <p:spPr>
          <a:xfrm flipH="1" rot="10800000">
            <a:off x="2684925" y="1854125"/>
            <a:ext cx="2243400" cy="383100"/>
          </a:xfrm>
          <a:prstGeom prst="straightConnector1">
            <a:avLst/>
          </a:prstGeom>
          <a:noFill/>
          <a:ln cap="flat" cmpd="sng" w="9525">
            <a:solidFill>
              <a:schemeClr val="dk2"/>
            </a:solidFill>
            <a:prstDash val="solid"/>
            <a:round/>
            <a:headEnd len="med" w="med" type="none"/>
            <a:tailEnd len="med" w="med" type="triangle"/>
          </a:ln>
        </p:spPr>
      </p:cxnSp>
      <p:sp>
        <p:nvSpPr>
          <p:cNvPr id="230" name="Google Shape;230;p31"/>
          <p:cNvSpPr txBox="1"/>
          <p:nvPr/>
        </p:nvSpPr>
        <p:spPr>
          <a:xfrm>
            <a:off x="5147225" y="1265975"/>
            <a:ext cx="3255600" cy="10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Al ser por referencia solo podemos pasarle una variable del mismo tipo que recibe.</a:t>
            </a:r>
            <a:endParaRPr sz="1800">
              <a:solidFill>
                <a:schemeClr val="dk2"/>
              </a:solidFill>
            </a:endParaRPr>
          </a:p>
        </p:txBody>
      </p:sp>
      <p:cxnSp>
        <p:nvCxnSpPr>
          <p:cNvPr id="231" name="Google Shape;231;p31"/>
          <p:cNvCxnSpPr/>
          <p:nvPr/>
        </p:nvCxnSpPr>
        <p:spPr>
          <a:xfrm>
            <a:off x="3669850" y="2688650"/>
            <a:ext cx="1559400" cy="68400"/>
          </a:xfrm>
          <a:prstGeom prst="straightConnector1">
            <a:avLst/>
          </a:prstGeom>
          <a:noFill/>
          <a:ln cap="flat" cmpd="sng" w="9525">
            <a:solidFill>
              <a:schemeClr val="dk2"/>
            </a:solidFill>
            <a:prstDash val="solid"/>
            <a:round/>
            <a:headEnd len="med" w="med" type="none"/>
            <a:tailEnd len="med" w="med" type="triangle"/>
          </a:ln>
        </p:spPr>
      </p:cxnSp>
      <p:sp>
        <p:nvSpPr>
          <p:cNvPr id="232" name="Google Shape;232;p31"/>
          <p:cNvSpPr txBox="1"/>
          <p:nvPr/>
        </p:nvSpPr>
        <p:spPr>
          <a:xfrm>
            <a:off x="5628925" y="2469750"/>
            <a:ext cx="3105300" cy="15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Al ser por valor le podemos pasar un valor del mismo tipo que recibe.</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628650" y="273848"/>
            <a:ext cx="7886700" cy="636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a:t>
            </a:r>
            <a:r>
              <a:rPr lang="es-419" sz="2500"/>
              <a:t>odularización</a:t>
            </a:r>
            <a:endParaRPr sz="2500"/>
          </a:p>
        </p:txBody>
      </p:sp>
      <p:sp>
        <p:nvSpPr>
          <p:cNvPr id="238" name="Google Shape;238;p32"/>
          <p:cNvSpPr txBox="1"/>
          <p:nvPr>
            <p:ph idx="1" type="body"/>
          </p:nvPr>
        </p:nvSpPr>
        <p:spPr>
          <a:xfrm>
            <a:off x="628650" y="910150"/>
            <a:ext cx="7886700" cy="42333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Clr>
                <a:schemeClr val="dk1"/>
              </a:buClr>
              <a:buSzPts val="1100"/>
              <a:buFont typeface="Arial"/>
              <a:buNone/>
            </a:pPr>
            <a:r>
              <a:rPr lang="es-419" sz="1300"/>
              <a:t>#include &lt;iostream&gt;</a:t>
            </a:r>
            <a:endParaRPr sz="1300"/>
          </a:p>
          <a:p>
            <a:pPr indent="0" lvl="0" marL="0" rtl="0" algn="l">
              <a:spcBef>
                <a:spcPts val="750"/>
              </a:spcBef>
              <a:spcAft>
                <a:spcPts val="0"/>
              </a:spcAft>
              <a:buClr>
                <a:schemeClr val="dk1"/>
              </a:buClr>
              <a:buSzPts val="1100"/>
              <a:buFont typeface="Arial"/>
              <a:buNone/>
            </a:pPr>
            <a:r>
              <a:rPr lang="es-419" sz="1300"/>
              <a:t>using namespace std;</a:t>
            </a:r>
            <a:endParaRPr sz="1300"/>
          </a:p>
          <a:p>
            <a:pPr indent="0" lvl="0" marL="0" rtl="0" algn="l">
              <a:spcBef>
                <a:spcPts val="750"/>
              </a:spcBef>
              <a:spcAft>
                <a:spcPts val="0"/>
              </a:spcAft>
              <a:buClr>
                <a:schemeClr val="dk1"/>
              </a:buClr>
              <a:buSzPts val="1100"/>
              <a:buFont typeface="Arial"/>
              <a:buNone/>
            </a:pPr>
            <a:r>
              <a:rPr lang="es-419" sz="1300"/>
              <a:t>bool esPar(int numero) {</a:t>
            </a:r>
            <a:endParaRPr sz="1300"/>
          </a:p>
          <a:p>
            <a:pPr indent="0" lvl="0" marL="0" rtl="0" algn="l">
              <a:spcBef>
                <a:spcPts val="750"/>
              </a:spcBef>
              <a:spcAft>
                <a:spcPts val="0"/>
              </a:spcAft>
              <a:buClr>
                <a:schemeClr val="dk1"/>
              </a:buClr>
              <a:buSzPts val="1100"/>
              <a:buFont typeface="Arial"/>
              <a:buNone/>
            </a:pPr>
            <a:r>
              <a:rPr lang="es-419" sz="1300"/>
              <a:t>    return numero % 2 == 0;</a:t>
            </a:r>
            <a:endParaRPr sz="1300"/>
          </a:p>
          <a:p>
            <a:pPr indent="0" lvl="0" marL="0" rtl="0" algn="l">
              <a:spcBef>
                <a:spcPts val="750"/>
              </a:spcBef>
              <a:spcAft>
                <a:spcPts val="0"/>
              </a:spcAft>
              <a:buClr>
                <a:schemeClr val="dk1"/>
              </a:buClr>
              <a:buSzPts val="1100"/>
              <a:buFont typeface="Arial"/>
              <a:buNone/>
            </a:pPr>
            <a:r>
              <a:rPr lang="es-419" sz="1300"/>
              <a:t>}</a:t>
            </a:r>
            <a:endParaRPr sz="1300"/>
          </a:p>
          <a:p>
            <a:pPr indent="0" lvl="0" marL="0" rtl="0" algn="l">
              <a:spcBef>
                <a:spcPts val="750"/>
              </a:spcBef>
              <a:spcAft>
                <a:spcPts val="0"/>
              </a:spcAft>
              <a:buClr>
                <a:schemeClr val="dk1"/>
              </a:buClr>
              <a:buSzPts val="1100"/>
              <a:buFont typeface="Arial"/>
              <a:buNone/>
            </a:pPr>
            <a:r>
              <a:t/>
            </a:r>
            <a:endParaRPr sz="1300"/>
          </a:p>
          <a:p>
            <a:pPr indent="0" lvl="0" marL="0" rtl="0" algn="l">
              <a:spcBef>
                <a:spcPts val="750"/>
              </a:spcBef>
              <a:spcAft>
                <a:spcPts val="0"/>
              </a:spcAft>
              <a:buClr>
                <a:schemeClr val="dk1"/>
              </a:buClr>
              <a:buSzPts val="1100"/>
              <a:buFont typeface="Arial"/>
              <a:buNone/>
            </a:pPr>
            <a:r>
              <a:rPr lang="es-419" sz="1300"/>
              <a:t>int main() {</a:t>
            </a:r>
            <a:endParaRPr sz="1300"/>
          </a:p>
          <a:p>
            <a:pPr indent="0" lvl="0" marL="0" rtl="0" algn="l">
              <a:spcBef>
                <a:spcPts val="750"/>
              </a:spcBef>
              <a:spcAft>
                <a:spcPts val="0"/>
              </a:spcAft>
              <a:buClr>
                <a:schemeClr val="dk1"/>
              </a:buClr>
              <a:buSzPts val="1100"/>
              <a:buFont typeface="Arial"/>
              <a:buNone/>
            </a:pPr>
            <a:r>
              <a:rPr lang="es-419" sz="1300"/>
              <a:t>    int x = 6;</a:t>
            </a:r>
            <a:endParaRPr sz="1300"/>
          </a:p>
          <a:p>
            <a:pPr indent="0" lvl="0" marL="0" rtl="0" algn="l">
              <a:spcBef>
                <a:spcPts val="750"/>
              </a:spcBef>
              <a:spcAft>
                <a:spcPts val="0"/>
              </a:spcAft>
              <a:buClr>
                <a:schemeClr val="dk1"/>
              </a:buClr>
              <a:buSzPts val="1100"/>
              <a:buFont typeface="Arial"/>
              <a:buNone/>
            </a:pPr>
            <a:r>
              <a:rPr lang="es-419" sz="1300"/>
              <a:t>    if (esPar(x)) {</a:t>
            </a:r>
            <a:endParaRPr sz="1300"/>
          </a:p>
          <a:p>
            <a:pPr indent="0" lvl="0" marL="0" rtl="0" algn="l">
              <a:spcBef>
                <a:spcPts val="750"/>
              </a:spcBef>
              <a:spcAft>
                <a:spcPts val="0"/>
              </a:spcAft>
              <a:buClr>
                <a:schemeClr val="dk1"/>
              </a:buClr>
              <a:buSzPts val="1100"/>
              <a:buFont typeface="Arial"/>
              <a:buNone/>
            </a:pPr>
            <a:r>
              <a:rPr lang="es-419" sz="1300"/>
              <a:t>        cout &lt;&lt; "El número es par." &lt;&lt; endl;</a:t>
            </a:r>
            <a:endParaRPr sz="1300"/>
          </a:p>
          <a:p>
            <a:pPr indent="0" lvl="0" marL="0" rtl="0" algn="l">
              <a:spcBef>
                <a:spcPts val="750"/>
              </a:spcBef>
              <a:spcAft>
                <a:spcPts val="0"/>
              </a:spcAft>
              <a:buClr>
                <a:schemeClr val="dk1"/>
              </a:buClr>
              <a:buSzPts val="1100"/>
              <a:buFont typeface="Arial"/>
              <a:buNone/>
            </a:pPr>
            <a:r>
              <a:rPr lang="es-419" sz="1300"/>
              <a:t>    } else {</a:t>
            </a:r>
            <a:endParaRPr sz="1300"/>
          </a:p>
          <a:p>
            <a:pPr indent="0" lvl="0" marL="0" rtl="0" algn="l">
              <a:spcBef>
                <a:spcPts val="750"/>
              </a:spcBef>
              <a:spcAft>
                <a:spcPts val="0"/>
              </a:spcAft>
              <a:buClr>
                <a:schemeClr val="dk1"/>
              </a:buClr>
              <a:buSzPts val="1100"/>
              <a:buFont typeface="Arial"/>
              <a:buNone/>
            </a:pPr>
            <a:r>
              <a:rPr lang="es-419" sz="1300"/>
              <a:t>        cout &lt;&lt; "El número es impar." &lt;&lt; endl;</a:t>
            </a:r>
            <a:endParaRPr sz="1300"/>
          </a:p>
          <a:p>
            <a:pPr indent="0" lvl="0" marL="0" rtl="0" algn="l">
              <a:spcBef>
                <a:spcPts val="750"/>
              </a:spcBef>
              <a:spcAft>
                <a:spcPts val="0"/>
              </a:spcAft>
              <a:buClr>
                <a:schemeClr val="dk1"/>
              </a:buClr>
              <a:buSzPts val="1100"/>
              <a:buFont typeface="Arial"/>
              <a:buNone/>
            </a:pPr>
            <a:r>
              <a:rPr lang="es-419" sz="1300"/>
              <a:t>    }</a:t>
            </a:r>
            <a:endParaRPr sz="1300"/>
          </a:p>
          <a:p>
            <a:pPr indent="0" lvl="0" marL="0" rtl="0" algn="l">
              <a:spcBef>
                <a:spcPts val="750"/>
              </a:spcBef>
              <a:spcAft>
                <a:spcPts val="0"/>
              </a:spcAft>
              <a:buClr>
                <a:schemeClr val="dk1"/>
              </a:buClr>
              <a:buSzPts val="1100"/>
              <a:buFont typeface="Arial"/>
              <a:buNone/>
            </a:pPr>
            <a:r>
              <a:rPr lang="es-419" sz="1300"/>
              <a:t>    return 0;</a:t>
            </a:r>
            <a:endParaRPr sz="1300"/>
          </a:p>
          <a:p>
            <a:pPr indent="0" lvl="0" marL="0" rtl="0" algn="l">
              <a:spcBef>
                <a:spcPts val="750"/>
              </a:spcBef>
              <a:spcAft>
                <a:spcPts val="0"/>
              </a:spcAft>
              <a:buClr>
                <a:schemeClr val="dk1"/>
              </a:buClr>
              <a:buSzPts val="1100"/>
              <a:buFont typeface="Arial"/>
              <a:buNone/>
            </a:pPr>
            <a:r>
              <a:rPr lang="es-419" sz="1300"/>
              <a:t>}</a:t>
            </a:r>
            <a:endParaRPr sz="1300"/>
          </a:p>
          <a:p>
            <a:pPr indent="0" lvl="0" marL="0" rtl="0" algn="l">
              <a:spcBef>
                <a:spcPts val="750"/>
              </a:spcBef>
              <a:spcAft>
                <a:spcPts val="0"/>
              </a:spcAft>
              <a:buNone/>
            </a:pPr>
            <a:r>
              <a:t/>
            </a:r>
            <a:endParaRPr sz="1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type="title"/>
          </p:nvPr>
        </p:nvSpPr>
        <p:spPr>
          <a:xfrm>
            <a:off x="628650" y="273847"/>
            <a:ext cx="7886700" cy="567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a:t>Modularización - Alcance de variables</a:t>
            </a:r>
            <a:endParaRPr/>
          </a:p>
        </p:txBody>
      </p:sp>
      <p:sp>
        <p:nvSpPr>
          <p:cNvPr id="244" name="Google Shape;244;p33"/>
          <p:cNvSpPr txBox="1"/>
          <p:nvPr>
            <p:ph idx="1" type="body"/>
          </p:nvPr>
        </p:nvSpPr>
        <p:spPr>
          <a:xfrm>
            <a:off x="628650" y="1006076"/>
            <a:ext cx="7886700" cy="3626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a:t>  </a:t>
            </a:r>
            <a:endParaRPr/>
          </a:p>
        </p:txBody>
      </p:sp>
      <p:pic>
        <p:nvPicPr>
          <p:cNvPr id="245" name="Google Shape;245;p33"/>
          <p:cNvPicPr preferRelativeResize="0"/>
          <p:nvPr/>
        </p:nvPicPr>
        <p:blipFill rotWithShape="1">
          <a:blip r:embed="rId3">
            <a:alphaModFix/>
          </a:blip>
          <a:srcRect b="0" l="0" r="0" t="0"/>
          <a:stretch/>
        </p:blipFill>
        <p:spPr>
          <a:xfrm>
            <a:off x="354013" y="981890"/>
            <a:ext cx="8435975" cy="3675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628650" y="273847"/>
            <a:ext cx="7886700" cy="5544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Alcance de variables</a:t>
            </a:r>
            <a:endParaRPr sz="2500"/>
          </a:p>
        </p:txBody>
      </p:sp>
      <p:sp>
        <p:nvSpPr>
          <p:cNvPr id="251" name="Google Shape;251;p34"/>
          <p:cNvSpPr txBox="1"/>
          <p:nvPr>
            <p:ph idx="1" type="body"/>
          </p:nvPr>
        </p:nvSpPr>
        <p:spPr>
          <a:xfrm>
            <a:off x="628650" y="828251"/>
            <a:ext cx="7886700" cy="38043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t/>
            </a:r>
            <a:endParaRPr/>
          </a:p>
          <a:p>
            <a:pPr indent="0" lvl="0" marL="0" rtl="0" algn="l">
              <a:spcBef>
                <a:spcPts val="750"/>
              </a:spcBef>
              <a:spcAft>
                <a:spcPts val="0"/>
              </a:spcAft>
              <a:buNone/>
            </a:pPr>
            <a:r>
              <a:rPr lang="es-419"/>
              <a:t>#include &lt;iostream&gt;</a:t>
            </a:r>
            <a:endParaRPr/>
          </a:p>
          <a:p>
            <a:pPr indent="0" lvl="0" marL="0" rtl="0" algn="l">
              <a:spcBef>
                <a:spcPts val="750"/>
              </a:spcBef>
              <a:spcAft>
                <a:spcPts val="0"/>
              </a:spcAft>
              <a:buNone/>
            </a:pPr>
            <a:r>
              <a:rPr lang="es-419"/>
              <a:t>int a, b;</a:t>
            </a:r>
            <a:endParaRPr/>
          </a:p>
          <a:p>
            <a:pPr indent="0" lvl="0" marL="0" rtl="0" algn="l">
              <a:spcBef>
                <a:spcPts val="750"/>
              </a:spcBef>
              <a:spcAft>
                <a:spcPts val="0"/>
              </a:spcAft>
              <a:buNone/>
            </a:pPr>
            <a:r>
              <a:rPr lang="es-419"/>
              <a:t>void prueba(){</a:t>
            </a:r>
            <a:endParaRPr/>
          </a:p>
          <a:p>
            <a:pPr indent="0" lvl="0" marL="0" rtl="0" algn="l">
              <a:spcBef>
                <a:spcPts val="750"/>
              </a:spcBef>
              <a:spcAft>
                <a:spcPts val="0"/>
              </a:spcAft>
              <a:buNone/>
            </a:pPr>
            <a:r>
              <a:rPr lang="es-419"/>
              <a:t>	int c;</a:t>
            </a:r>
            <a:endParaRPr/>
          </a:p>
          <a:p>
            <a:pPr indent="0" lvl="0" marL="0" rtl="0" algn="l">
              <a:spcBef>
                <a:spcPts val="750"/>
              </a:spcBef>
              <a:spcAft>
                <a:spcPts val="0"/>
              </a:spcAft>
              <a:buNone/>
            </a:pPr>
            <a:r>
              <a:rPr lang="es-419"/>
              <a:t>}</a:t>
            </a:r>
            <a:endParaRPr/>
          </a:p>
          <a:p>
            <a:pPr indent="0" lvl="0" marL="0" rtl="0" algn="l">
              <a:spcBef>
                <a:spcPts val="750"/>
              </a:spcBef>
              <a:spcAft>
                <a:spcPts val="0"/>
              </a:spcAft>
              <a:buNone/>
            </a:pPr>
            <a:r>
              <a:rPr lang="es-419"/>
              <a:t>int main(){</a:t>
            </a:r>
            <a:endParaRPr/>
          </a:p>
          <a:p>
            <a:pPr indent="0" lvl="0" marL="0" rtl="0" algn="l">
              <a:spcBef>
                <a:spcPts val="750"/>
              </a:spcBef>
              <a:spcAft>
                <a:spcPts val="0"/>
              </a:spcAft>
              <a:buNone/>
            </a:pPr>
            <a:r>
              <a:rPr lang="es-419"/>
              <a:t>	int d;</a:t>
            </a:r>
            <a:endParaRPr/>
          </a:p>
          <a:p>
            <a:pPr indent="0" lvl="0" marL="0" rtl="0" algn="l">
              <a:spcBef>
                <a:spcPts val="750"/>
              </a:spcBef>
              <a:spcAft>
                <a:spcPts val="0"/>
              </a:spcAft>
              <a:buNone/>
            </a:pPr>
            <a:r>
              <a:rPr lang="es-419"/>
              <a:t>}</a:t>
            </a:r>
            <a:endParaRPr/>
          </a:p>
        </p:txBody>
      </p:sp>
      <p:pic>
        <p:nvPicPr>
          <p:cNvPr id="252" name="Google Shape;252;p34"/>
          <p:cNvPicPr preferRelativeResize="0"/>
          <p:nvPr/>
        </p:nvPicPr>
        <p:blipFill rotWithShape="1">
          <a:blip r:embed="rId3">
            <a:alphaModFix/>
          </a:blip>
          <a:srcRect b="0" l="0" r="0" t="0"/>
          <a:stretch/>
        </p:blipFill>
        <p:spPr>
          <a:xfrm>
            <a:off x="2508625" y="978724"/>
            <a:ext cx="3346450" cy="752350"/>
          </a:xfrm>
          <a:prstGeom prst="rect">
            <a:avLst/>
          </a:prstGeom>
          <a:noFill/>
          <a:ln>
            <a:noFill/>
          </a:ln>
        </p:spPr>
      </p:pic>
      <p:pic>
        <p:nvPicPr>
          <p:cNvPr id="253" name="Google Shape;253;p34"/>
          <p:cNvPicPr preferRelativeResize="0"/>
          <p:nvPr/>
        </p:nvPicPr>
        <p:blipFill rotWithShape="1">
          <a:blip r:embed="rId4">
            <a:alphaModFix/>
          </a:blip>
          <a:srcRect b="0" l="0" r="0" t="0"/>
          <a:stretch/>
        </p:blipFill>
        <p:spPr>
          <a:xfrm>
            <a:off x="5964525" y="1180275"/>
            <a:ext cx="2278825" cy="1125375"/>
          </a:xfrm>
          <a:prstGeom prst="rect">
            <a:avLst/>
          </a:prstGeom>
          <a:noFill/>
          <a:ln>
            <a:noFill/>
          </a:ln>
        </p:spPr>
      </p:pic>
      <p:cxnSp>
        <p:nvCxnSpPr>
          <p:cNvPr id="254" name="Google Shape;254;p34"/>
          <p:cNvCxnSpPr/>
          <p:nvPr/>
        </p:nvCxnSpPr>
        <p:spPr>
          <a:xfrm>
            <a:off x="2250625" y="2470012"/>
            <a:ext cx="1090800" cy="27000"/>
          </a:xfrm>
          <a:prstGeom prst="straightConnector1">
            <a:avLst/>
          </a:prstGeom>
          <a:solidFill>
            <a:srgbClr val="ED7D31"/>
          </a:solidFill>
          <a:ln cap="flat" cmpd="sng" w="57150">
            <a:solidFill>
              <a:srgbClr val="2E75B6"/>
            </a:solidFill>
            <a:prstDash val="solid"/>
            <a:miter lim="800000"/>
            <a:headEnd len="med" w="med" type="none"/>
            <a:tailEnd len="med" w="med" type="stealth"/>
          </a:ln>
        </p:spPr>
      </p:cxnSp>
      <p:pic>
        <p:nvPicPr>
          <p:cNvPr id="255" name="Google Shape;255;p34"/>
          <p:cNvPicPr preferRelativeResize="0"/>
          <p:nvPr/>
        </p:nvPicPr>
        <p:blipFill rotWithShape="1">
          <a:blip r:embed="rId5">
            <a:alphaModFix/>
          </a:blip>
          <a:srcRect b="0" l="0" r="0" t="0"/>
          <a:stretch/>
        </p:blipFill>
        <p:spPr>
          <a:xfrm>
            <a:off x="3667775" y="2099375"/>
            <a:ext cx="2187300" cy="1262050"/>
          </a:xfrm>
          <a:prstGeom prst="rect">
            <a:avLst/>
          </a:prstGeom>
          <a:noFill/>
          <a:ln>
            <a:noFill/>
          </a:ln>
        </p:spPr>
      </p:pic>
      <p:pic>
        <p:nvPicPr>
          <p:cNvPr id="256" name="Google Shape;256;p34"/>
          <p:cNvPicPr preferRelativeResize="0"/>
          <p:nvPr/>
        </p:nvPicPr>
        <p:blipFill rotWithShape="1">
          <a:blip r:embed="rId6">
            <a:alphaModFix/>
          </a:blip>
          <a:srcRect b="0" l="0" r="0" t="0"/>
          <a:stretch/>
        </p:blipFill>
        <p:spPr>
          <a:xfrm>
            <a:off x="5653375" y="2497000"/>
            <a:ext cx="2690274" cy="1262050"/>
          </a:xfrm>
          <a:prstGeom prst="rect">
            <a:avLst/>
          </a:prstGeom>
          <a:noFill/>
          <a:ln>
            <a:noFill/>
          </a:ln>
        </p:spPr>
      </p:pic>
      <p:cxnSp>
        <p:nvCxnSpPr>
          <p:cNvPr id="257" name="Google Shape;257;p34"/>
          <p:cNvCxnSpPr/>
          <p:nvPr/>
        </p:nvCxnSpPr>
        <p:spPr>
          <a:xfrm>
            <a:off x="1821687" y="3455750"/>
            <a:ext cx="1001700" cy="303300"/>
          </a:xfrm>
          <a:prstGeom prst="straightConnector1">
            <a:avLst/>
          </a:prstGeom>
          <a:solidFill>
            <a:srgbClr val="ED7D31"/>
          </a:solidFill>
          <a:ln cap="flat" cmpd="sng" w="57150">
            <a:solidFill>
              <a:srgbClr val="70AD47"/>
            </a:solidFill>
            <a:prstDash val="solid"/>
            <a:miter lim="800000"/>
            <a:headEnd len="med" w="med" type="none"/>
            <a:tailEnd len="med" w="med" type="stealth"/>
          </a:ln>
        </p:spPr>
      </p:cxnSp>
      <p:pic>
        <p:nvPicPr>
          <p:cNvPr id="258" name="Google Shape;258;p34"/>
          <p:cNvPicPr preferRelativeResize="0"/>
          <p:nvPr/>
        </p:nvPicPr>
        <p:blipFill rotWithShape="1">
          <a:blip r:embed="rId7">
            <a:alphaModFix/>
          </a:blip>
          <a:srcRect b="0" l="0" r="0" t="0"/>
          <a:stretch/>
        </p:blipFill>
        <p:spPr>
          <a:xfrm>
            <a:off x="1698587" y="3729737"/>
            <a:ext cx="3554413" cy="841375"/>
          </a:xfrm>
          <a:prstGeom prst="rect">
            <a:avLst/>
          </a:prstGeom>
          <a:noFill/>
          <a:ln>
            <a:noFill/>
          </a:ln>
        </p:spPr>
      </p:pic>
      <p:pic>
        <p:nvPicPr>
          <p:cNvPr id="259" name="Google Shape;259;p34"/>
          <p:cNvPicPr preferRelativeResize="0"/>
          <p:nvPr/>
        </p:nvPicPr>
        <p:blipFill rotWithShape="1">
          <a:blip r:embed="rId8">
            <a:alphaModFix/>
          </a:blip>
          <a:srcRect b="0" l="0" r="0" t="0"/>
          <a:stretch/>
        </p:blipFill>
        <p:spPr>
          <a:xfrm>
            <a:off x="5494750" y="3845725"/>
            <a:ext cx="2470450" cy="1125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5"/>
          <p:cNvSpPr txBox="1"/>
          <p:nvPr>
            <p:ph type="title"/>
          </p:nvPr>
        </p:nvSpPr>
        <p:spPr>
          <a:xfrm>
            <a:off x="628650" y="273847"/>
            <a:ext cx="7886700" cy="486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a:t>Modularización - Alcance de variables</a:t>
            </a:r>
            <a:endParaRPr/>
          </a:p>
        </p:txBody>
      </p:sp>
      <p:sp>
        <p:nvSpPr>
          <p:cNvPr id="265" name="Google Shape;265;p35"/>
          <p:cNvSpPr txBox="1"/>
          <p:nvPr>
            <p:ph idx="1" type="body"/>
          </p:nvPr>
        </p:nvSpPr>
        <p:spPr>
          <a:xfrm>
            <a:off x="628650" y="951350"/>
            <a:ext cx="7886700" cy="42270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a:t>   </a:t>
            </a:r>
            <a:endParaRPr/>
          </a:p>
        </p:txBody>
      </p:sp>
      <p:sp>
        <p:nvSpPr>
          <p:cNvPr id="266" name="Google Shape;266;p35"/>
          <p:cNvSpPr txBox="1"/>
          <p:nvPr/>
        </p:nvSpPr>
        <p:spPr>
          <a:xfrm>
            <a:off x="742425" y="951350"/>
            <a:ext cx="2886300" cy="41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2"/>
                </a:solidFill>
              </a:rPr>
              <a:t>#include &lt;iostream&gt;</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using namespace std;</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x, y;</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void prueba() {</a:t>
            </a:r>
            <a:endParaRPr>
              <a:solidFill>
                <a:schemeClr val="dk2"/>
              </a:solidFill>
            </a:endParaRPr>
          </a:p>
          <a:p>
            <a:pPr indent="0" lvl="0" marL="0" rtl="0" algn="l">
              <a:spcBef>
                <a:spcPts val="0"/>
              </a:spcBef>
              <a:spcAft>
                <a:spcPts val="0"/>
              </a:spcAft>
              <a:buNone/>
            </a:pPr>
            <a:r>
              <a:rPr lang="es-419">
                <a:solidFill>
                  <a:schemeClr val="dk2"/>
                </a:solidFill>
              </a:rPr>
              <a:t>    int x;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34 / 3;</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main()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int x;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8;</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y = 9;</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prueba();</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y;</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return 0;</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67" name="Google Shape;267;p35"/>
          <p:cNvSpPr txBox="1"/>
          <p:nvPr/>
        </p:nvSpPr>
        <p:spPr>
          <a:xfrm>
            <a:off x="3286825" y="1006100"/>
            <a:ext cx="2407500" cy="41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2"/>
                </a:solidFill>
              </a:rPr>
              <a:t>#include &lt;iostream&gt;</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using namespace std;</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x, y;</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void prueba()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char x;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'a';</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main()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int x;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8;</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y = 9;</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prueba();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y;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return 0;</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68" name="Google Shape;268;p35"/>
          <p:cNvSpPr txBox="1"/>
          <p:nvPr/>
        </p:nvSpPr>
        <p:spPr>
          <a:xfrm>
            <a:off x="5981675" y="1047100"/>
            <a:ext cx="2407500" cy="40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a:solidFill>
                  <a:schemeClr val="dk2"/>
                </a:solidFill>
              </a:rPr>
              <a:t>#include &lt;iostream&gt;</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using namespace std;</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x, y;</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void prueba()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34 / 2;</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Clr>
                <a:schemeClr val="dk1"/>
              </a:buClr>
              <a:buSzPts val="1100"/>
              <a:buFont typeface="Arial"/>
              <a:buNone/>
            </a:pPr>
            <a:r>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int main() {</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int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x = 8;</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y = 9;</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prueba();</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x;</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cout &lt;&lt; y;</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    return 0;</a:t>
            </a:r>
            <a:endParaRPr>
              <a:solidFill>
                <a:schemeClr val="dk2"/>
              </a:solidFill>
            </a:endParaRPr>
          </a:p>
          <a:p>
            <a:pPr indent="0" lvl="0" marL="0" rtl="0" algn="l">
              <a:spcBef>
                <a:spcPts val="0"/>
              </a:spcBef>
              <a:spcAft>
                <a:spcPts val="0"/>
              </a:spcAft>
              <a:buClr>
                <a:schemeClr val="dk1"/>
              </a:buClr>
              <a:buSzPts val="1100"/>
              <a:buFont typeface="Arial"/>
              <a:buNone/>
            </a:pPr>
            <a:r>
              <a:rPr lang="es-419">
                <a:solidFill>
                  <a:schemeClr val="dk2"/>
                </a:solidFill>
              </a:rPr>
              <a:t>}</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type="title"/>
          </p:nvPr>
        </p:nvSpPr>
        <p:spPr>
          <a:xfrm>
            <a:off x="628650" y="273848"/>
            <a:ext cx="7886700" cy="609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Modularización - Alcance de las variables</a:t>
            </a:r>
            <a:endParaRPr sz="2500"/>
          </a:p>
        </p:txBody>
      </p:sp>
      <p:sp>
        <p:nvSpPr>
          <p:cNvPr id="274" name="Google Shape;274;p36"/>
          <p:cNvSpPr txBox="1"/>
          <p:nvPr>
            <p:ph idx="1" type="body"/>
          </p:nvPr>
        </p:nvSpPr>
        <p:spPr>
          <a:xfrm>
            <a:off x="628650" y="882851"/>
            <a:ext cx="7886700" cy="37497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a:t>  </a:t>
            </a:r>
            <a:endParaRPr/>
          </a:p>
        </p:txBody>
      </p:sp>
      <p:pic>
        <p:nvPicPr>
          <p:cNvPr id="275" name="Google Shape;275;p36"/>
          <p:cNvPicPr preferRelativeResize="0"/>
          <p:nvPr/>
        </p:nvPicPr>
        <p:blipFill rotWithShape="1">
          <a:blip r:embed="rId3">
            <a:alphaModFix/>
          </a:blip>
          <a:srcRect b="0" l="0" r="0" t="0"/>
          <a:stretch/>
        </p:blipFill>
        <p:spPr>
          <a:xfrm>
            <a:off x="295650" y="882852"/>
            <a:ext cx="8704274" cy="4128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type="title"/>
          </p:nvPr>
        </p:nvSpPr>
        <p:spPr>
          <a:xfrm>
            <a:off x="628650" y="273848"/>
            <a:ext cx="7886700" cy="622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Ejercicio</a:t>
            </a:r>
            <a:endParaRPr sz="2500"/>
          </a:p>
        </p:txBody>
      </p:sp>
      <p:sp>
        <p:nvSpPr>
          <p:cNvPr id="281" name="Google Shape;281;p37"/>
          <p:cNvSpPr txBox="1"/>
          <p:nvPr>
            <p:ph idx="1" type="body"/>
          </p:nvPr>
        </p:nvSpPr>
        <p:spPr>
          <a:xfrm>
            <a:off x="628650" y="896651"/>
            <a:ext cx="7886700" cy="3735900"/>
          </a:xfrm>
          <a:prstGeom prst="rect">
            <a:avLst/>
          </a:prstGeom>
        </p:spPr>
        <p:txBody>
          <a:bodyPr anchorCtr="0" anchor="t" bIns="45700" lIns="91425" spcFirstLastPara="1" rIns="91425" wrap="square" tIns="45700">
            <a:noAutofit/>
          </a:bodyPr>
          <a:lstStyle/>
          <a:p>
            <a:pPr indent="0" lvl="0" marL="0" rtl="0" algn="l">
              <a:spcBef>
                <a:spcPts val="750"/>
              </a:spcBef>
              <a:spcAft>
                <a:spcPts val="0"/>
              </a:spcAft>
              <a:buNone/>
            </a:pPr>
            <a:r>
              <a:rPr lang="es-419"/>
              <a:t>Realizar un </a:t>
            </a:r>
            <a:r>
              <a:rPr lang="es-419"/>
              <a:t>módulo</a:t>
            </a:r>
            <a:r>
              <a:rPr lang="es-419"/>
              <a:t> que devuelva el cuadrado de un </a:t>
            </a:r>
            <a:r>
              <a:rPr lang="es-419"/>
              <a:t>número</a:t>
            </a:r>
            <a:r>
              <a:rPr lang="es-419"/>
              <a:t> pasado por valor.</a:t>
            </a:r>
            <a:endParaRPr/>
          </a:p>
          <a:p>
            <a:pPr indent="0" lvl="0" marL="0" rtl="0" algn="l">
              <a:spcBef>
                <a:spcPts val="750"/>
              </a:spcBef>
              <a:spcAft>
                <a:spcPts val="0"/>
              </a:spcAft>
              <a:buNone/>
            </a:pPr>
            <a:r>
              <a:t/>
            </a:r>
            <a:endParaRPr/>
          </a:p>
          <a:p>
            <a:pPr indent="0" lvl="0" marL="0" rtl="0" algn="l">
              <a:spcBef>
                <a:spcPts val="750"/>
              </a:spcBef>
              <a:spcAft>
                <a:spcPts val="0"/>
              </a:spcAft>
              <a:buNone/>
            </a:pPr>
            <a:r>
              <a:t/>
            </a:r>
            <a:endParaRPr/>
          </a:p>
        </p:txBody>
      </p:sp>
      <p:sp>
        <p:nvSpPr>
          <p:cNvPr id="282" name="Google Shape;282;p37"/>
          <p:cNvSpPr txBox="1"/>
          <p:nvPr/>
        </p:nvSpPr>
        <p:spPr>
          <a:xfrm>
            <a:off x="715075" y="1854200"/>
            <a:ext cx="7250100" cy="19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Realizar un programa que imprima los numeros del 1 al 10 elevados al cuadrado</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628650" y="273848"/>
            <a:ext cx="7886700" cy="6228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s-419" sz="2500"/>
              <a:t>solución</a:t>
            </a:r>
            <a:endParaRPr sz="2500"/>
          </a:p>
        </p:txBody>
      </p:sp>
      <p:sp>
        <p:nvSpPr>
          <p:cNvPr id="288" name="Google Shape;288;p38"/>
          <p:cNvSpPr txBox="1"/>
          <p:nvPr>
            <p:ph idx="1" type="body"/>
          </p:nvPr>
        </p:nvSpPr>
        <p:spPr>
          <a:xfrm>
            <a:off x="628650" y="896650"/>
            <a:ext cx="7886700" cy="414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s-419" sz="2300"/>
              <a:t>    </a:t>
            </a:r>
            <a:endParaRPr sz="2300"/>
          </a:p>
        </p:txBody>
      </p:sp>
      <p:sp>
        <p:nvSpPr>
          <p:cNvPr id="289" name="Google Shape;289;p38"/>
          <p:cNvSpPr txBox="1"/>
          <p:nvPr/>
        </p:nvSpPr>
        <p:spPr>
          <a:xfrm>
            <a:off x="674025" y="951350"/>
            <a:ext cx="3994500" cy="407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#include &lt;iostream&gt;</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using namespace std;</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int cuadrado(int n)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    return n * n;</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int main()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    for (int i = 1; i &lt;= 10; i++)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        cout &lt;&lt; cuadrado(i) &lt;&lt; endl;</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    return 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1600">
                <a:solidFill>
                  <a:schemeClr val="dk1"/>
                </a:solidFill>
              </a:rPr>
              <a:t>}</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