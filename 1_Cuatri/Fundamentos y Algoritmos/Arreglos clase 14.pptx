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Architects Daughter"/>
      <p:regular r:id="rId24"/>
    </p:embeddedFont>
    <p:embeddedFont>
      <p:font typeface="Tahoma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FDFC22-BE3B-4281-A732-ED8BB8D1CDF1}">
  <a:tblStyle styleId="{3EFDFC22-BE3B-4281-A732-ED8BB8D1CD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rchitectsDaughter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Tahoma-bold.fntdata"/><Relationship Id="rId25" Type="http://schemas.openxmlformats.org/officeDocument/2006/relationships/font" Target="fonts/Tahoma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2aebeed72_0_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g362aebeed72_0_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2aebeed72_0_106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g362aebeed72_0_106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2aebeed72_0_197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g362aebeed72_0_197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2aebeed72_0_322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g362aebeed72_0_322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2aebeed72_0_407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g362aebeed72_0_407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2aebeed72_0_494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g362aebeed72_0_494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2aebeed72_0_611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g362aebeed72_0_611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2aebeed72_0_699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g362aebeed72_0_699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62aebeed72_0_815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g362aebeed72_0_815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62aebeed72_0_93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g362aebeed72_0_93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2aebeed72_0_1014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g362aebeed72_0_1014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2aebeed72_0_110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g362aebeed72_0_110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62aebeed72_0_1188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g362aebeed72_0_1188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62aebeed72_0_1281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g362aebeed72_0_1281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62aebeed72_0_139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g362aebeed72_0_139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62aebeed72_0_1499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g362aebeed72_0_1499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Arreglos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Operación Buscar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850106"/>
            <a:ext cx="85844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1476375" y="735806"/>
            <a:ext cx="7415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tects Daughter"/>
              <a:buNone/>
            </a:pPr>
            <a:r>
              <a:rPr b="1" i="0" lang="es-419" sz="22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Dado un arreglo de números enteros (150 elementos como máximo) realice un programa que lea un número  e informe si el número se encuentra en el arreglo.</a:t>
            </a:r>
            <a:endParaRPr sz="1200"/>
          </a:p>
        </p:txBody>
      </p:sp>
      <p:graphicFrame>
        <p:nvGraphicFramePr>
          <p:cNvPr id="66" name="Google Shape;66;p14"/>
          <p:cNvGraphicFramePr/>
          <p:nvPr/>
        </p:nvGraphicFramePr>
        <p:xfrm>
          <a:off x="250825" y="25967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{3EFDFC22-BE3B-4281-A732-ED8BB8D1CDF1}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67" name="Google Shape;67;p14"/>
          <p:cNvGrpSpPr/>
          <p:nvPr/>
        </p:nvGrpSpPr>
        <p:grpSpPr>
          <a:xfrm>
            <a:off x="250829" y="2719394"/>
            <a:ext cx="1439843" cy="345769"/>
            <a:chOff x="539552" y="2890465"/>
            <a:chExt cx="1440131" cy="461025"/>
          </a:xfrm>
        </p:grpSpPr>
        <p:sp>
          <p:nvSpPr>
            <p:cNvPr id="68" name="Google Shape;68;p14"/>
            <p:cNvSpPr txBox="1"/>
            <p:nvPr/>
          </p:nvSpPr>
          <p:spPr>
            <a:xfrm>
              <a:off x="1539883" y="2899990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-1</a:t>
              </a:r>
              <a:endParaRPr/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539552" y="2890465"/>
              <a:ext cx="5589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1074650" y="2896815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373079" y="3014424"/>
            <a:ext cx="4702347" cy="343386"/>
            <a:chOff x="661789" y="3356992"/>
            <a:chExt cx="4702347" cy="458154"/>
          </a:xfrm>
        </p:grpSpPr>
        <p:sp>
          <p:nvSpPr>
            <p:cNvPr id="72" name="Google Shape;72;p14"/>
            <p:cNvSpPr txBox="1"/>
            <p:nvPr/>
          </p:nvSpPr>
          <p:spPr>
            <a:xfrm>
              <a:off x="661789" y="3363346"/>
              <a:ext cx="3477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1074550" y="3363346"/>
              <a:ext cx="346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1547637" y="3361758"/>
              <a:ext cx="346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4355998" y="3356992"/>
              <a:ext cx="5301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149</a:t>
              </a:r>
              <a:endParaRPr/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4848136" y="3356992"/>
              <a:ext cx="5160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150</a:t>
              </a:r>
              <a:endParaRPr/>
            </a:p>
          </p:txBody>
        </p:sp>
      </p:grpSp>
      <p:sp>
        <p:nvSpPr>
          <p:cNvPr id="77" name="Google Shape;77;p14"/>
          <p:cNvSpPr/>
          <p:nvPr/>
        </p:nvSpPr>
        <p:spPr>
          <a:xfrm rot="5400000">
            <a:off x="2455162" y="1013278"/>
            <a:ext cx="490500" cy="4895700"/>
          </a:xfrm>
          <a:prstGeom prst="rightBrace">
            <a:avLst>
              <a:gd fmla="val 240" name="adj1"/>
              <a:gd fmla="val 50000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1068387" y="3100388"/>
            <a:ext cx="287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física = 150</a:t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 flipH="1" rot="5400000">
            <a:off x="1278763" y="1386712"/>
            <a:ext cx="223800" cy="2155800"/>
          </a:xfrm>
          <a:prstGeom prst="rightBrace">
            <a:avLst>
              <a:gd fmla="val 249" name="adj1"/>
              <a:gd fmla="val 10974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" name="Google Shape;80;p14"/>
          <p:cNvSpPr txBox="1"/>
          <p:nvPr/>
        </p:nvSpPr>
        <p:spPr>
          <a:xfrm rot="-821499">
            <a:off x="5742239" y="2726577"/>
            <a:ext cx="2818800" cy="1780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235"/>
              </a:buClr>
              <a:buSzPts val="3600"/>
              <a:buFont typeface="Architects Daughter"/>
              <a:buNone/>
            </a:pPr>
            <a:r>
              <a:rPr b="1" i="0" lang="es-419" sz="3600" u="none">
                <a:solidFill>
                  <a:srgbClr val="548235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Qué pasos debo hacer?</a:t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5337175" y="1778794"/>
            <a:ext cx="2952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Supongamos que leo</a:t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6373812" y="2108597"/>
            <a:ext cx="43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/>
              <a:buNone/>
            </a:pPr>
            <a:r>
              <a:rPr b="1" i="0" lang="es-419" sz="20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179387" y="2096690"/>
            <a:ext cx="287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lógica=5</a:t>
            </a:r>
            <a:endParaRPr/>
          </a:p>
        </p:txBody>
      </p:sp>
      <p:sp>
        <p:nvSpPr>
          <p:cNvPr id="84" name="Google Shape;84;p14"/>
          <p:cNvSpPr txBox="1"/>
          <p:nvPr/>
        </p:nvSpPr>
        <p:spPr>
          <a:xfrm>
            <a:off x="6891337" y="2103834"/>
            <a:ext cx="70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/>
              <a:buNone/>
            </a:pPr>
            <a:r>
              <a:rPr b="1" i="0" lang="es-419" sz="20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num</a:t>
            </a:r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1741487" y="2721769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2257425" y="2719388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4737100" y="4163615"/>
            <a:ext cx="287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3600"/>
              <a:buFont typeface="Architects Daughter"/>
              <a:buNone/>
            </a:pPr>
            <a:r>
              <a:rPr b="1" i="0" lang="es-419" sz="36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Buscar!!!!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Buscar</a:t>
            </a:r>
            <a:endParaRPr/>
          </a:p>
        </p:txBody>
      </p:sp>
      <p:sp>
        <p:nvSpPr>
          <p:cNvPr id="94" name="Google Shape;94;p15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95" name="Google Shape;95;p15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-107950" y="1435894"/>
            <a:ext cx="203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Búsqueda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627459"/>
            <a:ext cx="1169194" cy="86439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0" y="1815703"/>
            <a:ext cx="3914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27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Vector Desordenado</a:t>
            </a:r>
            <a:endParaRPr sz="900"/>
          </a:p>
        </p:txBody>
      </p:sp>
      <p:sp>
        <p:nvSpPr>
          <p:cNvPr id="99" name="Google Shape;99;p15"/>
          <p:cNvSpPr txBox="1"/>
          <p:nvPr/>
        </p:nvSpPr>
        <p:spPr>
          <a:xfrm>
            <a:off x="1109662" y="2207419"/>
            <a:ext cx="7854900" cy="13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000"/>
              <a:buFont typeface="Architects Daughter"/>
              <a:buNone/>
            </a:pPr>
            <a:r>
              <a:rPr b="1" i="0" lang="es-419" sz="25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Se debe </a:t>
            </a:r>
            <a:r>
              <a:rPr b="1" i="0" lang="es-419" sz="25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recorrer todo el </a:t>
            </a:r>
            <a:r>
              <a:rPr b="1" lang="es-419" sz="2500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vector</a:t>
            </a:r>
            <a:r>
              <a:rPr b="1" i="0" lang="es-419" sz="25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(en el peor de los casos)</a:t>
            </a:r>
            <a:r>
              <a:rPr b="1" i="0" lang="es-419" sz="25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, y detener la búsqueda en el momento que se encuentra el dato buscado o que se terminó el vector.</a:t>
            </a:r>
            <a:endParaRPr sz="900"/>
          </a:p>
        </p:txBody>
      </p:sp>
      <p:sp>
        <p:nvSpPr>
          <p:cNvPr id="100" name="Google Shape;100;p15"/>
          <p:cNvSpPr/>
          <p:nvPr/>
        </p:nvSpPr>
        <p:spPr>
          <a:xfrm>
            <a:off x="385762" y="2253853"/>
            <a:ext cx="720600" cy="323700"/>
          </a:xfrm>
          <a:prstGeom prst="chevron">
            <a:avLst>
              <a:gd fmla="val 15130" name="adj"/>
            </a:avLst>
          </a:prstGeom>
          <a:solidFill>
            <a:srgbClr val="FFD966"/>
          </a:solidFill>
          <a:ln cap="flat" cmpd="sng" w="127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1" name="Google Shape;101;p15"/>
          <p:cNvGrpSpPr/>
          <p:nvPr/>
        </p:nvGrpSpPr>
        <p:grpSpPr>
          <a:xfrm>
            <a:off x="0" y="3625453"/>
            <a:ext cx="8820263" cy="1322765"/>
            <a:chOff x="0" y="4833938"/>
            <a:chExt cx="8820263" cy="1763687"/>
          </a:xfrm>
        </p:grpSpPr>
        <p:sp>
          <p:nvSpPr>
            <p:cNvPr id="102" name="Google Shape;102;p15"/>
            <p:cNvSpPr txBox="1"/>
            <p:nvPr/>
          </p:nvSpPr>
          <p:spPr>
            <a:xfrm>
              <a:off x="0" y="4833938"/>
              <a:ext cx="35130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chitects Daughter"/>
                <a:buNone/>
              </a:pPr>
              <a:r>
                <a:rPr b="1" i="0" lang="es-419" sz="29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Vector Ordenado</a:t>
              </a:r>
              <a:endParaRPr sz="1100"/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1109663" y="5318125"/>
              <a:ext cx="7710600" cy="12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67171"/>
                </a:buClr>
                <a:buSzPts val="3000"/>
                <a:buFont typeface="Architects Daughter"/>
                <a:buNone/>
              </a:pPr>
              <a:r>
                <a:rPr b="1" i="0" lang="es-419" sz="2600" u="none">
                  <a:solidFill>
                    <a:srgbClr val="76717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Se debe aprovechar el orden, existen al menos dos formas: </a:t>
              </a:r>
              <a:r>
                <a:rPr b="1" i="0" lang="es-419" sz="2600" u="none">
                  <a:solidFill>
                    <a:srgbClr val="FF33CC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búsqueda mejorada </a:t>
              </a:r>
              <a:r>
                <a:rPr b="1" i="0" lang="es-419" sz="2600" u="none">
                  <a:solidFill>
                    <a:srgbClr val="76717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y </a:t>
              </a:r>
              <a:r>
                <a:rPr b="1" i="0" lang="es-419" sz="2600" u="none">
                  <a:solidFill>
                    <a:srgbClr val="FF33CC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búsqueda dicotómica</a:t>
              </a:r>
              <a:r>
                <a:rPr b="1" i="0" lang="es-419" sz="2600" u="none">
                  <a:solidFill>
                    <a:srgbClr val="76717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.</a:t>
              </a:r>
              <a:endParaRPr sz="1000"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385763" y="5424488"/>
              <a:ext cx="720600" cy="431700"/>
            </a:xfrm>
            <a:prstGeom prst="chevron">
              <a:avLst>
                <a:gd fmla="val 15130" name="adj"/>
              </a:avLst>
            </a:prstGeom>
            <a:solidFill>
              <a:srgbClr val="FFD966"/>
            </a:solidFill>
            <a:ln cap="flat" cmpd="sng" w="12700">
              <a:solidFill>
                <a:srgbClr val="FFD96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Buscar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107950" y="1033463"/>
            <a:ext cx="3914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29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Vector Desordenado</a:t>
            </a:r>
            <a:endParaRPr sz="1100"/>
          </a:p>
        </p:txBody>
      </p:sp>
      <p:graphicFrame>
        <p:nvGraphicFramePr>
          <p:cNvPr id="114" name="Google Shape;114;p16"/>
          <p:cNvGraphicFramePr/>
          <p:nvPr/>
        </p:nvGraphicFramePr>
        <p:xfrm>
          <a:off x="3938587" y="1157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{3EFDFC22-BE3B-4281-A732-ED8BB8D1CDF1}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5" name="Google Shape;115;p16"/>
          <p:cNvGrpSpPr/>
          <p:nvPr/>
        </p:nvGrpSpPr>
        <p:grpSpPr>
          <a:xfrm>
            <a:off x="3938591" y="1278737"/>
            <a:ext cx="1439844" cy="345769"/>
            <a:chOff x="539552" y="2890465"/>
            <a:chExt cx="1440132" cy="461025"/>
          </a:xfrm>
        </p:grpSpPr>
        <p:sp>
          <p:nvSpPr>
            <p:cNvPr id="116" name="Google Shape;116;p16"/>
            <p:cNvSpPr txBox="1"/>
            <p:nvPr/>
          </p:nvSpPr>
          <p:spPr>
            <a:xfrm>
              <a:off x="1539884" y="2899990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-1</a:t>
              </a:r>
              <a:endParaRPr/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539552" y="2890465"/>
              <a:ext cx="5589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1074650" y="2896815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/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4060842" y="1574958"/>
            <a:ext cx="4702348" cy="343386"/>
            <a:chOff x="661789" y="3356992"/>
            <a:chExt cx="4702348" cy="458154"/>
          </a:xfrm>
        </p:grpSpPr>
        <p:sp>
          <p:nvSpPr>
            <p:cNvPr id="120" name="Google Shape;120;p16"/>
            <p:cNvSpPr txBox="1"/>
            <p:nvPr/>
          </p:nvSpPr>
          <p:spPr>
            <a:xfrm>
              <a:off x="661789" y="3363346"/>
              <a:ext cx="3477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1074550" y="3363346"/>
              <a:ext cx="346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1547637" y="3361757"/>
              <a:ext cx="346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4355999" y="3356992"/>
              <a:ext cx="5301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149</a:t>
              </a:r>
              <a:endParaRPr/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4848137" y="3356992"/>
              <a:ext cx="5160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150</a:t>
              </a:r>
              <a:endParaRPr/>
            </a:p>
          </p:txBody>
        </p:sp>
      </p:grpSp>
      <p:sp>
        <p:nvSpPr>
          <p:cNvPr id="125" name="Google Shape;125;p16"/>
          <p:cNvSpPr txBox="1"/>
          <p:nvPr/>
        </p:nvSpPr>
        <p:spPr>
          <a:xfrm>
            <a:off x="5670550" y="839390"/>
            <a:ext cx="218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física = 150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3648075" y="827484"/>
            <a:ext cx="224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lógica=5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429250" y="1281113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945187" y="1278731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377112" y="658415"/>
            <a:ext cx="43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/>
              <a:buNone/>
            </a:pPr>
            <a:r>
              <a:rPr b="1" i="0" lang="es-419" sz="20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894637" y="653653"/>
            <a:ext cx="70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/>
              <a:buNone/>
            </a:pPr>
            <a:r>
              <a:rPr b="1" i="0" lang="es-419" sz="20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num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90537" y="1652588"/>
            <a:ext cx="83694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 &lt;iostream&gt;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using namespace std;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 int tam = 150;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numeros[tam];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numeros VN;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dimL, num;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num;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llenarNumeros(VN, dimL);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(buscar(VN, dimL, num))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cout &lt;&lt; num &lt;&lt; " Esta en el arreglo";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else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cout &lt;&lt; num &lt;&lt; " No se encuentra en el arreglo";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4000500" y="1221581"/>
            <a:ext cx="284100" cy="310800"/>
          </a:xfrm>
          <a:prstGeom prst="rect">
            <a:avLst/>
          </a:prstGeom>
          <a:solidFill>
            <a:srgbClr val="A6A6A6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4535487" y="1221581"/>
            <a:ext cx="284100" cy="310800"/>
          </a:xfrm>
          <a:prstGeom prst="rect">
            <a:avLst/>
          </a:prstGeom>
          <a:solidFill>
            <a:srgbClr val="A6A6A6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4978400" y="1221581"/>
            <a:ext cx="284100" cy="310800"/>
          </a:xfrm>
          <a:prstGeom prst="rect">
            <a:avLst/>
          </a:prstGeom>
          <a:solidFill>
            <a:srgbClr val="A6A6A6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35" name="Google Shape;135;p16"/>
          <p:cNvGraphicFramePr/>
          <p:nvPr/>
        </p:nvGraphicFramePr>
        <p:xfrm>
          <a:off x="4035425" y="192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{3EFDFC22-BE3B-4281-A732-ED8BB8D1CDF1}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6" name="Google Shape;136;p16"/>
          <p:cNvGrpSpPr/>
          <p:nvPr/>
        </p:nvGrpSpPr>
        <p:grpSpPr>
          <a:xfrm>
            <a:off x="4035429" y="2045500"/>
            <a:ext cx="1439843" cy="345769"/>
            <a:chOff x="539552" y="2890465"/>
            <a:chExt cx="1440131" cy="461025"/>
          </a:xfrm>
        </p:grpSpPr>
        <p:sp>
          <p:nvSpPr>
            <p:cNvPr id="137" name="Google Shape;137;p16"/>
            <p:cNvSpPr txBox="1"/>
            <p:nvPr/>
          </p:nvSpPr>
          <p:spPr>
            <a:xfrm>
              <a:off x="1539883" y="2899990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-1</a:t>
              </a:r>
              <a:endParaRPr/>
            </a:p>
          </p:txBody>
        </p:sp>
        <p:sp>
          <p:nvSpPr>
            <p:cNvPr id="138" name="Google Shape;138;p16"/>
            <p:cNvSpPr txBox="1"/>
            <p:nvPr/>
          </p:nvSpPr>
          <p:spPr>
            <a:xfrm>
              <a:off x="539552" y="2890465"/>
              <a:ext cx="5589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1074650" y="2896815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/>
            </a:p>
          </p:txBody>
        </p:sp>
      </p:grpSp>
      <p:grpSp>
        <p:nvGrpSpPr>
          <p:cNvPr id="140" name="Google Shape;140;p16"/>
          <p:cNvGrpSpPr/>
          <p:nvPr/>
        </p:nvGrpSpPr>
        <p:grpSpPr>
          <a:xfrm>
            <a:off x="4157679" y="2341720"/>
            <a:ext cx="4702347" cy="343386"/>
            <a:chOff x="661789" y="3356992"/>
            <a:chExt cx="4702347" cy="458154"/>
          </a:xfrm>
        </p:grpSpPr>
        <p:sp>
          <p:nvSpPr>
            <p:cNvPr id="141" name="Google Shape;141;p16"/>
            <p:cNvSpPr txBox="1"/>
            <p:nvPr/>
          </p:nvSpPr>
          <p:spPr>
            <a:xfrm>
              <a:off x="661789" y="3363346"/>
              <a:ext cx="3477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1074550" y="3363346"/>
              <a:ext cx="346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1547637" y="3361757"/>
              <a:ext cx="346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4355998" y="3356992"/>
              <a:ext cx="5301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149</a:t>
              </a:r>
              <a:endParaRPr/>
            </a:p>
          </p:txBody>
        </p:sp>
        <p:sp>
          <p:nvSpPr>
            <p:cNvPr id="145" name="Google Shape;145;p16"/>
            <p:cNvSpPr txBox="1"/>
            <p:nvPr/>
          </p:nvSpPr>
          <p:spPr>
            <a:xfrm>
              <a:off x="4848136" y="3356992"/>
              <a:ext cx="5160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150</a:t>
              </a:r>
              <a:endParaRPr/>
            </a:p>
          </p:txBody>
        </p:sp>
      </p:grpSp>
      <p:sp>
        <p:nvSpPr>
          <p:cNvPr id="146" name="Google Shape;146;p16"/>
          <p:cNvSpPr txBox="1"/>
          <p:nvPr/>
        </p:nvSpPr>
        <p:spPr>
          <a:xfrm>
            <a:off x="5526087" y="2047875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042025" y="2045494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813675" y="2559844"/>
            <a:ext cx="53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/>
              <a:buNone/>
            </a:pPr>
            <a:r>
              <a:rPr b="1" i="0" lang="es-419" sz="20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331200" y="2555081"/>
            <a:ext cx="70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/>
              <a:buNone/>
            </a:pPr>
            <a:r>
              <a:rPr b="1" i="0" lang="es-419" sz="20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num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097337" y="1988344"/>
            <a:ext cx="284100" cy="310800"/>
          </a:xfrm>
          <a:prstGeom prst="rect">
            <a:avLst/>
          </a:prstGeom>
          <a:solidFill>
            <a:srgbClr val="A6A6A6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4632325" y="1988344"/>
            <a:ext cx="284100" cy="310800"/>
          </a:xfrm>
          <a:prstGeom prst="rect">
            <a:avLst/>
          </a:prstGeom>
          <a:solidFill>
            <a:srgbClr val="A6A6A6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5075237" y="1988344"/>
            <a:ext cx="284100" cy="310800"/>
          </a:xfrm>
          <a:prstGeom prst="rect">
            <a:avLst/>
          </a:prstGeom>
          <a:solidFill>
            <a:srgbClr val="A6A6A6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5551487" y="1988344"/>
            <a:ext cx="284100" cy="310800"/>
          </a:xfrm>
          <a:prstGeom prst="rect">
            <a:avLst/>
          </a:prstGeom>
          <a:solidFill>
            <a:srgbClr val="A6A6A6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6010275" y="1988344"/>
            <a:ext cx="284100" cy="310800"/>
          </a:xfrm>
          <a:prstGeom prst="rect">
            <a:avLst/>
          </a:prstGeom>
          <a:solidFill>
            <a:srgbClr val="A6A6A6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Buscar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161" name="Google Shape;161;p17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107950" y="1113226"/>
            <a:ext cx="85413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 buscar(int a[], int dim, int num)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pos;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bool esta;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esta = false;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pos = 0;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while ((pos &lt;= dim) &amp;&amp; (!esta))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if (a[pos] == num)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esta = true;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else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pos = pos + 1;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esta;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107950" y="681038"/>
            <a:ext cx="3914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27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Vector Desordenado</a:t>
            </a:r>
            <a:endParaRPr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Buscar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28575" y="897731"/>
            <a:ext cx="90042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Vector Desordenado – 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    </a:t>
            </a:r>
            <a:r>
              <a:rPr b="1" i="0" lang="es-419" sz="32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Características de la búsqueda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971550" y="2089547"/>
            <a:ext cx="77199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aplica cuando los elementos en la estructura no tienen orden.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971550" y="2917031"/>
            <a:ext cx="77199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Requiere excesivo consumo de tiempo en la búsqueda.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998537" y="3489721"/>
            <a:ext cx="80343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número de comparaciones es en promedio (dimL + 1) /2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998537" y="4083844"/>
            <a:ext cx="7726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ineficiente a medida que el tamaño del vector crece.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Buscar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107950" y="1033463"/>
            <a:ext cx="3914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Vector Ordenado</a:t>
            </a:r>
            <a:endParaRPr/>
          </a:p>
        </p:txBody>
      </p:sp>
      <p:graphicFrame>
        <p:nvGraphicFramePr>
          <p:cNvPr id="186" name="Google Shape;186;p19"/>
          <p:cNvGraphicFramePr/>
          <p:nvPr/>
        </p:nvGraphicFramePr>
        <p:xfrm>
          <a:off x="3938587" y="13537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{3EFDFC22-BE3B-4281-A732-ED8BB8D1CDF1}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7" name="Google Shape;187;p19"/>
          <p:cNvGrpSpPr/>
          <p:nvPr/>
        </p:nvGrpSpPr>
        <p:grpSpPr>
          <a:xfrm>
            <a:off x="3938591" y="1476371"/>
            <a:ext cx="1439844" cy="345812"/>
            <a:chOff x="539552" y="2890465"/>
            <a:chExt cx="1440132" cy="461636"/>
          </a:xfrm>
        </p:grpSpPr>
        <p:sp>
          <p:nvSpPr>
            <p:cNvPr id="188" name="Google Shape;188;p19"/>
            <p:cNvSpPr txBox="1"/>
            <p:nvPr/>
          </p:nvSpPr>
          <p:spPr>
            <a:xfrm>
              <a:off x="1539884" y="2900001"/>
              <a:ext cx="439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85</a:t>
              </a:r>
              <a:endParaRPr/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539552" y="2890465"/>
              <a:ext cx="558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1074650" y="2896823"/>
              <a:ext cx="439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/>
            </a:p>
          </p:txBody>
        </p:sp>
      </p:grpSp>
      <p:grpSp>
        <p:nvGrpSpPr>
          <p:cNvPr id="191" name="Google Shape;191;p19"/>
          <p:cNvGrpSpPr/>
          <p:nvPr/>
        </p:nvGrpSpPr>
        <p:grpSpPr>
          <a:xfrm>
            <a:off x="4060842" y="1771411"/>
            <a:ext cx="4702348" cy="343386"/>
            <a:chOff x="661789" y="3356992"/>
            <a:chExt cx="4702348" cy="458154"/>
          </a:xfrm>
        </p:grpSpPr>
        <p:sp>
          <p:nvSpPr>
            <p:cNvPr id="192" name="Google Shape;192;p19"/>
            <p:cNvSpPr txBox="1"/>
            <p:nvPr/>
          </p:nvSpPr>
          <p:spPr>
            <a:xfrm>
              <a:off x="661789" y="3363346"/>
              <a:ext cx="3477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93" name="Google Shape;193;p19"/>
            <p:cNvSpPr txBox="1"/>
            <p:nvPr/>
          </p:nvSpPr>
          <p:spPr>
            <a:xfrm>
              <a:off x="1074550" y="3363346"/>
              <a:ext cx="346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1547637" y="3361758"/>
              <a:ext cx="3462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95" name="Google Shape;195;p19"/>
            <p:cNvSpPr txBox="1"/>
            <p:nvPr/>
          </p:nvSpPr>
          <p:spPr>
            <a:xfrm>
              <a:off x="4355999" y="3356992"/>
              <a:ext cx="5301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149</a:t>
              </a:r>
              <a:endParaRPr/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4848137" y="3356992"/>
              <a:ext cx="516000" cy="4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150</a:t>
              </a:r>
              <a:endParaRPr/>
            </a:p>
          </p:txBody>
        </p:sp>
      </p:grpSp>
      <p:sp>
        <p:nvSpPr>
          <p:cNvPr id="197" name="Google Shape;197;p19"/>
          <p:cNvSpPr txBox="1"/>
          <p:nvPr/>
        </p:nvSpPr>
        <p:spPr>
          <a:xfrm>
            <a:off x="5670550" y="1029890"/>
            <a:ext cx="218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física = 150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3648075" y="1017984"/>
            <a:ext cx="224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lógica=5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5429250" y="1478756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5945187" y="1476375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496300" y="667940"/>
            <a:ext cx="51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/>
              <a:buNone/>
            </a:pPr>
            <a:r>
              <a:rPr b="1" i="0" lang="es-419" sz="20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7894637" y="653653"/>
            <a:ext cx="70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/>
              <a:buNone/>
            </a:pPr>
            <a:r>
              <a:rPr b="1" i="0" lang="es-419" sz="20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num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490537" y="1685925"/>
            <a:ext cx="83694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 &lt;iostream&gt;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using namespace std;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 int tam = 150;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int numeros[tam];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 </a:t>
            </a: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numeros VN;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int dimL, num;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num;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llenarNumeros(VN, dimL);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(buscar(VN, dimL, num))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cout &lt;&lt; num &lt;&lt; " Esta en el arreglo";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else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cout &lt;&lt; num &lt;&lt; " No se encuentra en el arreglo";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4000500" y="1419225"/>
            <a:ext cx="284100" cy="310800"/>
          </a:xfrm>
          <a:prstGeom prst="rect">
            <a:avLst/>
          </a:prstGeom>
          <a:solidFill>
            <a:srgbClr val="A6A6A6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4535487" y="1419225"/>
            <a:ext cx="284100" cy="310800"/>
          </a:xfrm>
          <a:prstGeom prst="rect">
            <a:avLst/>
          </a:prstGeom>
          <a:solidFill>
            <a:srgbClr val="A6A6A6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4981575" y="1426369"/>
            <a:ext cx="284100" cy="310800"/>
          </a:xfrm>
          <a:prstGeom prst="rect">
            <a:avLst/>
          </a:prstGeom>
          <a:solidFill>
            <a:srgbClr val="A6A6A6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8356600" y="2626519"/>
            <a:ext cx="51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/>
              <a:buNone/>
            </a:pPr>
            <a:r>
              <a:rPr b="1" i="0" lang="es-419" sz="20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7754937" y="2612231"/>
            <a:ext cx="70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/>
              <a:buNone/>
            </a:pPr>
            <a:r>
              <a:rPr b="1" i="0" lang="es-419" sz="20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num</a:t>
            </a:r>
            <a:endParaRPr/>
          </a:p>
        </p:txBody>
      </p:sp>
      <p:graphicFrame>
        <p:nvGraphicFramePr>
          <p:cNvPr id="209" name="Google Shape;209;p19"/>
          <p:cNvGraphicFramePr/>
          <p:nvPr/>
        </p:nvGraphicFramePr>
        <p:xfrm>
          <a:off x="3924300" y="2109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{3EFDFC22-BE3B-4281-A732-ED8BB8D1CDF1}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10" name="Google Shape;210;p19"/>
          <p:cNvGrpSpPr/>
          <p:nvPr/>
        </p:nvGrpSpPr>
        <p:grpSpPr>
          <a:xfrm>
            <a:off x="3924304" y="2232417"/>
            <a:ext cx="1439843" cy="345812"/>
            <a:chOff x="539552" y="2890465"/>
            <a:chExt cx="1440131" cy="461636"/>
          </a:xfrm>
        </p:grpSpPr>
        <p:sp>
          <p:nvSpPr>
            <p:cNvPr id="211" name="Google Shape;211;p19"/>
            <p:cNvSpPr txBox="1"/>
            <p:nvPr/>
          </p:nvSpPr>
          <p:spPr>
            <a:xfrm>
              <a:off x="1539883" y="2900001"/>
              <a:ext cx="439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85</a:t>
              </a:r>
              <a:endParaRPr/>
            </a:p>
          </p:txBody>
        </p:sp>
        <p:sp>
          <p:nvSpPr>
            <p:cNvPr id="212" name="Google Shape;212;p19"/>
            <p:cNvSpPr txBox="1"/>
            <p:nvPr/>
          </p:nvSpPr>
          <p:spPr>
            <a:xfrm>
              <a:off x="539552" y="2890465"/>
              <a:ext cx="558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1074650" y="2896823"/>
              <a:ext cx="439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/>
            </a:p>
          </p:txBody>
        </p:sp>
      </p:grpSp>
      <p:sp>
        <p:nvSpPr>
          <p:cNvPr id="214" name="Google Shape;214;p19"/>
          <p:cNvSpPr txBox="1"/>
          <p:nvPr/>
        </p:nvSpPr>
        <p:spPr>
          <a:xfrm>
            <a:off x="5414962" y="2234803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5930900" y="2232422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3986212" y="2175272"/>
            <a:ext cx="284100" cy="310800"/>
          </a:xfrm>
          <a:prstGeom prst="rect">
            <a:avLst/>
          </a:prstGeom>
          <a:solidFill>
            <a:srgbClr val="A6A6A6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4521200" y="2175272"/>
            <a:ext cx="284100" cy="310800"/>
          </a:xfrm>
          <a:prstGeom prst="rect">
            <a:avLst/>
          </a:prstGeom>
          <a:solidFill>
            <a:srgbClr val="A6A6A6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5461000" y="1437084"/>
            <a:ext cx="284100" cy="312000"/>
          </a:xfrm>
          <a:prstGeom prst="rect">
            <a:avLst/>
          </a:prstGeom>
          <a:solidFill>
            <a:srgbClr val="A6A6A6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Buscar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226" name="Google Shape;226;p20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146050" y="951309"/>
            <a:ext cx="90042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 buscar(int a[], int dim, int num)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pos;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pos = 0;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while ((pos &lt; dim) &amp;&amp; (a[pos] &lt; num))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pos = pos + 1;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((pos &lt; dim) &amp;&amp; (a[pos] == num))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else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107950" y="601265"/>
            <a:ext cx="3914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Vector Ordenado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Buscar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236" name="Google Shape;236;p21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107950" y="601265"/>
            <a:ext cx="3914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Vector Ordenado</a:t>
            </a:r>
            <a:endParaRPr/>
          </a:p>
        </p:txBody>
      </p:sp>
      <p:graphicFrame>
        <p:nvGraphicFramePr>
          <p:cNvPr id="238" name="Google Shape;238;p21"/>
          <p:cNvGraphicFramePr/>
          <p:nvPr/>
        </p:nvGraphicFramePr>
        <p:xfrm>
          <a:off x="1258887" y="13418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{3EFDFC22-BE3B-4281-A732-ED8BB8D1CDF1}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9" name="Google Shape;239;p21"/>
          <p:cNvGrpSpPr/>
          <p:nvPr/>
        </p:nvGrpSpPr>
        <p:grpSpPr>
          <a:xfrm>
            <a:off x="1258891" y="1463273"/>
            <a:ext cx="1439844" cy="345812"/>
            <a:chOff x="539552" y="2890465"/>
            <a:chExt cx="1440132" cy="461636"/>
          </a:xfrm>
        </p:grpSpPr>
        <p:sp>
          <p:nvSpPr>
            <p:cNvPr id="240" name="Google Shape;240;p21"/>
            <p:cNvSpPr txBox="1"/>
            <p:nvPr/>
          </p:nvSpPr>
          <p:spPr>
            <a:xfrm>
              <a:off x="1539884" y="2900001"/>
              <a:ext cx="439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85</a:t>
              </a:r>
              <a:endParaRPr/>
            </a:p>
          </p:txBody>
        </p:sp>
        <p:sp>
          <p:nvSpPr>
            <p:cNvPr id="241" name="Google Shape;241;p21"/>
            <p:cNvSpPr txBox="1"/>
            <p:nvPr/>
          </p:nvSpPr>
          <p:spPr>
            <a:xfrm>
              <a:off x="539552" y="2890465"/>
              <a:ext cx="558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1074650" y="2896823"/>
              <a:ext cx="439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/>
            </a:p>
          </p:txBody>
        </p:sp>
      </p:grpSp>
      <p:sp>
        <p:nvSpPr>
          <p:cNvPr id="243" name="Google Shape;243;p21"/>
          <p:cNvSpPr txBox="1"/>
          <p:nvPr/>
        </p:nvSpPr>
        <p:spPr>
          <a:xfrm>
            <a:off x="3246437" y="1016794"/>
            <a:ext cx="218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física = 150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969962" y="1006078"/>
            <a:ext cx="224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lógica=8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2749550" y="1465659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3265487" y="1463278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3638550" y="1450181"/>
            <a:ext cx="50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4137025" y="1463278"/>
            <a:ext cx="50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155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4613275" y="1458515"/>
            <a:ext cx="50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170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5580062" y="1023938"/>
            <a:ext cx="219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BUSCADO= 155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6181725" y="1306115"/>
            <a:ext cx="1898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000"/>
              <a:buFont typeface="Architects Daughter"/>
              <a:buNone/>
            </a:pPr>
            <a:r>
              <a:rPr b="1" i="0" lang="es-419" sz="16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Pri = </a:t>
            </a:r>
            <a:r>
              <a:rPr b="1" lang="es-419" sz="1600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000"/>
              <a:buFont typeface="Architects Daughter"/>
              <a:buNone/>
            </a:pPr>
            <a:r>
              <a:rPr b="1" i="0" lang="es-419" sz="16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Ult = </a:t>
            </a:r>
            <a:r>
              <a:rPr b="1" lang="es-419" sz="1600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7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000"/>
              <a:buFont typeface="Architects Daughter"/>
              <a:buNone/>
            </a:pPr>
            <a:r>
              <a:rPr b="1" i="0" lang="es-419" sz="16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Medio = </a:t>
            </a:r>
            <a:r>
              <a:rPr b="1" lang="es-419" sz="1600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3</a:t>
            </a:r>
            <a:r>
              <a:rPr b="1" i="0" lang="es-419" sz="16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(87)</a:t>
            </a:r>
            <a:endParaRPr sz="1000"/>
          </a:p>
        </p:txBody>
      </p:sp>
      <p:sp>
        <p:nvSpPr>
          <p:cNvPr id="252" name="Google Shape;252;p21"/>
          <p:cNvSpPr txBox="1"/>
          <p:nvPr/>
        </p:nvSpPr>
        <p:spPr>
          <a:xfrm>
            <a:off x="198437" y="2085975"/>
            <a:ext cx="765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s-419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1- Se calcula el elemento que esta en la posición del medio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179387" y="2409825"/>
            <a:ext cx="778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s-419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2- Si es el elemento que busco, entonces la búsqueda termino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30162" y="2696765"/>
            <a:ext cx="778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s-419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Si NO es el elemento que busco, entonces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s-419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Comparo contra el valor del medio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s-419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Elijo del vector la mitad que me convenga 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2559050" y="3379878"/>
            <a:ext cx="4965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600"/>
              <a:buFont typeface="Architects Daughter"/>
              <a:buNone/>
            </a:pPr>
            <a:r>
              <a:rPr b="1" i="0" lang="es-419" sz="22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Como 87 &lt; 155, entonces debo tomar la segunda mitad</a:t>
            </a:r>
            <a:endParaRPr sz="1000"/>
          </a:p>
        </p:txBody>
      </p:sp>
      <p:graphicFrame>
        <p:nvGraphicFramePr>
          <p:cNvPr id="256" name="Google Shape;256;p21"/>
          <p:cNvGraphicFramePr/>
          <p:nvPr/>
        </p:nvGraphicFramePr>
        <p:xfrm>
          <a:off x="1189037" y="44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{3EFDFC22-BE3B-4281-A732-ED8BB8D1CDF1}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57" name="Google Shape;257;p21"/>
          <p:cNvGrpSpPr/>
          <p:nvPr/>
        </p:nvGrpSpPr>
        <p:grpSpPr>
          <a:xfrm>
            <a:off x="1189041" y="4542230"/>
            <a:ext cx="1439844" cy="345812"/>
            <a:chOff x="539552" y="2890465"/>
            <a:chExt cx="1440132" cy="461636"/>
          </a:xfrm>
        </p:grpSpPr>
        <p:sp>
          <p:nvSpPr>
            <p:cNvPr id="258" name="Google Shape;258;p21"/>
            <p:cNvSpPr txBox="1"/>
            <p:nvPr/>
          </p:nvSpPr>
          <p:spPr>
            <a:xfrm>
              <a:off x="1539884" y="2900001"/>
              <a:ext cx="439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85</a:t>
              </a:r>
              <a:endParaRPr/>
            </a:p>
          </p:txBody>
        </p:sp>
        <p:sp>
          <p:nvSpPr>
            <p:cNvPr id="259" name="Google Shape;259;p21"/>
            <p:cNvSpPr txBox="1"/>
            <p:nvPr/>
          </p:nvSpPr>
          <p:spPr>
            <a:xfrm>
              <a:off x="539552" y="2890465"/>
              <a:ext cx="558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60" name="Google Shape;260;p21"/>
            <p:cNvSpPr txBox="1"/>
            <p:nvPr/>
          </p:nvSpPr>
          <p:spPr>
            <a:xfrm>
              <a:off x="1074650" y="2896823"/>
              <a:ext cx="439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/>
            </a:p>
          </p:txBody>
        </p:sp>
      </p:grpSp>
      <p:sp>
        <p:nvSpPr>
          <p:cNvPr id="261" name="Google Shape;261;p21"/>
          <p:cNvSpPr txBox="1"/>
          <p:nvPr/>
        </p:nvSpPr>
        <p:spPr>
          <a:xfrm>
            <a:off x="2679700" y="4544615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3195637" y="4542234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3567112" y="4527947"/>
            <a:ext cx="50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4065587" y="4542234"/>
            <a:ext cx="50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155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4541837" y="4537472"/>
            <a:ext cx="50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170</a:t>
            </a:r>
            <a:endParaRPr/>
          </a:p>
        </p:txBody>
      </p:sp>
      <p:grpSp>
        <p:nvGrpSpPr>
          <p:cNvPr id="266" name="Google Shape;266;p21"/>
          <p:cNvGrpSpPr/>
          <p:nvPr/>
        </p:nvGrpSpPr>
        <p:grpSpPr>
          <a:xfrm>
            <a:off x="900112" y="4083844"/>
            <a:ext cx="7431075" cy="1085063"/>
            <a:chOff x="900113" y="5445125"/>
            <a:chExt cx="7431075" cy="1446750"/>
          </a:xfrm>
        </p:grpSpPr>
        <p:sp>
          <p:nvSpPr>
            <p:cNvPr id="267" name="Google Shape;267;p21"/>
            <p:cNvSpPr txBox="1"/>
            <p:nvPr/>
          </p:nvSpPr>
          <p:spPr>
            <a:xfrm>
              <a:off x="3175000" y="5459413"/>
              <a:ext cx="2190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2000"/>
                <a:buFont typeface="Architects Daughter"/>
                <a:buNone/>
              </a:pPr>
              <a:r>
                <a:rPr b="1" i="0" lang="es-419" sz="1800" u="none">
                  <a:solidFill>
                    <a:srgbClr val="4472C4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dim física = 150</a:t>
              </a:r>
              <a:endParaRPr sz="1200"/>
            </a:p>
          </p:txBody>
        </p:sp>
        <p:sp>
          <p:nvSpPr>
            <p:cNvPr id="268" name="Google Shape;268;p21"/>
            <p:cNvSpPr txBox="1"/>
            <p:nvPr/>
          </p:nvSpPr>
          <p:spPr>
            <a:xfrm>
              <a:off x="900113" y="5445125"/>
              <a:ext cx="2241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2000"/>
                <a:buFont typeface="Architects Daughter"/>
                <a:buNone/>
              </a:pPr>
              <a:r>
                <a:rPr b="1" i="0" lang="es-419" sz="1800" u="none">
                  <a:solidFill>
                    <a:srgbClr val="4472C4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dim lógica=8</a:t>
              </a:r>
              <a:endParaRPr sz="1200"/>
            </a:p>
          </p:txBody>
        </p:sp>
        <p:sp>
          <p:nvSpPr>
            <p:cNvPr id="269" name="Google Shape;269;p21"/>
            <p:cNvSpPr txBox="1"/>
            <p:nvPr/>
          </p:nvSpPr>
          <p:spPr>
            <a:xfrm>
              <a:off x="5508625" y="5468938"/>
              <a:ext cx="2190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2000"/>
                <a:buFont typeface="Architects Daughter"/>
                <a:buNone/>
              </a:pPr>
              <a:r>
                <a:rPr b="1" i="0" lang="es-419" sz="1800" u="none">
                  <a:solidFill>
                    <a:srgbClr val="4472C4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BUSCADO= 155</a:t>
              </a:r>
              <a:endParaRPr sz="1200"/>
            </a:p>
          </p:txBody>
        </p:sp>
        <p:sp>
          <p:nvSpPr>
            <p:cNvPr id="270" name="Google Shape;270;p21"/>
            <p:cNvSpPr txBox="1"/>
            <p:nvPr/>
          </p:nvSpPr>
          <p:spPr>
            <a:xfrm>
              <a:off x="6110288" y="5845175"/>
              <a:ext cx="22209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CC"/>
                </a:buClr>
                <a:buSzPts val="2000"/>
                <a:buFont typeface="Architects Daughter"/>
                <a:buNone/>
              </a:pPr>
              <a:r>
                <a:rPr b="1" i="0" lang="es-419" sz="1500" u="none">
                  <a:solidFill>
                    <a:srgbClr val="FF33CC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Pri = </a:t>
              </a:r>
              <a:r>
                <a:rPr b="1" lang="es-419" sz="1500">
                  <a:solidFill>
                    <a:srgbClr val="FF33CC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4</a:t>
              </a:r>
              <a:endParaRPr sz="9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CC"/>
                </a:buClr>
                <a:buSzPts val="2000"/>
                <a:buFont typeface="Architects Daughter"/>
                <a:buNone/>
              </a:pPr>
              <a:r>
                <a:rPr b="1" i="0" lang="es-419" sz="1500" u="none">
                  <a:solidFill>
                    <a:srgbClr val="FF33CC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Ult = </a:t>
              </a:r>
              <a:r>
                <a:rPr b="1" lang="es-419" sz="1500">
                  <a:solidFill>
                    <a:srgbClr val="FF33CC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7</a:t>
              </a:r>
              <a:endParaRPr sz="9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CC"/>
                </a:buClr>
                <a:buSzPts val="2000"/>
                <a:buFont typeface="Architects Daughter"/>
                <a:buNone/>
              </a:pPr>
              <a:r>
                <a:rPr b="1" i="0" lang="es-419" sz="1500" u="none">
                  <a:solidFill>
                    <a:srgbClr val="FF33CC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Medio = </a:t>
              </a:r>
              <a:r>
                <a:rPr b="1" lang="es-419" sz="1500">
                  <a:solidFill>
                    <a:srgbClr val="FF33CC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5</a:t>
              </a:r>
              <a:r>
                <a:rPr b="1" i="0" lang="es-419" sz="1500" u="none">
                  <a:solidFill>
                    <a:srgbClr val="FF33CC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 (150)</a:t>
              </a:r>
              <a:endParaRPr sz="9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Buscar</a:t>
            </a:r>
            <a:endParaRPr/>
          </a:p>
        </p:txBody>
      </p:sp>
      <p:pic>
        <p:nvPicPr>
          <p:cNvPr id="276" name="Google Shape;276;p22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2"/>
          <p:cNvSpPr txBox="1"/>
          <p:nvPr/>
        </p:nvSpPr>
        <p:spPr>
          <a:xfrm>
            <a:off x="107950" y="601265"/>
            <a:ext cx="3914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Vector Ordenado</a:t>
            </a:r>
            <a:endParaRPr/>
          </a:p>
        </p:txBody>
      </p:sp>
      <p:graphicFrame>
        <p:nvGraphicFramePr>
          <p:cNvPr id="278" name="Google Shape;278;p22"/>
          <p:cNvGraphicFramePr/>
          <p:nvPr/>
        </p:nvGraphicFramePr>
        <p:xfrm>
          <a:off x="1258887" y="15751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{3EFDFC22-BE3B-4281-A732-ED8BB8D1CDF1}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79" name="Google Shape;279;p22"/>
          <p:cNvGrpSpPr/>
          <p:nvPr/>
        </p:nvGrpSpPr>
        <p:grpSpPr>
          <a:xfrm>
            <a:off x="1258891" y="1697827"/>
            <a:ext cx="1439844" cy="345812"/>
            <a:chOff x="539552" y="2890465"/>
            <a:chExt cx="1440132" cy="461636"/>
          </a:xfrm>
        </p:grpSpPr>
        <p:sp>
          <p:nvSpPr>
            <p:cNvPr id="280" name="Google Shape;280;p22"/>
            <p:cNvSpPr txBox="1"/>
            <p:nvPr/>
          </p:nvSpPr>
          <p:spPr>
            <a:xfrm>
              <a:off x="1539884" y="2900001"/>
              <a:ext cx="439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85</a:t>
              </a:r>
              <a:endParaRPr/>
            </a:p>
          </p:txBody>
        </p:sp>
        <p:sp>
          <p:nvSpPr>
            <p:cNvPr id="281" name="Google Shape;281;p22"/>
            <p:cNvSpPr txBox="1"/>
            <p:nvPr/>
          </p:nvSpPr>
          <p:spPr>
            <a:xfrm>
              <a:off x="539552" y="2890465"/>
              <a:ext cx="558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82" name="Google Shape;282;p22"/>
            <p:cNvSpPr txBox="1"/>
            <p:nvPr/>
          </p:nvSpPr>
          <p:spPr>
            <a:xfrm>
              <a:off x="1074650" y="2896823"/>
              <a:ext cx="439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/>
            </a:p>
          </p:txBody>
        </p:sp>
      </p:grpSp>
      <p:sp>
        <p:nvSpPr>
          <p:cNvPr id="283" name="Google Shape;283;p22"/>
          <p:cNvSpPr txBox="1"/>
          <p:nvPr/>
        </p:nvSpPr>
        <p:spPr>
          <a:xfrm>
            <a:off x="3246437" y="1016794"/>
            <a:ext cx="218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física = 150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969962" y="1006078"/>
            <a:ext cx="224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lógica=8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2749550" y="1700213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3265487" y="1697831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3638550" y="1684734"/>
            <a:ext cx="50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4137025" y="1697831"/>
            <a:ext cx="50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155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4613275" y="1693069"/>
            <a:ext cx="50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170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5580062" y="1023938"/>
            <a:ext cx="219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BUSCADO= 155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6126162" y="1394222"/>
            <a:ext cx="222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Pri = </a:t>
            </a:r>
            <a:r>
              <a:rPr b="1" lang="es-419" sz="2000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Ult = </a:t>
            </a:r>
            <a:r>
              <a:rPr b="1" lang="es-419" sz="2000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Medio = </a:t>
            </a:r>
            <a:r>
              <a:rPr b="1" lang="es-419" sz="2000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5</a:t>
            </a:r>
            <a:r>
              <a:rPr b="1" i="0" lang="es-419" sz="20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(150)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1747837" y="2334815"/>
            <a:ext cx="496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Como 150 &lt; 155, entonces debo tomar la segunda mitad</a:t>
            </a:r>
            <a:endParaRPr/>
          </a:p>
        </p:txBody>
      </p:sp>
      <p:graphicFrame>
        <p:nvGraphicFramePr>
          <p:cNvPr id="293" name="Google Shape;293;p22"/>
          <p:cNvGraphicFramePr/>
          <p:nvPr/>
        </p:nvGraphicFramePr>
        <p:xfrm>
          <a:off x="1189037" y="34170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{3EFDFC22-BE3B-4281-A732-ED8BB8D1CDF1}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94" name="Google Shape;294;p22"/>
          <p:cNvGrpSpPr/>
          <p:nvPr/>
        </p:nvGrpSpPr>
        <p:grpSpPr>
          <a:xfrm>
            <a:off x="1189041" y="3539723"/>
            <a:ext cx="1439844" cy="345812"/>
            <a:chOff x="539552" y="2890465"/>
            <a:chExt cx="1440132" cy="461636"/>
          </a:xfrm>
        </p:grpSpPr>
        <p:sp>
          <p:nvSpPr>
            <p:cNvPr id="295" name="Google Shape;295;p22"/>
            <p:cNvSpPr txBox="1"/>
            <p:nvPr/>
          </p:nvSpPr>
          <p:spPr>
            <a:xfrm>
              <a:off x="1539884" y="2900001"/>
              <a:ext cx="439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85</a:t>
              </a:r>
              <a:endParaRPr/>
            </a:p>
          </p:txBody>
        </p:sp>
        <p:sp>
          <p:nvSpPr>
            <p:cNvPr id="296" name="Google Shape;296;p22"/>
            <p:cNvSpPr txBox="1"/>
            <p:nvPr/>
          </p:nvSpPr>
          <p:spPr>
            <a:xfrm>
              <a:off x="539552" y="2890465"/>
              <a:ext cx="558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97" name="Google Shape;297;p22"/>
            <p:cNvSpPr txBox="1"/>
            <p:nvPr/>
          </p:nvSpPr>
          <p:spPr>
            <a:xfrm>
              <a:off x="1074650" y="2896823"/>
              <a:ext cx="439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/>
            </a:p>
          </p:txBody>
        </p:sp>
      </p:grpSp>
      <p:sp>
        <p:nvSpPr>
          <p:cNvPr id="298" name="Google Shape;298;p22"/>
          <p:cNvSpPr txBox="1"/>
          <p:nvPr/>
        </p:nvSpPr>
        <p:spPr>
          <a:xfrm>
            <a:off x="2679700" y="3542109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3195637" y="3539728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3567112" y="3526631"/>
            <a:ext cx="50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4065587" y="3539728"/>
            <a:ext cx="50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155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4541837" y="3534965"/>
            <a:ext cx="50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170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3179762" y="1456134"/>
            <a:ext cx="1852500" cy="715500"/>
          </a:xfrm>
          <a:prstGeom prst="rect">
            <a:avLst/>
          </a:prstGeom>
          <a:solidFill>
            <a:srgbClr val="A6A6A6">
              <a:alpha val="49800"/>
            </a:srgbClr>
          </a:solidFill>
          <a:ln cap="flat" cmpd="sng" w="12700">
            <a:solidFill>
              <a:srgbClr val="41719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5953125" y="4205288"/>
            <a:ext cx="2189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ENCONTRE EL ELEMENTO!</a:t>
            </a:r>
            <a:endParaRPr/>
          </a:p>
        </p:txBody>
      </p:sp>
      <p:grpSp>
        <p:nvGrpSpPr>
          <p:cNvPr id="305" name="Google Shape;305;p22"/>
          <p:cNvGrpSpPr/>
          <p:nvPr/>
        </p:nvGrpSpPr>
        <p:grpSpPr>
          <a:xfrm>
            <a:off x="4040187" y="3315890"/>
            <a:ext cx="4291000" cy="1081359"/>
            <a:chOff x="4040188" y="4421188"/>
            <a:chExt cx="4291000" cy="1441812"/>
          </a:xfrm>
        </p:grpSpPr>
        <p:sp>
          <p:nvSpPr>
            <p:cNvPr id="306" name="Google Shape;306;p22"/>
            <p:cNvSpPr txBox="1"/>
            <p:nvPr/>
          </p:nvSpPr>
          <p:spPr>
            <a:xfrm>
              <a:off x="6110288" y="4508500"/>
              <a:ext cx="2220900" cy="13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CC"/>
                </a:buClr>
                <a:buSzPts val="2000"/>
                <a:buFont typeface="Architects Daughter"/>
                <a:buNone/>
              </a:pPr>
              <a:r>
                <a:rPr b="1" i="0" lang="es-419" sz="2000" u="none">
                  <a:solidFill>
                    <a:srgbClr val="FF33CC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Pri = </a:t>
              </a:r>
              <a:r>
                <a:rPr b="1" lang="es-419" sz="2000">
                  <a:solidFill>
                    <a:srgbClr val="FF33CC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6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CC"/>
                </a:buClr>
                <a:buSzPts val="2000"/>
                <a:buFont typeface="Architects Daughter"/>
                <a:buNone/>
              </a:pPr>
              <a:r>
                <a:rPr b="1" i="0" lang="es-419" sz="2000" u="none">
                  <a:solidFill>
                    <a:srgbClr val="FF33CC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Ult = </a:t>
              </a:r>
              <a:r>
                <a:rPr b="1" lang="es-419" sz="2000">
                  <a:solidFill>
                    <a:srgbClr val="FF33CC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7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CC"/>
                </a:buClr>
                <a:buSzPts val="2000"/>
                <a:buFont typeface="Architects Daughter"/>
                <a:buNone/>
              </a:pPr>
              <a:r>
                <a:rPr b="1" i="0" lang="es-419" sz="2000" u="none">
                  <a:solidFill>
                    <a:srgbClr val="FF33CC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Medio = </a:t>
              </a:r>
              <a:r>
                <a:rPr b="1" lang="es-419" sz="2000">
                  <a:solidFill>
                    <a:srgbClr val="FF33CC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6</a:t>
              </a:r>
              <a:r>
                <a:rPr b="1" i="0" lang="es-419" sz="2000" u="none">
                  <a:solidFill>
                    <a:srgbClr val="FF33CC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 (155)</a:t>
              </a:r>
              <a:endParaRPr/>
            </a:p>
          </p:txBody>
        </p:sp>
        <p:sp>
          <p:nvSpPr>
            <p:cNvPr id="307" name="Google Shape;307;p22"/>
            <p:cNvSpPr txBox="1"/>
            <p:nvPr/>
          </p:nvSpPr>
          <p:spPr>
            <a:xfrm>
              <a:off x="4040188" y="4421188"/>
              <a:ext cx="966900" cy="954000"/>
            </a:xfrm>
            <a:prstGeom prst="rect">
              <a:avLst/>
            </a:prstGeom>
            <a:solidFill>
              <a:srgbClr val="A6A6A6">
                <a:alpha val="49800"/>
              </a:srgbClr>
            </a:solidFill>
            <a:ln cap="flat" cmpd="sng" w="12700">
              <a:solidFill>
                <a:srgbClr val="41719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308" name="Google Shape;308;p22"/>
          <p:cNvSpPr txBox="1"/>
          <p:nvPr/>
        </p:nvSpPr>
        <p:spPr>
          <a:xfrm rot="-821499">
            <a:off x="1143491" y="3952617"/>
            <a:ext cx="2818800" cy="1405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235"/>
              </a:buClr>
              <a:buSzPts val="2800"/>
              <a:buFont typeface="Architects Daughter"/>
              <a:buNone/>
            </a:pPr>
            <a:r>
              <a:rPr b="1" i="0" lang="es-419" sz="2800" u="none">
                <a:solidFill>
                  <a:srgbClr val="548235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Cuando termina si el elemento no existe?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 rot="-821499">
            <a:off x="3312369" y="4323497"/>
            <a:ext cx="2818800" cy="968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33"/>
              </a:buClr>
              <a:buSzPts val="2800"/>
              <a:buFont typeface="Architects Daughter"/>
              <a:buNone/>
            </a:pPr>
            <a:r>
              <a:rPr b="1" i="0" lang="es-419" sz="2800" u="none">
                <a:solidFill>
                  <a:srgbClr val="FF9933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Cómo lo escribimos?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Buscar</a:t>
            </a:r>
            <a:endParaRPr/>
          </a:p>
        </p:txBody>
      </p:sp>
      <p:pic>
        <p:nvPicPr>
          <p:cNvPr id="315" name="Google Shape;315;p23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3"/>
          <p:cNvSpPr txBox="1"/>
          <p:nvPr/>
        </p:nvSpPr>
        <p:spPr>
          <a:xfrm>
            <a:off x="139700" y="779859"/>
            <a:ext cx="88248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BusquedaBinaria(int vec[], int dimL, int bus, bool &amp;ok){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pri, ult, medio;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ok = false;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 = 0;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ult = dimL - 1;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medio = (pri + ult) / 2;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while ((pri &lt;= ult) &amp;&amp; (bus != vec[medio]))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if (bus &lt; vec[medio])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ult = medio - 1;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else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pri = medio + 1;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medio = (pri + ult) / 2;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((pri &lt;= ult) &amp;&amp; (bus == vec[medio]))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ok = true;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4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Buscar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324" name="Google Shape;324;p24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078787" y="50006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4"/>
          <p:cNvSpPr txBox="1"/>
          <p:nvPr/>
        </p:nvSpPr>
        <p:spPr>
          <a:xfrm>
            <a:off x="28575" y="897731"/>
            <a:ext cx="90042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30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Vector Ordenado – </a:t>
            </a:r>
            <a:endParaRPr sz="1200"/>
          </a:p>
          <a:p>
            <a:pPr indent="0" lvl="0" marL="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27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    </a:t>
            </a:r>
            <a:r>
              <a:rPr b="1" i="0" lang="es-419" sz="27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Características de la búsqueda DICOTóMICA</a:t>
            </a:r>
            <a:endParaRPr sz="900"/>
          </a:p>
        </p:txBody>
      </p:sp>
      <p:sp>
        <p:nvSpPr>
          <p:cNvPr id="326" name="Google Shape;326;p24"/>
          <p:cNvSpPr txBox="1"/>
          <p:nvPr/>
        </p:nvSpPr>
        <p:spPr>
          <a:xfrm>
            <a:off x="971550" y="1869281"/>
            <a:ext cx="77199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aplica cuando los elementos de la estructura tienen orden, caso contrario hay que ordenarlos primero.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960437" y="2947988"/>
            <a:ext cx="80343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número de comparaciones es en promedio          (1+LOG2 (dimL + 1) )/2.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998537" y="3921919"/>
            <a:ext cx="7726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s-419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medida que el arreglo crece la cantidad de comparaciones tiene a LOG2 (dimL + 1)/2.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Ordenar</a:t>
            </a:r>
            <a:endParaRPr/>
          </a:p>
        </p:txBody>
      </p:sp>
      <p:pic>
        <p:nvPicPr>
          <p:cNvPr id="334" name="Google Shape;334;p25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5"/>
          <p:cNvSpPr txBox="1"/>
          <p:nvPr/>
        </p:nvSpPr>
        <p:spPr>
          <a:xfrm>
            <a:off x="-107950" y="1693069"/>
            <a:ext cx="203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Seleccion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1919287" y="1135856"/>
            <a:ext cx="3373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Cómo funciona?</a:t>
            </a:r>
            <a:endParaRPr/>
          </a:p>
        </p:txBody>
      </p:sp>
      <p:pic>
        <p:nvPicPr>
          <p:cNvPr id="337" name="Google Shape;33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884634"/>
            <a:ext cx="1169194" cy="86439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5"/>
          <p:cNvSpPr txBox="1"/>
          <p:nvPr/>
        </p:nvSpPr>
        <p:spPr>
          <a:xfrm>
            <a:off x="2627312" y="1788319"/>
            <a:ext cx="5329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419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cada pasada se elige un mínimo 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2627312" y="2353865"/>
            <a:ext cx="6337200" cy="12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419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ubica al mínimo en la posición correspondiente, la primera vez en el primer lugar, la segunda vuelta en el segundo lugar, y así sucesivamente</a:t>
            </a:r>
            <a:endParaRPr sz="1100"/>
          </a:p>
        </p:txBody>
      </p:sp>
      <p:sp>
        <p:nvSpPr>
          <p:cNvPr id="340" name="Google Shape;340;p25"/>
          <p:cNvSpPr txBox="1"/>
          <p:nvPr/>
        </p:nvSpPr>
        <p:spPr>
          <a:xfrm>
            <a:off x="2627312" y="3704034"/>
            <a:ext cx="63372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419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 (dimL-1) pasadas, donde n es la dimensión del arreglo.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6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Ordenar</a:t>
            </a:r>
            <a:endParaRPr/>
          </a:p>
        </p:txBody>
      </p:sp>
      <p:pic>
        <p:nvPicPr>
          <p:cNvPr id="346" name="Google Shape;346;p26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6"/>
          <p:cNvSpPr txBox="1"/>
          <p:nvPr/>
        </p:nvSpPr>
        <p:spPr>
          <a:xfrm>
            <a:off x="-107950" y="1693069"/>
            <a:ext cx="203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Ordenar</a:t>
            </a:r>
            <a:endParaRPr/>
          </a:p>
        </p:txBody>
      </p:sp>
      <p:sp>
        <p:nvSpPr>
          <p:cNvPr id="348" name="Google Shape;348;p26"/>
          <p:cNvSpPr txBox="1"/>
          <p:nvPr/>
        </p:nvSpPr>
        <p:spPr>
          <a:xfrm>
            <a:off x="1809750" y="789384"/>
            <a:ext cx="70041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</a:pPr>
            <a:r>
              <a:rPr b="1" i="0" lang="es-419" sz="28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El proceso por el cual, un grupo de elementos puede ser ordenado se conoce como algoritmo de ordenación. </a:t>
            </a:r>
            <a:endParaRPr/>
          </a:p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884634"/>
            <a:ext cx="1169194" cy="86439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6"/>
          <p:cNvSpPr txBox="1"/>
          <p:nvPr/>
        </p:nvSpPr>
        <p:spPr>
          <a:xfrm>
            <a:off x="107950" y="2702719"/>
            <a:ext cx="27465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Algoritmos de ordenación</a:t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3192462" y="2026444"/>
            <a:ext cx="27480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Selección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3192462" y="2782490"/>
            <a:ext cx="27480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Intercambio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3192462" y="3538538"/>
            <a:ext cx="27480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Inserción </a:t>
            </a:r>
            <a:endParaRPr/>
          </a:p>
        </p:txBody>
      </p:sp>
      <p:sp>
        <p:nvSpPr>
          <p:cNvPr id="354" name="Google Shape;354;p26"/>
          <p:cNvSpPr txBox="1"/>
          <p:nvPr/>
        </p:nvSpPr>
        <p:spPr>
          <a:xfrm>
            <a:off x="6138862" y="2187178"/>
            <a:ext cx="27465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Difieren en:</a:t>
            </a:r>
            <a:endParaRPr/>
          </a:p>
        </p:txBody>
      </p:sp>
      <p:sp>
        <p:nvSpPr>
          <p:cNvPr id="355" name="Google Shape;355;p26"/>
          <p:cNvSpPr/>
          <p:nvPr/>
        </p:nvSpPr>
        <p:spPr>
          <a:xfrm>
            <a:off x="2965450" y="2175272"/>
            <a:ext cx="125400" cy="1638300"/>
          </a:xfrm>
          <a:prstGeom prst="leftBrace">
            <a:avLst>
              <a:gd fmla="val 103" name="adj1"/>
              <a:gd fmla="val 50000" name="adj2"/>
            </a:avLst>
          </a:prstGeom>
          <a:noFill/>
          <a:ln cap="flat" cmpd="sng" w="38100">
            <a:solidFill>
              <a:srgbClr val="70AD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6" name="Google Shape;356;p26"/>
          <p:cNvSpPr txBox="1"/>
          <p:nvPr/>
        </p:nvSpPr>
        <p:spPr>
          <a:xfrm>
            <a:off x="6138862" y="2571750"/>
            <a:ext cx="2746500" cy="13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Dificultad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Memoria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endParaRPr/>
          </a:p>
        </p:txBody>
      </p:sp>
      <p:sp>
        <p:nvSpPr>
          <p:cNvPr id="357" name="Google Shape;357;p26"/>
          <p:cNvSpPr txBox="1"/>
          <p:nvPr/>
        </p:nvSpPr>
        <p:spPr>
          <a:xfrm>
            <a:off x="4284662" y="4427934"/>
            <a:ext cx="27465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4000"/>
              <a:buFont typeface="Calibri"/>
              <a:buNone/>
            </a:pPr>
            <a:r>
              <a:rPr b="0" i="0" lang="es-419" sz="4000" u="none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Selección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63" name="Google Shape;363;p27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Ordenar</a:t>
            </a:r>
            <a:endParaRPr/>
          </a:p>
        </p:txBody>
      </p:sp>
      <p:pic>
        <p:nvPicPr>
          <p:cNvPr id="364" name="Google Shape;364;p27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7"/>
          <p:cNvSpPr txBox="1"/>
          <p:nvPr/>
        </p:nvSpPr>
        <p:spPr>
          <a:xfrm>
            <a:off x="-107950" y="1693069"/>
            <a:ext cx="203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Seleccion</a:t>
            </a:r>
            <a:endParaRPr/>
          </a:p>
        </p:txBody>
      </p:sp>
      <p:sp>
        <p:nvSpPr>
          <p:cNvPr id="366" name="Google Shape;366;p27"/>
          <p:cNvSpPr txBox="1"/>
          <p:nvPr/>
        </p:nvSpPr>
        <p:spPr>
          <a:xfrm>
            <a:off x="1919287" y="1135856"/>
            <a:ext cx="3373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Cómo funciona?</a:t>
            </a:r>
            <a:endParaRPr/>
          </a:p>
        </p:txBody>
      </p:sp>
      <p:pic>
        <p:nvPicPr>
          <p:cNvPr id="367" name="Google Shape;36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884634"/>
            <a:ext cx="1169194" cy="86439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8" name="Google Shape;368;p27"/>
          <p:cNvGraphicFramePr/>
          <p:nvPr/>
        </p:nvGraphicFramePr>
        <p:xfrm>
          <a:off x="2238375" y="19895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{3EFDFC22-BE3B-4281-A732-ED8BB8D1CDF1}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69" name="Google Shape;369;p27"/>
          <p:cNvGrpSpPr/>
          <p:nvPr/>
        </p:nvGrpSpPr>
        <p:grpSpPr>
          <a:xfrm>
            <a:off x="2238379" y="2111200"/>
            <a:ext cx="1439843" cy="345814"/>
            <a:chOff x="539552" y="2890465"/>
            <a:chExt cx="1440131" cy="459493"/>
          </a:xfrm>
        </p:grpSpPr>
        <p:sp>
          <p:nvSpPr>
            <p:cNvPr id="370" name="Google Shape;370;p27"/>
            <p:cNvSpPr txBox="1"/>
            <p:nvPr/>
          </p:nvSpPr>
          <p:spPr>
            <a:xfrm>
              <a:off x="1539883" y="2899958"/>
              <a:ext cx="439800" cy="4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85</a:t>
              </a:r>
              <a:endParaRPr/>
            </a:p>
          </p:txBody>
        </p:sp>
        <p:sp>
          <p:nvSpPr>
            <p:cNvPr id="371" name="Google Shape;371;p27"/>
            <p:cNvSpPr txBox="1"/>
            <p:nvPr/>
          </p:nvSpPr>
          <p:spPr>
            <a:xfrm>
              <a:off x="539552" y="2890465"/>
              <a:ext cx="558900" cy="4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372" name="Google Shape;372;p27"/>
            <p:cNvSpPr txBox="1"/>
            <p:nvPr/>
          </p:nvSpPr>
          <p:spPr>
            <a:xfrm>
              <a:off x="977792" y="2896794"/>
              <a:ext cx="527100" cy="4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/>
            </a:p>
          </p:txBody>
        </p:sp>
      </p:grpSp>
      <p:sp>
        <p:nvSpPr>
          <p:cNvPr id="373" name="Google Shape;373;p27"/>
          <p:cNvSpPr txBox="1"/>
          <p:nvPr/>
        </p:nvSpPr>
        <p:spPr>
          <a:xfrm>
            <a:off x="4224337" y="1664494"/>
            <a:ext cx="219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física = 150</a:t>
            </a:r>
            <a:endParaRPr/>
          </a:p>
        </p:txBody>
      </p:sp>
      <p:sp>
        <p:nvSpPr>
          <p:cNvPr id="374" name="Google Shape;374;p27"/>
          <p:cNvSpPr txBox="1"/>
          <p:nvPr/>
        </p:nvSpPr>
        <p:spPr>
          <a:xfrm>
            <a:off x="1949450" y="1653778"/>
            <a:ext cx="224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lógica=</a:t>
            </a:r>
            <a:r>
              <a:rPr b="1" lang="es-419" sz="2000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5(6)</a:t>
            </a:r>
            <a:endParaRPr/>
          </a:p>
        </p:txBody>
      </p:sp>
      <p:sp>
        <p:nvSpPr>
          <p:cNvPr id="375" name="Google Shape;375;p27"/>
          <p:cNvSpPr txBox="1"/>
          <p:nvPr/>
        </p:nvSpPr>
        <p:spPr>
          <a:xfrm>
            <a:off x="3729037" y="2113359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6" name="Google Shape;376;p27"/>
          <p:cNvSpPr txBox="1"/>
          <p:nvPr/>
        </p:nvSpPr>
        <p:spPr>
          <a:xfrm>
            <a:off x="4244975" y="2110978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77" name="Google Shape;377;p27"/>
          <p:cNvSpPr txBox="1"/>
          <p:nvPr/>
        </p:nvSpPr>
        <p:spPr>
          <a:xfrm>
            <a:off x="4616450" y="2097881"/>
            <a:ext cx="50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/>
          </a:p>
        </p:txBody>
      </p:sp>
      <p:sp>
        <p:nvSpPr>
          <p:cNvPr id="378" name="Google Shape;378;p27"/>
          <p:cNvSpPr txBox="1"/>
          <p:nvPr/>
        </p:nvSpPr>
        <p:spPr>
          <a:xfrm>
            <a:off x="6918325" y="1707356"/>
            <a:ext cx="21909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200"/>
              <a:buFont typeface="Architects Daughter"/>
              <a:buNone/>
            </a:pPr>
            <a:r>
              <a:rPr b="1" i="0" lang="es-419" sz="22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Primera vuelta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C000"/>
              </a:buClr>
              <a:buSzPts val="2200"/>
              <a:buFont typeface="Architects Daughter"/>
              <a:buNone/>
            </a:pPr>
            <a:r>
              <a:rPr b="1" i="0" lang="es-419" sz="2200" u="none">
                <a:solidFill>
                  <a:srgbClr val="FFC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posminimo = </a:t>
            </a:r>
            <a:r>
              <a:rPr b="1" lang="es-419" sz="2200">
                <a:solidFill>
                  <a:srgbClr val="FFC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3</a:t>
            </a:r>
            <a:endParaRPr/>
          </a:p>
        </p:txBody>
      </p:sp>
      <p:sp>
        <p:nvSpPr>
          <p:cNvPr id="379" name="Google Shape;379;p27"/>
          <p:cNvSpPr txBox="1"/>
          <p:nvPr/>
        </p:nvSpPr>
        <p:spPr>
          <a:xfrm>
            <a:off x="100012" y="2661047"/>
            <a:ext cx="8591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2200"/>
              <a:buFont typeface="Architects Daughter"/>
              <a:buNone/>
            </a:pPr>
            <a:r>
              <a:rPr b="1" i="0" lang="es-419" sz="2200" u="none">
                <a:solidFill>
                  <a:srgbClr val="70AD4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Como es la </a:t>
            </a:r>
            <a:r>
              <a:rPr b="1" i="0" lang="es-419" sz="22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Primera vuelta </a:t>
            </a:r>
            <a:r>
              <a:rPr b="1" i="0" lang="es-419" sz="2200" u="none">
                <a:solidFill>
                  <a:srgbClr val="70AD4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intercambio el contenido de la posición </a:t>
            </a:r>
            <a:r>
              <a:rPr b="1" lang="es-419" sz="2200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0</a:t>
            </a:r>
            <a:r>
              <a:rPr b="1" i="0" lang="es-419" sz="2200" u="none">
                <a:solidFill>
                  <a:srgbClr val="70AD4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y </a:t>
            </a:r>
            <a:r>
              <a:rPr b="1" lang="es-419" sz="2200">
                <a:solidFill>
                  <a:srgbClr val="FFC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3</a:t>
            </a:r>
            <a:endParaRPr/>
          </a:p>
        </p:txBody>
      </p:sp>
      <p:graphicFrame>
        <p:nvGraphicFramePr>
          <p:cNvPr id="380" name="Google Shape;380;p27"/>
          <p:cNvGraphicFramePr/>
          <p:nvPr/>
        </p:nvGraphicFramePr>
        <p:xfrm>
          <a:off x="2214562" y="36826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{3EFDFC22-BE3B-4281-A732-ED8BB8D1CDF1}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81" name="Google Shape;381;p27"/>
          <p:cNvGrpSpPr/>
          <p:nvPr/>
        </p:nvGrpSpPr>
        <p:grpSpPr>
          <a:xfrm>
            <a:off x="2214566" y="3804269"/>
            <a:ext cx="1439844" cy="345814"/>
            <a:chOff x="539552" y="2890465"/>
            <a:chExt cx="1440132" cy="459493"/>
          </a:xfrm>
        </p:grpSpPr>
        <p:sp>
          <p:nvSpPr>
            <p:cNvPr id="382" name="Google Shape;382;p27"/>
            <p:cNvSpPr txBox="1"/>
            <p:nvPr/>
          </p:nvSpPr>
          <p:spPr>
            <a:xfrm>
              <a:off x="1539884" y="2899958"/>
              <a:ext cx="439800" cy="4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85</a:t>
              </a:r>
              <a:endParaRPr/>
            </a:p>
          </p:txBody>
        </p:sp>
        <p:sp>
          <p:nvSpPr>
            <p:cNvPr id="383" name="Google Shape;383;p27"/>
            <p:cNvSpPr txBox="1"/>
            <p:nvPr/>
          </p:nvSpPr>
          <p:spPr>
            <a:xfrm>
              <a:off x="539552" y="2890465"/>
              <a:ext cx="558900" cy="4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84" name="Google Shape;384;p27"/>
            <p:cNvSpPr txBox="1"/>
            <p:nvPr/>
          </p:nvSpPr>
          <p:spPr>
            <a:xfrm>
              <a:off x="952387" y="2896794"/>
              <a:ext cx="528600" cy="4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/>
            </a:p>
          </p:txBody>
        </p:sp>
      </p:grpSp>
      <p:sp>
        <p:nvSpPr>
          <p:cNvPr id="385" name="Google Shape;385;p27"/>
          <p:cNvSpPr txBox="1"/>
          <p:nvPr/>
        </p:nvSpPr>
        <p:spPr>
          <a:xfrm>
            <a:off x="4200525" y="3357563"/>
            <a:ext cx="219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física = 150</a:t>
            </a:r>
            <a:endParaRPr/>
          </a:p>
        </p:txBody>
      </p:sp>
      <p:sp>
        <p:nvSpPr>
          <p:cNvPr id="386" name="Google Shape;386;p27"/>
          <p:cNvSpPr txBox="1"/>
          <p:nvPr/>
        </p:nvSpPr>
        <p:spPr>
          <a:xfrm>
            <a:off x="1925637" y="3346846"/>
            <a:ext cx="224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lógica=6</a:t>
            </a:r>
            <a:endParaRPr/>
          </a:p>
        </p:txBody>
      </p:sp>
      <p:sp>
        <p:nvSpPr>
          <p:cNvPr id="387" name="Google Shape;387;p27"/>
          <p:cNvSpPr txBox="1"/>
          <p:nvPr/>
        </p:nvSpPr>
        <p:spPr>
          <a:xfrm>
            <a:off x="3705225" y="3806428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88" name="Google Shape;388;p27"/>
          <p:cNvSpPr txBox="1"/>
          <p:nvPr/>
        </p:nvSpPr>
        <p:spPr>
          <a:xfrm>
            <a:off x="4221162" y="3804047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89" name="Google Shape;389;p27"/>
          <p:cNvSpPr txBox="1"/>
          <p:nvPr/>
        </p:nvSpPr>
        <p:spPr>
          <a:xfrm>
            <a:off x="4594225" y="3790950"/>
            <a:ext cx="50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/>
          </a:p>
        </p:txBody>
      </p:sp>
      <p:sp>
        <p:nvSpPr>
          <p:cNvPr id="390" name="Google Shape;390;p27"/>
          <p:cNvSpPr txBox="1"/>
          <p:nvPr/>
        </p:nvSpPr>
        <p:spPr>
          <a:xfrm>
            <a:off x="6896100" y="3436144"/>
            <a:ext cx="21891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200"/>
              <a:buFont typeface="Architects Daughter"/>
              <a:buNone/>
            </a:pPr>
            <a:r>
              <a:rPr b="1" i="0" lang="es-419" sz="22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Segunda vuelta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C000"/>
              </a:buClr>
              <a:buSzPts val="2200"/>
              <a:buFont typeface="Architects Daughter"/>
              <a:buNone/>
            </a:pPr>
            <a:r>
              <a:rPr b="1" i="0" lang="es-419" sz="2200" u="none">
                <a:solidFill>
                  <a:srgbClr val="FFC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posminimo = </a:t>
            </a:r>
            <a:r>
              <a:rPr b="1" lang="es-419" sz="2200">
                <a:solidFill>
                  <a:srgbClr val="FFC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4</a:t>
            </a:r>
            <a:endParaRPr/>
          </a:p>
        </p:txBody>
      </p:sp>
      <p:sp>
        <p:nvSpPr>
          <p:cNvPr id="391" name="Google Shape;391;p27"/>
          <p:cNvSpPr txBox="1"/>
          <p:nvPr/>
        </p:nvSpPr>
        <p:spPr>
          <a:xfrm>
            <a:off x="188912" y="4295775"/>
            <a:ext cx="8775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2200"/>
              <a:buFont typeface="Architects Daughter"/>
              <a:buNone/>
            </a:pPr>
            <a:r>
              <a:rPr b="1" i="0" lang="es-419" sz="2200" u="none">
                <a:solidFill>
                  <a:srgbClr val="70AD4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Como es la </a:t>
            </a:r>
            <a:r>
              <a:rPr b="1" i="0" lang="es-419" sz="22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segunda vuelta </a:t>
            </a:r>
            <a:r>
              <a:rPr b="1" i="0" lang="es-419" sz="2200" u="none">
                <a:solidFill>
                  <a:srgbClr val="70AD4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intercambio el contenido de la posición </a:t>
            </a:r>
            <a:r>
              <a:rPr b="1" lang="es-419" sz="2200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1</a:t>
            </a:r>
            <a:r>
              <a:rPr b="1" i="0" lang="es-419" sz="2200" u="none">
                <a:solidFill>
                  <a:srgbClr val="70AD4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y </a:t>
            </a:r>
            <a:r>
              <a:rPr b="1" lang="es-419" sz="2200">
                <a:solidFill>
                  <a:srgbClr val="FF9933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8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Arreglos – Operaciones Ordenar</a:t>
            </a:r>
            <a:endParaRPr/>
          </a:p>
        </p:txBody>
      </p:sp>
      <p:pic>
        <p:nvPicPr>
          <p:cNvPr id="397" name="Google Shape;397;p28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8"/>
          <p:cNvSpPr txBox="1"/>
          <p:nvPr/>
        </p:nvSpPr>
        <p:spPr>
          <a:xfrm>
            <a:off x="-107950" y="1693069"/>
            <a:ext cx="203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Seleccion</a:t>
            </a:r>
            <a:endParaRPr/>
          </a:p>
        </p:txBody>
      </p:sp>
      <p:sp>
        <p:nvSpPr>
          <p:cNvPr id="399" name="Google Shape;399;p28"/>
          <p:cNvSpPr txBox="1"/>
          <p:nvPr/>
        </p:nvSpPr>
        <p:spPr>
          <a:xfrm>
            <a:off x="1919287" y="1135856"/>
            <a:ext cx="3373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Cómo funciona?</a:t>
            </a:r>
            <a:endParaRPr/>
          </a:p>
        </p:txBody>
      </p:sp>
      <p:pic>
        <p:nvPicPr>
          <p:cNvPr id="400" name="Google Shape;40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884634"/>
            <a:ext cx="1169194" cy="86439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1" name="Google Shape;401;p28"/>
          <p:cNvGraphicFramePr/>
          <p:nvPr/>
        </p:nvGraphicFramePr>
        <p:xfrm>
          <a:off x="2238375" y="19895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{3EFDFC22-BE3B-4281-A732-ED8BB8D1CDF1}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02" name="Google Shape;402;p28"/>
          <p:cNvGrpSpPr/>
          <p:nvPr/>
        </p:nvGrpSpPr>
        <p:grpSpPr>
          <a:xfrm>
            <a:off x="2238379" y="2111200"/>
            <a:ext cx="1439843" cy="345814"/>
            <a:chOff x="539552" y="2890465"/>
            <a:chExt cx="1440131" cy="459493"/>
          </a:xfrm>
        </p:grpSpPr>
        <p:sp>
          <p:nvSpPr>
            <p:cNvPr id="403" name="Google Shape;403;p28"/>
            <p:cNvSpPr txBox="1"/>
            <p:nvPr/>
          </p:nvSpPr>
          <p:spPr>
            <a:xfrm>
              <a:off x="1539883" y="2899958"/>
              <a:ext cx="439800" cy="4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85</a:t>
              </a:r>
              <a:endParaRPr/>
            </a:p>
          </p:txBody>
        </p:sp>
        <p:sp>
          <p:nvSpPr>
            <p:cNvPr id="404" name="Google Shape;404;p28"/>
            <p:cNvSpPr txBox="1"/>
            <p:nvPr/>
          </p:nvSpPr>
          <p:spPr>
            <a:xfrm>
              <a:off x="539552" y="2890465"/>
              <a:ext cx="558900" cy="4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405" name="Google Shape;405;p28"/>
            <p:cNvSpPr txBox="1"/>
            <p:nvPr/>
          </p:nvSpPr>
          <p:spPr>
            <a:xfrm>
              <a:off x="977792" y="2896794"/>
              <a:ext cx="527100" cy="4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</p:grpSp>
      <p:sp>
        <p:nvSpPr>
          <p:cNvPr id="406" name="Google Shape;406;p28"/>
          <p:cNvSpPr txBox="1"/>
          <p:nvPr/>
        </p:nvSpPr>
        <p:spPr>
          <a:xfrm>
            <a:off x="4224337" y="1664494"/>
            <a:ext cx="219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física = 150</a:t>
            </a:r>
            <a:endParaRPr/>
          </a:p>
        </p:txBody>
      </p:sp>
      <p:sp>
        <p:nvSpPr>
          <p:cNvPr id="407" name="Google Shape;407;p28"/>
          <p:cNvSpPr txBox="1"/>
          <p:nvPr/>
        </p:nvSpPr>
        <p:spPr>
          <a:xfrm>
            <a:off x="1949450" y="1653778"/>
            <a:ext cx="224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lógica=6</a:t>
            </a:r>
            <a:endParaRPr/>
          </a:p>
        </p:txBody>
      </p:sp>
      <p:sp>
        <p:nvSpPr>
          <p:cNvPr id="408" name="Google Shape;408;p28"/>
          <p:cNvSpPr txBox="1"/>
          <p:nvPr/>
        </p:nvSpPr>
        <p:spPr>
          <a:xfrm>
            <a:off x="3729037" y="2113359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09" name="Google Shape;409;p28"/>
          <p:cNvSpPr txBox="1"/>
          <p:nvPr/>
        </p:nvSpPr>
        <p:spPr>
          <a:xfrm>
            <a:off x="4148137" y="2110978"/>
            <a:ext cx="56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410" name="Google Shape;410;p28"/>
          <p:cNvSpPr txBox="1"/>
          <p:nvPr/>
        </p:nvSpPr>
        <p:spPr>
          <a:xfrm>
            <a:off x="4616450" y="2097881"/>
            <a:ext cx="50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/>
          </a:p>
        </p:txBody>
      </p:sp>
      <p:sp>
        <p:nvSpPr>
          <p:cNvPr id="411" name="Google Shape;411;p28"/>
          <p:cNvSpPr txBox="1"/>
          <p:nvPr/>
        </p:nvSpPr>
        <p:spPr>
          <a:xfrm>
            <a:off x="6918325" y="1822847"/>
            <a:ext cx="21909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200"/>
              <a:buFont typeface="Architects Daughter"/>
              <a:buNone/>
            </a:pPr>
            <a:r>
              <a:rPr b="1" i="0" lang="es-419" sz="22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Tercera vuelta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9933"/>
              </a:buClr>
              <a:buSzPts val="2200"/>
              <a:buFont typeface="Architects Daughter"/>
              <a:buNone/>
            </a:pPr>
            <a:r>
              <a:rPr b="1" i="0" lang="es-419" sz="2200" u="none">
                <a:solidFill>
                  <a:srgbClr val="FF9933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posminimo = </a:t>
            </a:r>
            <a:r>
              <a:rPr b="1" lang="es-419" sz="2200">
                <a:solidFill>
                  <a:srgbClr val="FF9933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3</a:t>
            </a:r>
            <a:endParaRPr/>
          </a:p>
        </p:txBody>
      </p:sp>
      <p:sp>
        <p:nvSpPr>
          <p:cNvPr id="412" name="Google Shape;412;p28"/>
          <p:cNvSpPr txBox="1"/>
          <p:nvPr/>
        </p:nvSpPr>
        <p:spPr>
          <a:xfrm>
            <a:off x="188912" y="2651522"/>
            <a:ext cx="835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2200"/>
              <a:buFont typeface="Architects Daughter"/>
              <a:buNone/>
            </a:pPr>
            <a:r>
              <a:rPr b="1" i="0" lang="es-419" sz="2100" u="none">
                <a:solidFill>
                  <a:srgbClr val="70AD4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Como es la </a:t>
            </a:r>
            <a:r>
              <a:rPr b="1" i="0" lang="es-419" sz="21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tercera vuelta </a:t>
            </a:r>
            <a:r>
              <a:rPr b="1" i="0" lang="es-419" sz="2100" u="none">
                <a:solidFill>
                  <a:srgbClr val="70AD4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intercambio el contenido de la posición </a:t>
            </a:r>
            <a:r>
              <a:rPr b="1" lang="es-419" sz="2100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2</a:t>
            </a:r>
            <a:r>
              <a:rPr b="1" i="0" lang="es-419" sz="2100" u="none">
                <a:solidFill>
                  <a:srgbClr val="70AD4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y </a:t>
            </a:r>
            <a:r>
              <a:rPr b="1" lang="es-419" sz="2100">
                <a:solidFill>
                  <a:srgbClr val="FF9933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3</a:t>
            </a:r>
            <a:endParaRPr sz="1300"/>
          </a:p>
        </p:txBody>
      </p:sp>
      <p:graphicFrame>
        <p:nvGraphicFramePr>
          <p:cNvPr id="413" name="Google Shape;413;p28"/>
          <p:cNvGraphicFramePr/>
          <p:nvPr/>
        </p:nvGraphicFramePr>
        <p:xfrm>
          <a:off x="2214562" y="36826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{3EFDFC22-BE3B-4281-A732-ED8BB8D1CDF1}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14" name="Google Shape;414;p28"/>
          <p:cNvGrpSpPr/>
          <p:nvPr/>
        </p:nvGrpSpPr>
        <p:grpSpPr>
          <a:xfrm>
            <a:off x="2214566" y="3804269"/>
            <a:ext cx="1439844" cy="345814"/>
            <a:chOff x="539552" y="2890465"/>
            <a:chExt cx="1440132" cy="459493"/>
          </a:xfrm>
        </p:grpSpPr>
        <p:sp>
          <p:nvSpPr>
            <p:cNvPr id="415" name="Google Shape;415;p28"/>
            <p:cNvSpPr txBox="1"/>
            <p:nvPr/>
          </p:nvSpPr>
          <p:spPr>
            <a:xfrm>
              <a:off x="1539884" y="2899958"/>
              <a:ext cx="439800" cy="4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416" name="Google Shape;416;p28"/>
            <p:cNvSpPr txBox="1"/>
            <p:nvPr/>
          </p:nvSpPr>
          <p:spPr>
            <a:xfrm>
              <a:off x="539552" y="2890465"/>
              <a:ext cx="558900" cy="4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417" name="Google Shape;417;p28"/>
            <p:cNvSpPr txBox="1"/>
            <p:nvPr/>
          </p:nvSpPr>
          <p:spPr>
            <a:xfrm>
              <a:off x="952387" y="2896794"/>
              <a:ext cx="528600" cy="4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</p:grpSp>
      <p:sp>
        <p:nvSpPr>
          <p:cNvPr id="418" name="Google Shape;418;p28"/>
          <p:cNvSpPr txBox="1"/>
          <p:nvPr/>
        </p:nvSpPr>
        <p:spPr>
          <a:xfrm>
            <a:off x="4200525" y="3357563"/>
            <a:ext cx="219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física = 150</a:t>
            </a:r>
            <a:endParaRPr/>
          </a:p>
        </p:txBody>
      </p:sp>
      <p:sp>
        <p:nvSpPr>
          <p:cNvPr id="419" name="Google Shape;419;p28"/>
          <p:cNvSpPr txBox="1"/>
          <p:nvPr/>
        </p:nvSpPr>
        <p:spPr>
          <a:xfrm>
            <a:off x="1925637" y="3346846"/>
            <a:ext cx="224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447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dim lógica=6</a:t>
            </a:r>
            <a:endParaRPr/>
          </a:p>
        </p:txBody>
      </p:sp>
      <p:sp>
        <p:nvSpPr>
          <p:cNvPr id="420" name="Google Shape;420;p28"/>
          <p:cNvSpPr txBox="1"/>
          <p:nvPr/>
        </p:nvSpPr>
        <p:spPr>
          <a:xfrm>
            <a:off x="3705225" y="3806428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85</a:t>
            </a:r>
            <a:endParaRPr/>
          </a:p>
        </p:txBody>
      </p:sp>
      <p:sp>
        <p:nvSpPr>
          <p:cNvPr id="421" name="Google Shape;421;p28"/>
          <p:cNvSpPr txBox="1"/>
          <p:nvPr/>
        </p:nvSpPr>
        <p:spPr>
          <a:xfrm>
            <a:off x="4148137" y="3804047"/>
            <a:ext cx="56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422" name="Google Shape;422;p28"/>
          <p:cNvSpPr txBox="1"/>
          <p:nvPr/>
        </p:nvSpPr>
        <p:spPr>
          <a:xfrm>
            <a:off x="4594225" y="3790950"/>
            <a:ext cx="50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/>
          </a:p>
        </p:txBody>
      </p:sp>
      <p:sp>
        <p:nvSpPr>
          <p:cNvPr id="423" name="Google Shape;423;p28"/>
          <p:cNvSpPr txBox="1"/>
          <p:nvPr/>
        </p:nvSpPr>
        <p:spPr>
          <a:xfrm>
            <a:off x="6896100" y="3569494"/>
            <a:ext cx="21891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2200"/>
              <a:buFont typeface="Architects Daughter"/>
              <a:buNone/>
            </a:pPr>
            <a:r>
              <a:rPr b="1" i="0" lang="es-419" sz="22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Cuarta vuelta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9933"/>
              </a:buClr>
              <a:buSzPts val="2200"/>
              <a:buFont typeface="Architects Daughter"/>
              <a:buNone/>
            </a:pPr>
            <a:r>
              <a:rPr b="1" i="0" lang="es-419" sz="2200" u="none">
                <a:solidFill>
                  <a:srgbClr val="FF9933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posminimo = </a:t>
            </a:r>
            <a:r>
              <a:rPr b="1" lang="es-419" sz="2200">
                <a:solidFill>
                  <a:srgbClr val="FF9933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3</a:t>
            </a:r>
            <a:endParaRPr/>
          </a:p>
        </p:txBody>
      </p:sp>
      <p:sp>
        <p:nvSpPr>
          <p:cNvPr id="424" name="Google Shape;424;p28"/>
          <p:cNvSpPr txBox="1"/>
          <p:nvPr/>
        </p:nvSpPr>
        <p:spPr>
          <a:xfrm>
            <a:off x="674687" y="4299347"/>
            <a:ext cx="8132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2200"/>
              <a:buFont typeface="Architects Daughter"/>
              <a:buNone/>
            </a:pPr>
            <a:r>
              <a:rPr b="1" i="0" lang="es-419" sz="2000" u="none">
                <a:solidFill>
                  <a:srgbClr val="70AD4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Como es la </a:t>
            </a:r>
            <a:r>
              <a:rPr b="1" i="0" lang="es-419" sz="2000" u="none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cuarta vuelta </a:t>
            </a:r>
            <a:r>
              <a:rPr b="1" i="0" lang="es-419" sz="2000" u="none">
                <a:solidFill>
                  <a:srgbClr val="70AD4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intercambio el contenido de la posición </a:t>
            </a:r>
            <a:r>
              <a:rPr b="1" lang="es-419" sz="2000">
                <a:solidFill>
                  <a:srgbClr val="FF33C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3</a:t>
            </a:r>
            <a:r>
              <a:rPr b="1" i="0" lang="es-419" sz="2000" u="none">
                <a:solidFill>
                  <a:srgbClr val="70AD4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y </a:t>
            </a:r>
            <a:r>
              <a:rPr b="1" lang="es-419" sz="2000">
                <a:solidFill>
                  <a:srgbClr val="FF9933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3</a:t>
            </a:r>
            <a:r>
              <a:rPr b="1" i="0" lang="es-419" sz="2000" u="none">
                <a:solidFill>
                  <a:srgbClr val="70AD4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. La quinta y sexta vuelta ocurrirá lo mismo con las posiciones 5 y 6.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9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s-419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430" name="Google Shape;430;p29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Vectores – Operaciones Ordenar</a:t>
            </a:r>
            <a:endParaRPr/>
          </a:p>
        </p:txBody>
      </p:sp>
      <p:sp>
        <p:nvSpPr>
          <p:cNvPr id="431" name="Google Shape;431;p29"/>
          <p:cNvSpPr txBox="1"/>
          <p:nvPr/>
        </p:nvSpPr>
        <p:spPr>
          <a:xfrm>
            <a:off x="8639175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s-419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82</a:t>
            </a:r>
            <a:endParaRPr/>
          </a:p>
        </p:txBody>
      </p:sp>
      <p:pic>
        <p:nvPicPr>
          <p:cNvPr id="432" name="Google Shape;432;p29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9"/>
          <p:cNvSpPr txBox="1"/>
          <p:nvPr/>
        </p:nvSpPr>
        <p:spPr>
          <a:xfrm>
            <a:off x="-107950" y="606028"/>
            <a:ext cx="203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Seleccion</a:t>
            </a:r>
            <a:endParaRPr/>
          </a:p>
        </p:txBody>
      </p:sp>
      <p:sp>
        <p:nvSpPr>
          <p:cNvPr id="434" name="Google Shape;434;p29"/>
          <p:cNvSpPr txBox="1"/>
          <p:nvPr/>
        </p:nvSpPr>
        <p:spPr>
          <a:xfrm>
            <a:off x="417375" y="1018631"/>
            <a:ext cx="86409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Ordenar(int v[], int dimLog) {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p, item;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for (int i = 0; i &lt; dimLog - 1; i++) { </a:t>
            </a:r>
            <a:r>
              <a:rPr lang="es-419" sz="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busca el mínimo v[p] entre                   v[i], ..., v[N]</a:t>
            </a:r>
            <a:endParaRPr sz="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 = i;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for (int j = i + 1; j &lt; dimLog; j++)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if (v[j] &lt; v[p])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p = j;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intercambia v[i] y v[p]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item = v[p];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v[p] = v[i];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v[i] = item;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5" name="Google Shape;435;p29"/>
          <p:cNvSpPr txBox="1"/>
          <p:nvPr/>
        </p:nvSpPr>
        <p:spPr>
          <a:xfrm rot="543278">
            <a:off x="6377102" y="3853106"/>
            <a:ext cx="2342794" cy="397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rgbClr val="70AD4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Desventaja?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