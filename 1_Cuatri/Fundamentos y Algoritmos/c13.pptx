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Architects Daughter"/>
      <p:regular r:id="rId22"/>
    </p:embeddedFont>
    <p:embeddedFont>
      <p:font typeface="Tahom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3C8176-1B41-4D6A-87F6-7A0B443D4B8E}">
  <a:tblStyle styleId="{853C8176-1B41-4D6A-87F6-7A0B443D4B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ArchitectsDaughter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Tahoma-bold.fntdata"/><Relationship Id="rId12" Type="http://schemas.openxmlformats.org/officeDocument/2006/relationships/slide" Target="slides/slide6.xml"/><Relationship Id="rId23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290cc4ba5_0_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6290cc4ba5_0_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290cc4ba5_0_9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6290cc4ba5_0_9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290cc4ba5_0_19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6290cc4ba5_0_19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290cc4ba5_0_27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6290cc4ba5_0_27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290cc4ba5_0_28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6290cc4ba5_0_28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290cc4ba5_0_37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6290cc4ba5_0_37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290cc4ba5_0_46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6290cc4ba5_0_46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290cc4ba5_0_56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6290cc4ba5_0_56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290cc4ba5_0_65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g36290cc4ba5_0_65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290cc4ba5_0_73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6290cc4ba5_0_73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290cc4ba5_0_83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g36290cc4ba5_0_83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290cc4ba5_0_91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6290cc4ba5_0_91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290cc4ba5_0_104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6290cc4ba5_0_104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290cc4ba5_0_112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6290cc4ba5_0_112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 Dimensión Física y Lógica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s-419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37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-107950" y="1693069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Dimensión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84634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2025650" y="1027509"/>
            <a:ext cx="3267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7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Dimensión Física</a:t>
            </a:r>
            <a:endParaRPr sz="900"/>
          </a:p>
        </p:txBody>
      </p:sp>
      <p:sp>
        <p:nvSpPr>
          <p:cNvPr id="67" name="Google Shape;67;p14"/>
          <p:cNvSpPr txBox="1"/>
          <p:nvPr/>
        </p:nvSpPr>
        <p:spPr>
          <a:xfrm>
            <a:off x="3135312" y="1500188"/>
            <a:ext cx="58293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3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 especifica en el </a:t>
            </a:r>
            <a:r>
              <a:rPr b="1" i="0" lang="es-419" sz="23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momento de la declaración</a:t>
            </a:r>
            <a:r>
              <a:rPr b="1" i="0" lang="es-419" sz="23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y determina su ocupación máxima de memoria. La cantidad de memoria no variará durante la ejecución del programa.</a:t>
            </a:r>
            <a:endParaRPr sz="700"/>
          </a:p>
        </p:txBody>
      </p:sp>
      <p:sp>
        <p:nvSpPr>
          <p:cNvPr id="68" name="Google Shape;68;p14"/>
          <p:cNvSpPr/>
          <p:nvPr/>
        </p:nvSpPr>
        <p:spPr>
          <a:xfrm>
            <a:off x="2411412" y="1546622"/>
            <a:ext cx="720600" cy="323700"/>
          </a:xfrm>
          <a:prstGeom prst="chevron">
            <a:avLst>
              <a:gd fmla="val 15130" name="adj"/>
            </a:avLst>
          </a:prstGeom>
          <a:solidFill>
            <a:srgbClr val="FFD966"/>
          </a:solidFill>
          <a:ln cap="flat" cmpd="sng" w="127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95262" y="3084909"/>
            <a:ext cx="3513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5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Dimensión Lógica</a:t>
            </a:r>
            <a:endParaRPr sz="700"/>
          </a:p>
        </p:txBody>
      </p:sp>
      <p:sp>
        <p:nvSpPr>
          <p:cNvPr id="70" name="Google Shape;70;p14"/>
          <p:cNvSpPr txBox="1"/>
          <p:nvPr/>
        </p:nvSpPr>
        <p:spPr>
          <a:xfrm>
            <a:off x="1692275" y="3448050"/>
            <a:ext cx="72723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 determina </a:t>
            </a:r>
            <a:r>
              <a:rPr b="1" i="0" lang="es-419" sz="25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cuando se cargan contenidos </a:t>
            </a: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 los elementos del arreglo. Indica la cantidad de posiciones de memoria ocupadas con contenido real. No supera la dimensión física</a:t>
            </a:r>
            <a:endParaRPr sz="900"/>
          </a:p>
        </p:txBody>
      </p:sp>
      <p:sp>
        <p:nvSpPr>
          <p:cNvPr id="71" name="Google Shape;71;p14"/>
          <p:cNvSpPr/>
          <p:nvPr/>
        </p:nvSpPr>
        <p:spPr>
          <a:xfrm>
            <a:off x="833437" y="3527821"/>
            <a:ext cx="720600" cy="323700"/>
          </a:xfrm>
          <a:prstGeom prst="chevron">
            <a:avLst>
              <a:gd fmla="val 15130" name="adj"/>
            </a:avLst>
          </a:prstGeom>
          <a:solidFill>
            <a:srgbClr val="FFD966"/>
          </a:solidFill>
          <a:ln cap="flat" cmpd="sng" w="127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b="1" i="0" lang="es-419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Dimensión Física y Lógica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476375" y="735806"/>
            <a:ext cx="7415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0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Realizar un programa que cargue un arreglo con números enteros hasta leer el número 50, a lo sumo se cargan 300 números.</a:t>
            </a:r>
            <a:endParaRPr sz="1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0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Luego de terminar la carga informe cuál es el número mas grande de los leídos.</a:t>
            </a:r>
            <a:endParaRPr sz="1000"/>
          </a:p>
        </p:txBody>
      </p:sp>
      <p:graphicFrame>
        <p:nvGraphicFramePr>
          <p:cNvPr id="82" name="Google Shape;82;p15"/>
          <p:cNvGraphicFramePr/>
          <p:nvPr/>
        </p:nvGraphicFramePr>
        <p:xfrm>
          <a:off x="2062162" y="3134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{853C8176-1B41-4D6A-87F6-7A0B443D4B8E}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3" name="Google Shape;83;p15"/>
          <p:cNvGrpSpPr/>
          <p:nvPr/>
        </p:nvGrpSpPr>
        <p:grpSpPr>
          <a:xfrm>
            <a:off x="2062166" y="3217075"/>
            <a:ext cx="1439844" cy="345769"/>
            <a:chOff x="539552" y="2890465"/>
            <a:chExt cx="1440132" cy="461025"/>
          </a:xfrm>
        </p:grpSpPr>
        <p:sp>
          <p:nvSpPr>
            <p:cNvPr id="84" name="Google Shape;84;p15"/>
            <p:cNvSpPr txBox="1"/>
            <p:nvPr/>
          </p:nvSpPr>
          <p:spPr>
            <a:xfrm>
              <a:off x="1539884" y="289999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539552" y="2890465"/>
              <a:ext cx="558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1074650" y="289681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184417" y="3566874"/>
            <a:ext cx="4702348" cy="343386"/>
            <a:chOff x="661789" y="3356992"/>
            <a:chExt cx="4702348" cy="458154"/>
          </a:xfrm>
        </p:grpSpPr>
        <p:sp>
          <p:nvSpPr>
            <p:cNvPr id="88" name="Google Shape;88;p15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1547637" y="3361758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4355999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299</a:t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4848137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300</a:t>
              </a:r>
              <a:endParaRPr/>
            </a:p>
          </p:txBody>
        </p:sp>
      </p:grpSp>
      <p:sp>
        <p:nvSpPr>
          <p:cNvPr id="93" name="Google Shape;93;p15"/>
          <p:cNvSpPr txBox="1"/>
          <p:nvPr/>
        </p:nvSpPr>
        <p:spPr>
          <a:xfrm>
            <a:off x="1331912" y="2799159"/>
            <a:ext cx="5985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s-419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 rot="5400000">
            <a:off x="4255387" y="1627640"/>
            <a:ext cx="490500" cy="4895700"/>
          </a:xfrm>
          <a:prstGeom prst="rightBrace">
            <a:avLst>
              <a:gd fmla="val 240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3243262" y="4308872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300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 flipH="1" rot="5400000">
            <a:off x="2665037" y="2264193"/>
            <a:ext cx="269100" cy="1350900"/>
          </a:xfrm>
          <a:prstGeom prst="rightBrace">
            <a:avLst>
              <a:gd fmla="val 478" name="adj1"/>
              <a:gd fmla="val 10974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1543050" y="2476500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 3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 rot="-821499">
            <a:off x="6384953" y="2143919"/>
            <a:ext cx="2818800" cy="1842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54823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Cuando se obtiene la dimensión lógica?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Dimensiones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2" y="753665"/>
            <a:ext cx="540544" cy="53935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1031912" y="704172"/>
            <a:ext cx="76803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&lt;iostream&gt;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int fisica = 300;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numeros[fisica];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numeros VN;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llenarNumeros(</a:t>
            </a:r>
            <a:r>
              <a:rPr lang="es-419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????</a:t>
            </a: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cout &lt;&lt; "El número mayor es:" &lt;&lt; mayor(</a:t>
            </a:r>
            <a:r>
              <a:rPr lang="es-419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????</a:t>
            </a: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070025" y="626472"/>
            <a:ext cx="765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tects Daughte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Dimensiones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2" y="753665"/>
            <a:ext cx="540544" cy="53935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1031912" y="704172"/>
            <a:ext cx="76803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&lt;iostream&gt;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int fisica = 300;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numeros[fisica];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numeros VN;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int dimL;</a:t>
            </a:r>
            <a:endParaRPr sz="2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llenarNumeros(</a:t>
            </a:r>
            <a:r>
              <a:rPr lang="es-419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VN, dimL</a:t>
            </a: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cout &lt;&lt; "El número mayor es:" &lt;&lt; mayor(</a:t>
            </a:r>
            <a:r>
              <a:rPr lang="es-419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VN,dimL</a:t>
            </a: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1070025" y="626472"/>
            <a:ext cx="765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tects Daughte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Dimensiones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2" y="753665"/>
            <a:ext cx="540544" cy="53935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1116012" y="789384"/>
            <a:ext cx="75042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llenarNumeros(int a[], int &amp;cant)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num;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cant = 0;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num;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((cant &lt; fisica) &amp;&amp; (num != 50))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cant = cant + 1;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a[cant] = num;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cin &gt;&gt; num;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349800" y="2697969"/>
            <a:ext cx="3362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Cuando el proceso termina en cant se guarda la cantidad de elementos relaes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Dimensiones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2" y="753665"/>
            <a:ext cx="540544" cy="53935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539875" y="950475"/>
            <a:ext cx="80820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maximo(int a[], int tam)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i, max;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max = -999;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(i = 0; i &lt; tam; i++)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(a[i] &gt;= max)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max = a[i];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max;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5602100" y="1684053"/>
            <a:ext cx="3362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Recibe la cantidad de elementos cargados</a:t>
            </a:r>
            <a:endParaRPr/>
          </a:p>
        </p:txBody>
      </p:sp>
      <p:cxnSp>
        <p:nvCxnSpPr>
          <p:cNvPr id="143" name="Google Shape;143;p19"/>
          <p:cNvCxnSpPr/>
          <p:nvPr/>
        </p:nvCxnSpPr>
        <p:spPr>
          <a:xfrm rot="10800000">
            <a:off x="5161699" y="1392453"/>
            <a:ext cx="1440000" cy="291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agregar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1476375" y="735806"/>
            <a:ext cx="7415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19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Dado un arreglo de números enteros (150 elementos como máximo) realice un programa que lea un número y lo agregue en el arreglo. </a:t>
            </a:r>
            <a:endParaRPr sz="9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Architects Daughter"/>
              <a:buNone/>
            </a:pPr>
            <a:r>
              <a:rPr b="1" i="0" lang="es-419" sz="19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Agregar</a:t>
            </a:r>
            <a:r>
              <a:rPr b="1" i="0" lang="es-419" sz="19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</a:t>
            </a:r>
            <a:r>
              <a:rPr b="1" i="0" lang="es-419" sz="19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siempre es al final </a:t>
            </a:r>
            <a:r>
              <a:rPr b="1" i="0" lang="es-419" sz="19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de la cantidad de elementos cargados.</a:t>
            </a:r>
            <a:endParaRPr sz="900"/>
          </a:p>
        </p:txBody>
      </p:sp>
      <p:graphicFrame>
        <p:nvGraphicFramePr>
          <p:cNvPr id="154" name="Google Shape;154;p20"/>
          <p:cNvGraphicFramePr/>
          <p:nvPr/>
        </p:nvGraphicFramePr>
        <p:xfrm>
          <a:off x="985837" y="3134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{853C8176-1B41-4D6A-87F6-7A0B443D4B8E}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5" name="Google Shape;155;p20"/>
          <p:cNvGrpSpPr/>
          <p:nvPr/>
        </p:nvGrpSpPr>
        <p:grpSpPr>
          <a:xfrm>
            <a:off x="985841" y="3217075"/>
            <a:ext cx="1439844" cy="345769"/>
            <a:chOff x="539552" y="2890465"/>
            <a:chExt cx="1440132" cy="461025"/>
          </a:xfrm>
        </p:grpSpPr>
        <p:sp>
          <p:nvSpPr>
            <p:cNvPr id="156" name="Google Shape;156;p20"/>
            <p:cNvSpPr txBox="1"/>
            <p:nvPr/>
          </p:nvSpPr>
          <p:spPr>
            <a:xfrm>
              <a:off x="1539884" y="289999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/>
            </a:p>
          </p:txBody>
        </p:sp>
        <p:sp>
          <p:nvSpPr>
            <p:cNvPr id="157" name="Google Shape;157;p20"/>
            <p:cNvSpPr txBox="1"/>
            <p:nvPr/>
          </p:nvSpPr>
          <p:spPr>
            <a:xfrm>
              <a:off x="539552" y="2890465"/>
              <a:ext cx="558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58" name="Google Shape;158;p20"/>
            <p:cNvSpPr txBox="1"/>
            <p:nvPr/>
          </p:nvSpPr>
          <p:spPr>
            <a:xfrm>
              <a:off x="1074650" y="289681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159" name="Google Shape;159;p20"/>
          <p:cNvGrpSpPr/>
          <p:nvPr/>
        </p:nvGrpSpPr>
        <p:grpSpPr>
          <a:xfrm>
            <a:off x="1108092" y="3566874"/>
            <a:ext cx="4702348" cy="343386"/>
            <a:chOff x="661789" y="3356992"/>
            <a:chExt cx="4702348" cy="458154"/>
          </a:xfrm>
        </p:grpSpPr>
        <p:sp>
          <p:nvSpPr>
            <p:cNvPr id="160" name="Google Shape;160;p20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62" name="Google Shape;162;p20"/>
            <p:cNvSpPr txBox="1"/>
            <p:nvPr/>
          </p:nvSpPr>
          <p:spPr>
            <a:xfrm>
              <a:off x="1547637" y="3361758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4355999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/>
            </a:p>
          </p:txBody>
        </p:sp>
        <p:sp>
          <p:nvSpPr>
            <p:cNvPr id="164" name="Google Shape;164;p20"/>
            <p:cNvSpPr txBox="1"/>
            <p:nvPr/>
          </p:nvSpPr>
          <p:spPr>
            <a:xfrm>
              <a:off x="4848137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/>
            </a:p>
          </p:txBody>
        </p:sp>
      </p:grpSp>
      <p:sp>
        <p:nvSpPr>
          <p:cNvPr id="165" name="Google Shape;165;p20"/>
          <p:cNvSpPr/>
          <p:nvPr/>
        </p:nvSpPr>
        <p:spPr>
          <a:xfrm rot="5400000">
            <a:off x="3179062" y="1627640"/>
            <a:ext cx="490500" cy="4895700"/>
          </a:xfrm>
          <a:prstGeom prst="rightBrace">
            <a:avLst>
              <a:gd fmla="val 240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166937" y="4308872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 flipH="1" rot="5400000">
            <a:off x="1588712" y="2264193"/>
            <a:ext cx="269100" cy="1350900"/>
          </a:xfrm>
          <a:prstGeom prst="rightBrace">
            <a:avLst>
              <a:gd fmla="val 478" name="adj1"/>
              <a:gd fmla="val 10974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312" y="2476500"/>
            <a:ext cx="28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 3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 rot="-821499">
            <a:off x="6254007" y="3080484"/>
            <a:ext cx="2818800" cy="96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54823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pasos debo hacer?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126037" y="2170509"/>
            <a:ext cx="39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Supongamos que leo el nro 8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490537" y="2468165"/>
            <a:ext cx="28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 4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7086600" y="254793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agregar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80" name="Google Shape;180;p21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-101600" y="1671638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Agregar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1547812" y="1977628"/>
            <a:ext cx="453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3838"/>
              </a:buClr>
              <a:buSzPts val="4000"/>
              <a:buFont typeface="Architects Daughter"/>
              <a:buNone/>
            </a:pPr>
            <a:r>
              <a:rPr b="1" i="0" lang="es-419" sz="3100" u="none">
                <a:solidFill>
                  <a:srgbClr val="3B3838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Pasos para agregar</a:t>
            </a:r>
            <a:endParaRPr sz="500"/>
          </a:p>
        </p:txBody>
      </p:sp>
      <p:sp>
        <p:nvSpPr>
          <p:cNvPr id="184" name="Google Shape;184;p21"/>
          <p:cNvSpPr txBox="1"/>
          <p:nvPr/>
        </p:nvSpPr>
        <p:spPr>
          <a:xfrm>
            <a:off x="2124075" y="2627709"/>
            <a:ext cx="66597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1- Verificar si hay espacio</a:t>
            </a:r>
            <a:endParaRPr sz="900"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t/>
            </a:r>
            <a:endParaRPr b="0" i="0" sz="2500" u="none">
              <a:solidFill>
                <a:srgbClr val="76717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2- Agregar al final el elemento</a:t>
            </a:r>
            <a:endParaRPr sz="900"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t/>
            </a:r>
            <a:endParaRPr b="1" i="0" sz="2500" u="none">
              <a:solidFill>
                <a:srgbClr val="76717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3- Incrementar la cantidad de elementos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agregar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2" y="753665"/>
            <a:ext cx="540544" cy="53935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1043775" y="1509425"/>
            <a:ext cx="7681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&lt;iostream&gt;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int fisica = 150;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int numeros[fisica];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</a:t>
            </a: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numeros VN;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 dimL, valor;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bool ok;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llenarNumeros(VN, dimL);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valor;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agregar(VN, dimL, ok, valor);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1057275" y="632222"/>
            <a:ext cx="765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tects Daughter"/>
              <a:buNone/>
            </a:pPr>
            <a:r>
              <a:rPr b="1" i="0" lang="es-419" sz="17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Dado un arreglo de números enteros (150 elementos como máximo) realice un programa que lea un número y lo agregue en el arreglo. Agregar siempre es al final de la cantidad de elementos cargados.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agregar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2" y="753665"/>
            <a:ext cx="540544" cy="53935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/>
        </p:nvSpPr>
        <p:spPr>
          <a:xfrm>
            <a:off x="247650" y="1844278"/>
            <a:ext cx="83535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agregar(int a[], int &amp;dim, bool &amp;pude, int valor)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pude = false;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((dim + 1) &lt;= fisica)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pude = true;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dim = dim + 1;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a[dim] = valor;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1057275" y="632222"/>
            <a:ext cx="7654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tects Daughter"/>
              <a:buNone/>
            </a:pPr>
            <a:r>
              <a:rPr b="1" i="0" lang="es-419" sz="19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Dado un arreglo de números enteros (150 elementos como máximo) realice un programa que lea un número y lo agregue en el arreglo. Agregar siempre es al final de la cantidad de elementos cargados.</a:t>
            </a:r>
            <a:endParaRPr sz="1100"/>
          </a:p>
        </p:txBody>
      </p:sp>
      <p:grpSp>
        <p:nvGrpSpPr>
          <p:cNvPr id="207" name="Google Shape;207;p23"/>
          <p:cNvGrpSpPr/>
          <p:nvPr/>
        </p:nvGrpSpPr>
        <p:grpSpPr>
          <a:xfrm>
            <a:off x="2998562" y="2066046"/>
            <a:ext cx="4751375" cy="492525"/>
            <a:chOff x="2916363" y="3433763"/>
            <a:chExt cx="4751375" cy="656700"/>
          </a:xfrm>
        </p:grpSpPr>
        <p:sp>
          <p:nvSpPr>
            <p:cNvPr id="208" name="Google Shape;208;p23"/>
            <p:cNvSpPr txBox="1"/>
            <p:nvPr/>
          </p:nvSpPr>
          <p:spPr>
            <a:xfrm>
              <a:off x="3995738" y="3433763"/>
              <a:ext cx="3672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600"/>
                <a:buFont typeface="Architects Daughter"/>
                <a:buNone/>
              </a:pPr>
              <a:r>
                <a:rPr b="1" i="0" lang="es-419" sz="26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Verifico si hay lugar</a:t>
              </a:r>
              <a:endParaRPr/>
            </a:p>
          </p:txBody>
        </p:sp>
        <p:cxnSp>
          <p:nvCxnSpPr>
            <p:cNvPr id="209" name="Google Shape;209;p23"/>
            <p:cNvCxnSpPr/>
            <p:nvPr/>
          </p:nvCxnSpPr>
          <p:spPr>
            <a:xfrm flipH="1">
              <a:off x="2916363" y="3716338"/>
              <a:ext cx="1368300" cy="2889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210" name="Google Shape;210;p23"/>
          <p:cNvGrpSpPr/>
          <p:nvPr/>
        </p:nvGrpSpPr>
        <p:grpSpPr>
          <a:xfrm>
            <a:off x="3475062" y="3265329"/>
            <a:ext cx="5759537" cy="831150"/>
            <a:chOff x="2700363" y="4660900"/>
            <a:chExt cx="5759537" cy="1108200"/>
          </a:xfrm>
        </p:grpSpPr>
        <p:sp>
          <p:nvSpPr>
            <p:cNvPr id="211" name="Google Shape;211;p23"/>
            <p:cNvSpPr txBox="1"/>
            <p:nvPr/>
          </p:nvSpPr>
          <p:spPr>
            <a:xfrm>
              <a:off x="4787900" y="4660900"/>
              <a:ext cx="36720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600"/>
                <a:buFont typeface="Architects Daughter"/>
                <a:buNone/>
              </a:pPr>
              <a:r>
                <a:rPr b="1" i="0" lang="es-419" sz="24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Incremento la cantidad de elementos</a:t>
              </a:r>
              <a:endParaRPr sz="1200"/>
            </a:p>
          </p:txBody>
        </p:sp>
        <p:cxnSp>
          <p:nvCxnSpPr>
            <p:cNvPr id="212" name="Google Shape;212;p23"/>
            <p:cNvCxnSpPr/>
            <p:nvPr/>
          </p:nvCxnSpPr>
          <p:spPr>
            <a:xfrm rot="10800000">
              <a:off x="2700363" y="4724288"/>
              <a:ext cx="2232000" cy="2049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213" name="Google Shape;213;p23"/>
          <p:cNvGrpSpPr/>
          <p:nvPr/>
        </p:nvGrpSpPr>
        <p:grpSpPr>
          <a:xfrm>
            <a:off x="2255012" y="3821997"/>
            <a:ext cx="5259350" cy="811584"/>
            <a:chOff x="1979763" y="5330863"/>
            <a:chExt cx="5259350" cy="1082112"/>
          </a:xfrm>
        </p:grpSpPr>
        <p:sp>
          <p:nvSpPr>
            <p:cNvPr id="214" name="Google Shape;214;p23"/>
            <p:cNvSpPr txBox="1"/>
            <p:nvPr/>
          </p:nvSpPr>
          <p:spPr>
            <a:xfrm>
              <a:off x="3567113" y="5756275"/>
              <a:ext cx="3672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600"/>
                <a:buFont typeface="Architects Daughter"/>
                <a:buNone/>
              </a:pPr>
              <a:r>
                <a:rPr b="1" i="0" lang="es-419" sz="26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Agrego el valor</a:t>
              </a: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1979763" y="5330863"/>
              <a:ext cx="2304900" cy="4905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Ejercicio 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1476375" y="735806"/>
            <a:ext cx="741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Dado un arreglo de números enteros (150 elementos como máximo) realice un programa que genere otro arreglo sólo con los números pares.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188912" y="2072878"/>
            <a:ext cx="8775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Cargar vector1 </a:t>
            </a:r>
            <a:r>
              <a:rPr b="0" i="1" lang="es-419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(no hay que implementarlo).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Para cada elemento de la posición i del vector1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Si (es par) entonces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Agregar el elemento de la posición i del vector1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en el vector2 en la </a:t>
            </a:r>
            <a:r>
              <a:rPr b="1" i="0" lang="es-419" sz="2200" u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posición correspondiente</a:t>
            </a: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0" i="0" lang="es-419" sz="2200" u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Aumento la dimensión lógica del vector2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Borrar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1476375" y="735806"/>
            <a:ext cx="741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0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Dado un arreglo de números enteros (150 elementos como máximo) realice un programa que lea una posición y elimine del arreglo el número guardado en esa posición</a:t>
            </a:r>
            <a:endParaRPr sz="1000"/>
          </a:p>
        </p:txBody>
      </p:sp>
      <p:graphicFrame>
        <p:nvGraphicFramePr>
          <p:cNvPr id="237" name="Google Shape;237;p25"/>
          <p:cNvGraphicFramePr/>
          <p:nvPr/>
        </p:nvGraphicFramePr>
        <p:xfrm>
          <a:off x="250825" y="2221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{853C8176-1B41-4D6A-87F6-7A0B443D4B8E}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8" name="Google Shape;238;p25"/>
          <p:cNvGrpSpPr/>
          <p:nvPr/>
        </p:nvGrpSpPr>
        <p:grpSpPr>
          <a:xfrm>
            <a:off x="250829" y="2344346"/>
            <a:ext cx="1439843" cy="345769"/>
            <a:chOff x="539552" y="2890465"/>
            <a:chExt cx="1440131" cy="461025"/>
          </a:xfrm>
        </p:grpSpPr>
        <p:sp>
          <p:nvSpPr>
            <p:cNvPr id="239" name="Google Shape;239;p25"/>
            <p:cNvSpPr txBox="1"/>
            <p:nvPr/>
          </p:nvSpPr>
          <p:spPr>
            <a:xfrm>
              <a:off x="1539883" y="289999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/>
            </a:p>
          </p:txBody>
        </p:sp>
        <p:sp>
          <p:nvSpPr>
            <p:cNvPr id="240" name="Google Shape;240;p25"/>
            <p:cNvSpPr txBox="1"/>
            <p:nvPr/>
          </p:nvSpPr>
          <p:spPr>
            <a:xfrm>
              <a:off x="539552" y="2890465"/>
              <a:ext cx="558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41" name="Google Shape;241;p25"/>
            <p:cNvSpPr txBox="1"/>
            <p:nvPr/>
          </p:nvSpPr>
          <p:spPr>
            <a:xfrm>
              <a:off x="1074650" y="289681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242" name="Google Shape;242;p25"/>
          <p:cNvGrpSpPr/>
          <p:nvPr/>
        </p:nvGrpSpPr>
        <p:grpSpPr>
          <a:xfrm>
            <a:off x="373079" y="2640567"/>
            <a:ext cx="4702347" cy="343386"/>
            <a:chOff x="661789" y="3356992"/>
            <a:chExt cx="4702347" cy="458154"/>
          </a:xfrm>
        </p:grpSpPr>
        <p:sp>
          <p:nvSpPr>
            <p:cNvPr id="243" name="Google Shape;243;p25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44" name="Google Shape;244;p25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45" name="Google Shape;245;p25"/>
            <p:cNvSpPr txBox="1"/>
            <p:nvPr/>
          </p:nvSpPr>
          <p:spPr>
            <a:xfrm>
              <a:off x="1547637" y="3361758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46" name="Google Shape;246;p25"/>
            <p:cNvSpPr txBox="1"/>
            <p:nvPr/>
          </p:nvSpPr>
          <p:spPr>
            <a:xfrm>
              <a:off x="4355998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/>
            </a:p>
          </p:txBody>
        </p:sp>
        <p:sp>
          <p:nvSpPr>
            <p:cNvPr id="247" name="Google Shape;247;p25"/>
            <p:cNvSpPr txBox="1"/>
            <p:nvPr/>
          </p:nvSpPr>
          <p:spPr>
            <a:xfrm>
              <a:off x="4848136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/>
            </a:p>
          </p:txBody>
        </p:sp>
      </p:grpSp>
      <p:sp>
        <p:nvSpPr>
          <p:cNvPr id="248" name="Google Shape;248;p25"/>
          <p:cNvSpPr/>
          <p:nvPr/>
        </p:nvSpPr>
        <p:spPr>
          <a:xfrm rot="5400000">
            <a:off x="2455162" y="638231"/>
            <a:ext cx="490500" cy="4895700"/>
          </a:xfrm>
          <a:prstGeom prst="rightBrace">
            <a:avLst>
              <a:gd fmla="val 240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1068387" y="2725340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 flipH="1" rot="5400000">
            <a:off x="1278763" y="1011666"/>
            <a:ext cx="223800" cy="2155800"/>
          </a:xfrm>
          <a:prstGeom prst="rightBrace">
            <a:avLst>
              <a:gd fmla="val 249" name="adj1"/>
              <a:gd fmla="val 10974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 rot="-821499">
            <a:off x="1048594" y="4084181"/>
            <a:ext cx="2818800" cy="96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54823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pasos debo hacer?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5337175" y="1778794"/>
            <a:ext cx="295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Supongamos que leo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6373812" y="2108597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79387" y="1721644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lógica=5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6891337" y="2103834"/>
            <a:ext cx="70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741487" y="2346722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2257425" y="2344340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258" name="Google Shape;258;p25"/>
          <p:cNvGraphicFramePr/>
          <p:nvPr/>
        </p:nvGraphicFramePr>
        <p:xfrm>
          <a:off x="4222750" y="38373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{853C8176-1B41-4D6A-87F6-7A0B443D4B8E}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9" name="Google Shape;259;p25"/>
          <p:cNvGrpSpPr/>
          <p:nvPr/>
        </p:nvGrpSpPr>
        <p:grpSpPr>
          <a:xfrm>
            <a:off x="4222754" y="3919544"/>
            <a:ext cx="974704" cy="343388"/>
            <a:chOff x="539552" y="2890465"/>
            <a:chExt cx="974899" cy="457850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539552" y="2890465"/>
              <a:ext cx="558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61" name="Google Shape;261;p25"/>
            <p:cNvSpPr txBox="1"/>
            <p:nvPr/>
          </p:nvSpPr>
          <p:spPr>
            <a:xfrm>
              <a:off x="1074651" y="289681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262" name="Google Shape;262;p25"/>
          <p:cNvGrpSpPr/>
          <p:nvPr/>
        </p:nvGrpSpPr>
        <p:grpSpPr>
          <a:xfrm>
            <a:off x="4345004" y="4269342"/>
            <a:ext cx="4702347" cy="343386"/>
            <a:chOff x="661789" y="3356992"/>
            <a:chExt cx="4702347" cy="458154"/>
          </a:xfrm>
        </p:grpSpPr>
        <p:sp>
          <p:nvSpPr>
            <p:cNvPr id="263" name="Google Shape;263;p25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64" name="Google Shape;264;p25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65" name="Google Shape;265;p25"/>
            <p:cNvSpPr txBox="1"/>
            <p:nvPr/>
          </p:nvSpPr>
          <p:spPr>
            <a:xfrm>
              <a:off x="1547637" y="3361758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66" name="Google Shape;266;p25"/>
            <p:cNvSpPr txBox="1"/>
            <p:nvPr/>
          </p:nvSpPr>
          <p:spPr>
            <a:xfrm>
              <a:off x="4355998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/>
            </a:p>
          </p:txBody>
        </p:sp>
        <p:sp>
          <p:nvSpPr>
            <p:cNvPr id="267" name="Google Shape;267;p25"/>
            <p:cNvSpPr txBox="1"/>
            <p:nvPr/>
          </p:nvSpPr>
          <p:spPr>
            <a:xfrm>
              <a:off x="4848136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/>
            </a:p>
          </p:txBody>
        </p:sp>
      </p:grpSp>
      <p:sp>
        <p:nvSpPr>
          <p:cNvPr id="268" name="Google Shape;268;p25"/>
          <p:cNvSpPr/>
          <p:nvPr/>
        </p:nvSpPr>
        <p:spPr>
          <a:xfrm rot="5400000">
            <a:off x="6415975" y="2059838"/>
            <a:ext cx="490500" cy="4895700"/>
          </a:xfrm>
          <a:prstGeom prst="rightBrace">
            <a:avLst>
              <a:gd fmla="val 240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5403850" y="4741069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grpSp>
        <p:nvGrpSpPr>
          <p:cNvPr id="270" name="Google Shape;270;p25"/>
          <p:cNvGrpSpPr/>
          <p:nvPr/>
        </p:nvGrpSpPr>
        <p:grpSpPr>
          <a:xfrm>
            <a:off x="3560762" y="3294459"/>
            <a:ext cx="2879700" cy="492525"/>
            <a:chOff x="3560763" y="4392613"/>
            <a:chExt cx="2879700" cy="656700"/>
          </a:xfrm>
        </p:grpSpPr>
        <p:sp>
          <p:nvSpPr>
            <p:cNvPr id="271" name="Google Shape;271;p25"/>
            <p:cNvSpPr/>
            <p:nvPr/>
          </p:nvSpPr>
          <p:spPr>
            <a:xfrm flipH="1" rot="5400000">
              <a:off x="4999063" y="4022750"/>
              <a:ext cx="298500" cy="1727100"/>
            </a:xfrm>
            <a:prstGeom prst="rightBrace">
              <a:avLst>
                <a:gd fmla="val 311" name="adj1"/>
                <a:gd fmla="val 10974" name="adj2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2" name="Google Shape;272;p25"/>
            <p:cNvSpPr txBox="1"/>
            <p:nvPr/>
          </p:nvSpPr>
          <p:spPr>
            <a:xfrm>
              <a:off x="3560763" y="4392613"/>
              <a:ext cx="28797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600"/>
                <a:buFont typeface="Architects Daughter"/>
                <a:buNone/>
              </a:pPr>
              <a:r>
                <a:rPr b="1" i="0" lang="es-419" sz="26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dim lógica=4</a:t>
              </a:r>
              <a:endParaRPr/>
            </a:p>
          </p:txBody>
        </p:sp>
      </p:grpSp>
      <p:sp>
        <p:nvSpPr>
          <p:cNvPr id="273" name="Google Shape;273;p25"/>
          <p:cNvSpPr txBox="1"/>
          <p:nvPr/>
        </p:nvSpPr>
        <p:spPr>
          <a:xfrm>
            <a:off x="5713412" y="3921919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229350" y="391953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229350" y="391953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5235575" y="3924300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borrar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84" name="Google Shape;284;p26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-101600" y="1671638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Borrar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1716087" y="1427559"/>
            <a:ext cx="4537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3838"/>
              </a:buClr>
              <a:buSzPts val="4000"/>
              <a:buFont typeface="Architects Daughter"/>
              <a:buNone/>
            </a:pPr>
            <a:r>
              <a:rPr b="1" i="0" lang="es-419" sz="3600" u="none">
                <a:solidFill>
                  <a:srgbClr val="3B3838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Pasos para borrar</a:t>
            </a:r>
            <a:endParaRPr sz="1000"/>
          </a:p>
        </p:txBody>
      </p:sp>
      <p:sp>
        <p:nvSpPr>
          <p:cNvPr id="288" name="Google Shape;288;p26"/>
          <p:cNvSpPr txBox="1"/>
          <p:nvPr/>
        </p:nvSpPr>
        <p:spPr>
          <a:xfrm>
            <a:off x="2233612" y="2021681"/>
            <a:ext cx="66597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1- Verificar que la posición sea válida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t/>
            </a:r>
            <a:endParaRPr b="0" i="0" sz="3000" u="none">
              <a:solidFill>
                <a:srgbClr val="76717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2- Realizar el corrimiento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t/>
            </a:r>
            <a:endParaRPr b="1" i="0" sz="3000" u="none">
              <a:solidFill>
                <a:srgbClr val="76717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3- Decrementar la cantidad de elementos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borrar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96" name="Google Shape;296;p27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2" y="753665"/>
            <a:ext cx="540544" cy="53935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 txBox="1"/>
          <p:nvPr/>
        </p:nvSpPr>
        <p:spPr>
          <a:xfrm>
            <a:off x="259400" y="1750328"/>
            <a:ext cx="7277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borrar(int a[], int &amp;dim, int pos, bool &amp;pude)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pude = false;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((pos &gt;= 0) &amp;&amp; (pos &lt; dim))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for (int i = pos; i &lt; dim - 1; i++)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a[i] = a[i + 1];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pude = true;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dim = dim - 1;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99" name="Google Shape;299;p27"/>
          <p:cNvGrpSpPr/>
          <p:nvPr/>
        </p:nvGrpSpPr>
        <p:grpSpPr>
          <a:xfrm>
            <a:off x="4448174" y="3555169"/>
            <a:ext cx="2160613" cy="737266"/>
            <a:chOff x="4448175" y="4740226"/>
            <a:chExt cx="2160613" cy="983021"/>
          </a:xfrm>
        </p:grpSpPr>
        <p:sp>
          <p:nvSpPr>
            <p:cNvPr id="300" name="Google Shape;300;p27"/>
            <p:cNvSpPr txBox="1"/>
            <p:nvPr/>
          </p:nvSpPr>
          <p:spPr>
            <a:xfrm>
              <a:off x="4448188" y="4779147"/>
              <a:ext cx="2160600" cy="9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600"/>
                <a:buFont typeface="Architects Daughter"/>
                <a:buNone/>
              </a:pPr>
              <a:r>
                <a:rPr b="1" i="0" lang="es-419" sz="20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Hago el corrimiento</a:t>
              </a:r>
              <a:endParaRPr sz="800"/>
            </a:p>
          </p:txBody>
        </p:sp>
        <p:cxnSp>
          <p:nvCxnSpPr>
            <p:cNvPr id="301" name="Google Shape;301;p27"/>
            <p:cNvCxnSpPr/>
            <p:nvPr/>
          </p:nvCxnSpPr>
          <p:spPr>
            <a:xfrm rot="10800000">
              <a:off x="4448175" y="4740226"/>
              <a:ext cx="685800" cy="1842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02" name="Google Shape;302;p27"/>
          <p:cNvGrpSpPr/>
          <p:nvPr/>
        </p:nvGrpSpPr>
        <p:grpSpPr>
          <a:xfrm>
            <a:off x="3247025" y="4470650"/>
            <a:ext cx="4968949" cy="746594"/>
            <a:chOff x="3059151" y="5787817"/>
            <a:chExt cx="4968949" cy="995458"/>
          </a:xfrm>
        </p:grpSpPr>
        <p:sp>
          <p:nvSpPr>
            <p:cNvPr id="303" name="Google Shape;303;p27"/>
            <p:cNvSpPr txBox="1"/>
            <p:nvPr/>
          </p:nvSpPr>
          <p:spPr>
            <a:xfrm>
              <a:off x="4356100" y="5921375"/>
              <a:ext cx="36720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600"/>
                <a:buFont typeface="Architects Daughter"/>
                <a:buNone/>
              </a:pPr>
              <a:r>
                <a:rPr b="1" i="0" lang="es-419" sz="18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Decremento la cantidad de elementos</a:t>
              </a:r>
              <a:endParaRPr sz="600"/>
            </a:p>
          </p:txBody>
        </p:sp>
        <p:cxnSp>
          <p:nvCxnSpPr>
            <p:cNvPr id="304" name="Google Shape;304;p27"/>
            <p:cNvCxnSpPr/>
            <p:nvPr/>
          </p:nvCxnSpPr>
          <p:spPr>
            <a:xfrm rot="10800000">
              <a:off x="3059151" y="5787817"/>
              <a:ext cx="1617000" cy="158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sp>
        <p:nvSpPr>
          <p:cNvPr id="305" name="Google Shape;305;p27"/>
          <p:cNvSpPr txBox="1"/>
          <p:nvPr/>
        </p:nvSpPr>
        <p:spPr>
          <a:xfrm>
            <a:off x="1187450" y="627459"/>
            <a:ext cx="741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0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Dado un arreglo de números enteros (150 elementos como máximo) realice un programa que lea una posición y elimine del arreglo el número guardado en esa posición</a:t>
            </a:r>
            <a:endParaRPr sz="1000"/>
          </a:p>
        </p:txBody>
      </p:sp>
      <p:grpSp>
        <p:nvGrpSpPr>
          <p:cNvPr id="306" name="Google Shape;306;p27"/>
          <p:cNvGrpSpPr/>
          <p:nvPr/>
        </p:nvGrpSpPr>
        <p:grpSpPr>
          <a:xfrm>
            <a:off x="2592350" y="2237447"/>
            <a:ext cx="5545200" cy="475022"/>
            <a:chOff x="2482850" y="3408363"/>
            <a:chExt cx="5545200" cy="633362"/>
          </a:xfrm>
        </p:grpSpPr>
        <p:sp>
          <p:nvSpPr>
            <p:cNvPr id="307" name="Google Shape;307;p27"/>
            <p:cNvSpPr txBox="1"/>
            <p:nvPr/>
          </p:nvSpPr>
          <p:spPr>
            <a:xfrm>
              <a:off x="2482850" y="3408363"/>
              <a:ext cx="55452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600"/>
                <a:buFont typeface="Architects Daughter"/>
                <a:buNone/>
              </a:pPr>
              <a:r>
                <a:rPr b="1" i="0" lang="es-419" sz="22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Verifico la posición </a:t>
              </a:r>
              <a:r>
                <a:rPr b="1" i="0" lang="es-419" sz="23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es </a:t>
              </a:r>
              <a:r>
                <a:rPr b="1" i="0" lang="es-419" sz="22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válida</a:t>
              </a:r>
              <a:endParaRPr sz="1000"/>
            </a:p>
          </p:txBody>
        </p:sp>
        <p:cxnSp>
          <p:nvCxnSpPr>
            <p:cNvPr id="308" name="Google Shape;308;p27"/>
            <p:cNvCxnSpPr/>
            <p:nvPr/>
          </p:nvCxnSpPr>
          <p:spPr>
            <a:xfrm flipH="1">
              <a:off x="2554200" y="3768725"/>
              <a:ext cx="722400" cy="2730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09" name="Google Shape;309;p27"/>
            <p:cNvCxnSpPr/>
            <p:nvPr/>
          </p:nvCxnSpPr>
          <p:spPr>
            <a:xfrm>
              <a:off x="3276600" y="3768725"/>
              <a:ext cx="574800" cy="2730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