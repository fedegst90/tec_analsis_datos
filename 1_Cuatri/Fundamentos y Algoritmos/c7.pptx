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Architects Daughter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font" Target="fonts/ArchitectsDaugh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a3a8f00f1_0_7:notes"/>
          <p:cNvSpPr txBox="1"/>
          <p:nvPr>
            <p:ph idx="1" type="body"/>
          </p:nvPr>
        </p:nvSpPr>
        <p:spPr>
          <a:xfrm>
            <a:off x="913962" y="4344140"/>
            <a:ext cx="50301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g35a3a8f00f1_0_7:notes"/>
          <p:cNvSpPr/>
          <p:nvPr>
            <p:ph idx="2" type="sldImg"/>
          </p:nvPr>
        </p:nvSpPr>
        <p:spPr>
          <a:xfrm>
            <a:off x="70956" y="707254"/>
            <a:ext cx="6717600" cy="340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a3a8f00f1_0_66:notes"/>
          <p:cNvSpPr txBox="1"/>
          <p:nvPr>
            <p:ph idx="1" type="body"/>
          </p:nvPr>
        </p:nvSpPr>
        <p:spPr>
          <a:xfrm>
            <a:off x="913962" y="4344140"/>
            <a:ext cx="50301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35a3a8f00f1_0_66:notes"/>
          <p:cNvSpPr/>
          <p:nvPr>
            <p:ph idx="2" type="sldImg"/>
          </p:nvPr>
        </p:nvSpPr>
        <p:spPr>
          <a:xfrm>
            <a:off x="70958" y="707254"/>
            <a:ext cx="6717600" cy="340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a3a8f00f1_0_119:notes"/>
          <p:cNvSpPr txBox="1"/>
          <p:nvPr>
            <p:ph idx="1" type="body"/>
          </p:nvPr>
        </p:nvSpPr>
        <p:spPr>
          <a:xfrm>
            <a:off x="913962" y="4344140"/>
            <a:ext cx="50301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5a3a8f00f1_0_119:notes"/>
          <p:cNvSpPr/>
          <p:nvPr>
            <p:ph idx="2" type="sldImg"/>
          </p:nvPr>
        </p:nvSpPr>
        <p:spPr>
          <a:xfrm>
            <a:off x="70958" y="707254"/>
            <a:ext cx="6717600" cy="340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a3a8f00f1_0_145:notes"/>
          <p:cNvSpPr txBox="1"/>
          <p:nvPr>
            <p:ph idx="1" type="body"/>
          </p:nvPr>
        </p:nvSpPr>
        <p:spPr>
          <a:xfrm>
            <a:off x="913962" y="4344140"/>
            <a:ext cx="50301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5a3a8f00f1_0_145:notes"/>
          <p:cNvSpPr/>
          <p:nvPr>
            <p:ph idx="2" type="sldImg"/>
          </p:nvPr>
        </p:nvSpPr>
        <p:spPr>
          <a:xfrm>
            <a:off x="70958" y="707254"/>
            <a:ext cx="6717600" cy="340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a3a8f00f1_0_170:notes"/>
          <p:cNvSpPr txBox="1"/>
          <p:nvPr>
            <p:ph idx="1" type="body"/>
          </p:nvPr>
        </p:nvSpPr>
        <p:spPr>
          <a:xfrm>
            <a:off x="913962" y="4344140"/>
            <a:ext cx="50301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5a3a8f00f1_0_170:notes"/>
          <p:cNvSpPr/>
          <p:nvPr>
            <p:ph idx="2" type="sldImg"/>
          </p:nvPr>
        </p:nvSpPr>
        <p:spPr>
          <a:xfrm>
            <a:off x="70958" y="707254"/>
            <a:ext cx="6717600" cy="340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Modularización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5710237" y="1403746"/>
            <a:ext cx="438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6559550" y="1403746"/>
            <a:ext cx="438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5703887" y="1397794"/>
            <a:ext cx="527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5675312" y="3674269"/>
            <a:ext cx="438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723100" y="1022775"/>
            <a:ext cx="4937100" cy="3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/>
              <a:t>   </a:t>
            </a:r>
            <a:r>
              <a:rPr lang="es-419" sz="1300"/>
              <a:t>#include &lt;iostream&gt;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/>
              <a:t>    using namespace std;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/>
              <a:t>      void uno(int a) {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/>
              <a:t>            int total;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/>
              <a:t>           total = 3;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/>
              <a:t>            total = total + a;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/>
              <a:t>             a = a + 1;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/>
              <a:t>           cout &lt;&lt; "El valor de total es: " &lt;&lt; total &lt;&lt; endl;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/>
              <a:t>           cout &lt;&lt; "El valor de a es: " &lt;&lt; a &lt;&lt; endl;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/>
              <a:t>      }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/>
              <a:t>    int main() {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/>
              <a:t>        int x;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/>
              <a:t>        x = 30;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/>
              <a:t>        uno(x);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/>
              <a:t>        cout &lt;&lt; "El valor de x es: " &lt;&lt; x &lt;&lt; endl;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/>
              <a:t>        return 0;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/>
              <a:t>  }</a:t>
            </a:r>
            <a:endParaRPr sz="1100"/>
          </a:p>
        </p:txBody>
      </p:sp>
      <p:sp>
        <p:nvSpPr>
          <p:cNvPr id="71" name="Google Shape;71;p15"/>
          <p:cNvSpPr txBox="1"/>
          <p:nvPr/>
        </p:nvSpPr>
        <p:spPr>
          <a:xfrm>
            <a:off x="5435600" y="3432572"/>
            <a:ext cx="2376600" cy="942000"/>
          </a:xfrm>
          <a:prstGeom prst="rect">
            <a:avLst/>
          </a:prstGeom>
          <a:noFill/>
          <a:ln cap="flat" cmpd="sng" w="25400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508625" y="3162300"/>
            <a:ext cx="28110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Arial"/>
              <a:buNone/>
            </a:pPr>
            <a:r>
              <a:rPr b="0" i="0" lang="es-419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Programa principal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5627687" y="3663553"/>
            <a:ext cx="528600" cy="282300"/>
          </a:xfrm>
          <a:prstGeom prst="rect">
            <a:avLst/>
          </a:prstGeom>
          <a:noFill/>
          <a:ln cap="flat" cmpd="sng" w="9525">
            <a:solidFill>
              <a:srgbClr val="3333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5703887" y="3923109"/>
            <a:ext cx="3366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5508625" y="1275150"/>
            <a:ext cx="2728800" cy="971700"/>
          </a:xfrm>
          <a:prstGeom prst="rect">
            <a:avLst/>
          </a:prstGeom>
          <a:noFill/>
          <a:ln cap="flat" cmpd="sng" w="25400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5581650" y="1015594"/>
            <a:ext cx="10008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Arial"/>
              <a:buNone/>
            </a:pPr>
            <a:r>
              <a:rPr b="0" i="0" lang="es-419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Uno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5754687" y="1760934"/>
            <a:ext cx="3111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5651500" y="1382315"/>
            <a:ext cx="528600" cy="282300"/>
          </a:xfrm>
          <a:prstGeom prst="rect">
            <a:avLst/>
          </a:prstGeom>
          <a:noFill/>
          <a:ln cap="flat" cmpd="sng" w="9525">
            <a:solidFill>
              <a:srgbClr val="3333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6465869" y="1670438"/>
            <a:ext cx="10008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6516687" y="1382315"/>
            <a:ext cx="528600" cy="282300"/>
          </a:xfrm>
          <a:prstGeom prst="rect">
            <a:avLst/>
          </a:prstGeom>
          <a:noFill/>
          <a:ln cap="flat" cmpd="sng" w="9525">
            <a:solidFill>
              <a:srgbClr val="3333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567487" y="1397794"/>
            <a:ext cx="3111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5364162" y="2516981"/>
            <a:ext cx="3235200" cy="27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olas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El valor de total 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8012112" y="2527697"/>
            <a:ext cx="4524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olas"/>
              <a:buNone/>
            </a:pPr>
            <a:r>
              <a:rPr b="0" i="1" lang="es-419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5365750" y="2753915"/>
            <a:ext cx="3235200" cy="27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olas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El valor de a 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7610475" y="2753915"/>
            <a:ext cx="4524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olas"/>
              <a:buNone/>
            </a:pPr>
            <a:r>
              <a:rPr b="0" i="1" lang="es-419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5000625" y="4406503"/>
            <a:ext cx="3237000" cy="27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olas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El valor de x 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7161212" y="4406503"/>
            <a:ext cx="4524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olas"/>
              <a:buNone/>
            </a:pPr>
            <a:r>
              <a:rPr b="0" i="1" lang="es-419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5"/>
          <p:cNvSpPr txBox="1"/>
          <p:nvPr>
            <p:ph type="title"/>
          </p:nvPr>
        </p:nvSpPr>
        <p:spPr>
          <a:xfrm>
            <a:off x="827087" y="97631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BAC2"/>
              </a:buClr>
              <a:buSzPts val="3400"/>
              <a:buFont typeface="Calibri"/>
              <a:buNone/>
            </a:pPr>
            <a:r>
              <a:rPr b="1" i="0" lang="es-419" sz="3400" u="none">
                <a:solidFill>
                  <a:srgbClr val="80BAC2"/>
                </a:solidFill>
                <a:latin typeface="Calibri"/>
                <a:ea typeface="Calibri"/>
                <a:cs typeface="Calibri"/>
                <a:sym typeface="Calibri"/>
              </a:rPr>
              <a:t>MODULARIZACIÓN</a:t>
            </a:r>
            <a:endParaRPr/>
          </a:p>
        </p:txBody>
      </p:sp>
      <p:cxnSp>
        <p:nvCxnSpPr>
          <p:cNvPr id="89" name="Google Shape;89;p15"/>
          <p:cNvCxnSpPr/>
          <p:nvPr/>
        </p:nvCxnSpPr>
        <p:spPr>
          <a:xfrm>
            <a:off x="4356100" y="735806"/>
            <a:ext cx="4608600" cy="0"/>
          </a:xfrm>
          <a:prstGeom prst="straightConnector1">
            <a:avLst/>
          </a:prstGeom>
          <a:noFill/>
          <a:ln cap="flat" cmpd="sng" w="9525">
            <a:solidFill>
              <a:srgbClr val="80BAC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" name="Google Shape;90;p15"/>
          <p:cNvSpPr txBox="1"/>
          <p:nvPr/>
        </p:nvSpPr>
        <p:spPr>
          <a:xfrm>
            <a:off x="323800" y="447675"/>
            <a:ext cx="40323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2200"/>
              <a:buFont typeface="Calibri"/>
              <a:buNone/>
            </a:pPr>
            <a:r>
              <a:rPr b="1" i="0" lang="es-419" sz="2200" u="none" cap="none" strike="noStrik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Analizar el siguiente código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title"/>
          </p:nvPr>
        </p:nvSpPr>
        <p:spPr>
          <a:xfrm>
            <a:off x="827087" y="97631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BAC2"/>
              </a:buClr>
              <a:buSzPts val="3400"/>
              <a:buFont typeface="Calibri"/>
              <a:buNone/>
            </a:pPr>
            <a:r>
              <a:rPr b="1" i="0" lang="es-419" sz="3400" u="none">
                <a:solidFill>
                  <a:srgbClr val="80BAC2"/>
                </a:solidFill>
                <a:latin typeface="Calibri"/>
                <a:ea typeface="Calibri"/>
                <a:cs typeface="Calibri"/>
                <a:sym typeface="Calibri"/>
              </a:rPr>
              <a:t>MODULARIZACIÓN</a:t>
            </a:r>
            <a:endParaRPr/>
          </a:p>
        </p:txBody>
      </p:sp>
      <p:cxnSp>
        <p:nvCxnSpPr>
          <p:cNvPr id="96" name="Google Shape;96;p16"/>
          <p:cNvCxnSpPr/>
          <p:nvPr/>
        </p:nvCxnSpPr>
        <p:spPr>
          <a:xfrm>
            <a:off x="4356100" y="735806"/>
            <a:ext cx="4608600" cy="0"/>
          </a:xfrm>
          <a:prstGeom prst="straightConnector1">
            <a:avLst/>
          </a:prstGeom>
          <a:noFill/>
          <a:ln cap="flat" cmpd="sng" w="9525">
            <a:solidFill>
              <a:srgbClr val="80BAC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16"/>
          <p:cNvSpPr txBox="1"/>
          <p:nvPr/>
        </p:nvSpPr>
        <p:spPr>
          <a:xfrm>
            <a:off x="323850" y="431006"/>
            <a:ext cx="31926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3864"/>
              </a:buClr>
              <a:buSzPts val="2200"/>
              <a:buFont typeface="Calibri"/>
              <a:buNone/>
            </a:pPr>
            <a:r>
              <a:rPr b="1" i="0" lang="es-419" sz="1800" u="none" cap="none" strike="noStrike">
                <a:solidFill>
                  <a:srgbClr val="203864"/>
                </a:solidFill>
                <a:latin typeface="Calibri"/>
                <a:ea typeface="Calibri"/>
                <a:cs typeface="Calibri"/>
                <a:sym typeface="Calibri"/>
              </a:rPr>
              <a:t>Analizar el siguiente código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702300" y="3623072"/>
            <a:ext cx="438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6584950" y="1347788"/>
            <a:ext cx="438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5705475" y="3615928"/>
            <a:ext cx="438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409575" y="823913"/>
            <a:ext cx="48801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</a:rPr>
              <a:t>#include &lt;iostream&gt;</a:t>
            </a:r>
            <a:endParaRPr sz="1300">
              <a:solidFill>
                <a:schemeClr val="dk1"/>
              </a:solidFill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</a:rPr>
              <a:t>using namespace std;</a:t>
            </a:r>
            <a:endParaRPr sz="1300">
              <a:solidFill>
                <a:schemeClr val="dk1"/>
              </a:solidFill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</a:rPr>
              <a:t>void uno(int &amp;a) {</a:t>
            </a:r>
            <a:endParaRPr sz="1300">
              <a:solidFill>
                <a:schemeClr val="dk1"/>
              </a:solidFill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</a:rPr>
              <a:t>    int total;</a:t>
            </a:r>
            <a:endParaRPr sz="1300">
              <a:solidFill>
                <a:schemeClr val="dk1"/>
              </a:solidFill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</a:rPr>
              <a:t>    total = 3;</a:t>
            </a:r>
            <a:endParaRPr sz="1300">
              <a:solidFill>
                <a:schemeClr val="dk1"/>
              </a:solidFill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</a:rPr>
              <a:t>    total = total + a;</a:t>
            </a:r>
            <a:endParaRPr sz="1300">
              <a:solidFill>
                <a:schemeClr val="dk1"/>
              </a:solidFill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</a:rPr>
              <a:t>    a = a + 1;</a:t>
            </a:r>
            <a:endParaRPr sz="1300">
              <a:solidFill>
                <a:schemeClr val="dk1"/>
              </a:solidFill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</a:rPr>
              <a:t>    cout &lt;&lt; "El valor de total es: " &lt;&lt; total &lt;&lt; endl;</a:t>
            </a:r>
            <a:endParaRPr sz="1300">
              <a:solidFill>
                <a:schemeClr val="dk1"/>
              </a:solidFill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</a:rPr>
              <a:t>    cout &lt;&lt; "El valor de a es: " &lt;&lt; a &lt;&lt; endl;</a:t>
            </a:r>
            <a:endParaRPr sz="1300">
              <a:solidFill>
                <a:schemeClr val="dk1"/>
              </a:solidFill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</a:rPr>
              <a:t>int main() {</a:t>
            </a:r>
            <a:endParaRPr sz="1300">
              <a:solidFill>
                <a:schemeClr val="dk1"/>
              </a:solidFill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</a:rPr>
              <a:t>    int x;</a:t>
            </a:r>
            <a:endParaRPr sz="1300">
              <a:solidFill>
                <a:schemeClr val="dk1"/>
              </a:solidFill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</a:rPr>
              <a:t>    x = 30;</a:t>
            </a:r>
            <a:endParaRPr sz="1300">
              <a:solidFill>
                <a:schemeClr val="dk1"/>
              </a:solidFill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</a:rPr>
              <a:t>    uno(x);</a:t>
            </a:r>
            <a:endParaRPr sz="1300">
              <a:solidFill>
                <a:schemeClr val="dk1"/>
              </a:solidFill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</a:rPr>
              <a:t>    cout &lt;&lt; "El valor de x es: " &lt;&lt; x &lt;&lt; endl;</a:t>
            </a:r>
            <a:endParaRPr sz="1300">
              <a:solidFill>
                <a:schemeClr val="dk1"/>
              </a:solidFill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</a:rPr>
              <a:t>    return 0;</a:t>
            </a:r>
            <a:endParaRPr sz="1300">
              <a:solidFill>
                <a:schemeClr val="dk1"/>
              </a:solidFill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</a:rPr>
              <a:t>}</a:t>
            </a:r>
            <a:endParaRPr sz="1300">
              <a:solidFill>
                <a:schemeClr val="dk1"/>
              </a:solidFill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5461000" y="3376613"/>
            <a:ext cx="2376600" cy="941700"/>
          </a:xfrm>
          <a:prstGeom prst="rect">
            <a:avLst/>
          </a:prstGeom>
          <a:noFill/>
          <a:ln cap="flat" cmpd="sng" w="25400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534025" y="3106340"/>
            <a:ext cx="21018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Arial"/>
              <a:buNone/>
            </a:pPr>
            <a:r>
              <a:rPr b="0" i="0" lang="es-419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Programa principal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5653087" y="3607594"/>
            <a:ext cx="528600" cy="282300"/>
          </a:xfrm>
          <a:prstGeom prst="rect">
            <a:avLst/>
          </a:prstGeom>
          <a:noFill/>
          <a:ln cap="flat" cmpd="sng" w="9525">
            <a:solidFill>
              <a:srgbClr val="3333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5729287" y="3867150"/>
            <a:ext cx="3366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5534025" y="1219200"/>
            <a:ext cx="2376600" cy="971700"/>
          </a:xfrm>
          <a:prstGeom prst="rect">
            <a:avLst/>
          </a:prstGeom>
          <a:noFill/>
          <a:ln cap="flat" cmpd="sng" w="25400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5607050" y="959644"/>
            <a:ext cx="6033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Arial"/>
              <a:buNone/>
            </a:pPr>
            <a:r>
              <a:rPr b="0" i="0" lang="es-419" sz="1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Uno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6491287" y="1614488"/>
            <a:ext cx="6666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6542087" y="1326356"/>
            <a:ext cx="528600" cy="282300"/>
          </a:xfrm>
          <a:prstGeom prst="rect">
            <a:avLst/>
          </a:prstGeom>
          <a:noFill/>
          <a:ln cap="flat" cmpd="sng" w="9525">
            <a:solidFill>
              <a:srgbClr val="3333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6592887" y="1341834"/>
            <a:ext cx="3111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5789612" y="2461022"/>
            <a:ext cx="3237000" cy="27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olas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El valor de total 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8104187" y="2457450"/>
            <a:ext cx="4524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olas"/>
              <a:buNone/>
            </a:pPr>
            <a:r>
              <a:rPr b="0" i="1" lang="es-419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5791200" y="2697956"/>
            <a:ext cx="3237000" cy="27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olas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El valor de a 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7604125" y="2711053"/>
            <a:ext cx="4524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olas"/>
              <a:buNone/>
            </a:pPr>
            <a:r>
              <a:rPr b="0" i="1" lang="es-419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5302250" y="4375547"/>
            <a:ext cx="3060600" cy="29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nsolas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El valor de x 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7191375" y="4373165"/>
            <a:ext cx="866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nsolas"/>
              <a:buNone/>
            </a:pPr>
            <a:r>
              <a:rPr b="0" i="1" lang="es-419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635625" y="1434703"/>
            <a:ext cx="3111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 flipH="1">
            <a:off x="5230828" y="1543050"/>
            <a:ext cx="431784" cy="2052619"/>
          </a:xfrm>
          <a:custGeom>
            <a:rect b="b" l="l" r="r" t="t"/>
            <a:pathLst>
              <a:path extrusionOk="0" fill="none" h="42841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2016"/>
                  <a:pt x="14165" y="40949"/>
                  <a:pt x="3921" y="42840"/>
                </a:cubicBezTo>
              </a:path>
              <a:path extrusionOk="0" h="42841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2016"/>
                  <a:pt x="14165" y="40949"/>
                  <a:pt x="3921" y="4284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cap="flat" cmpd="sng" w="952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/>
        </p:nvSpPr>
        <p:spPr>
          <a:xfrm>
            <a:off x="468312" y="1491853"/>
            <a:ext cx="8424900" cy="18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</a:t>
            </a:r>
            <a:r>
              <a:rPr b="0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Realice un </a:t>
            </a:r>
            <a:r>
              <a:rPr b="1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procedimiento</a:t>
            </a:r>
            <a:r>
              <a:rPr b="0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b="1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reciba</a:t>
            </a:r>
            <a:r>
              <a:rPr b="0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como parámetro </a:t>
            </a:r>
            <a:r>
              <a:rPr b="1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número </a:t>
            </a:r>
            <a:r>
              <a:rPr b="0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entero y </a:t>
            </a:r>
            <a:r>
              <a:rPr b="1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retorne </a:t>
            </a:r>
            <a:r>
              <a:rPr b="0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cantidad de dígitos impares y la cantidad de dígitos pares que posee el número recibido.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</a:t>
            </a:r>
            <a:r>
              <a:rPr b="0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Utilizando el procedimiento definido en </a:t>
            </a:r>
            <a:r>
              <a:rPr b="1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r>
              <a:rPr b="0" i="0" lang="es-419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realice un programa que lea 20 números enteros e informe la cantidad de números que tienen más dígitos pares que impares.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500212" y="679944"/>
            <a:ext cx="84645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s-419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Ejercicio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 rot="-17536">
            <a:off x="1446712" y="3671294"/>
            <a:ext cx="6469284" cy="43320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chitects Daughter"/>
              <a:buNone/>
            </a:pPr>
            <a:r>
              <a:rPr b="0" i="0" lang="es-419" sz="1800" u="none" cap="none" strike="noStrike">
                <a:solidFill>
                  <a:srgbClr val="0000F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¿Qué </a:t>
            </a:r>
            <a:r>
              <a:rPr b="1" i="0" lang="es-419" sz="1800" u="none" cap="none" strike="noStrike">
                <a:solidFill>
                  <a:srgbClr val="0000F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datos a comunicar</a:t>
            </a:r>
            <a:r>
              <a:rPr b="0" i="0" lang="es-419" sz="1800" u="none" cap="none" strike="noStrike">
                <a:solidFill>
                  <a:srgbClr val="0000FF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 entre el módulo y su llamador?</a:t>
            </a:r>
            <a:endParaRPr b="0" i="0" sz="1800" u="none" cap="none" strike="noStrike">
              <a:solidFill>
                <a:srgbClr val="000000"/>
              </a:solidFill>
              <a:latin typeface="Architects Daughter"/>
              <a:ea typeface="Architects Daughter"/>
              <a:cs typeface="Architects Daughter"/>
              <a:sym typeface="Architects Daughter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731837" y="4471988"/>
            <a:ext cx="81360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void descomponer(int num, int &amp;cantP, int &amp;cantI)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127" name="Google Shape;127;p17"/>
          <p:cNvSpPr txBox="1"/>
          <p:nvPr>
            <p:ph type="title"/>
          </p:nvPr>
        </p:nvSpPr>
        <p:spPr>
          <a:xfrm>
            <a:off x="827087" y="97631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BAC2"/>
              </a:buClr>
              <a:buSzPts val="3400"/>
              <a:buFont typeface="Calibri"/>
              <a:buNone/>
            </a:pPr>
            <a:r>
              <a:rPr b="1" i="0" lang="es-419" sz="3400" u="none">
                <a:solidFill>
                  <a:srgbClr val="80BAC2"/>
                </a:solidFill>
                <a:latin typeface="Calibri"/>
                <a:ea typeface="Calibri"/>
                <a:cs typeface="Calibri"/>
                <a:sym typeface="Calibri"/>
              </a:rPr>
              <a:t>MODULARIZACIÓN</a:t>
            </a:r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4356100" y="735806"/>
            <a:ext cx="4608600" cy="0"/>
          </a:xfrm>
          <a:prstGeom prst="straightConnector1">
            <a:avLst/>
          </a:prstGeom>
          <a:noFill/>
          <a:ln cap="flat" cmpd="sng" w="9525">
            <a:solidFill>
              <a:srgbClr val="80BAC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/>
        </p:nvSpPr>
        <p:spPr>
          <a:xfrm>
            <a:off x="395287" y="1113234"/>
            <a:ext cx="8748600" cy="3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void descomponer(int num, int &amp;cantP, int &amp;cantI)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int dig;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cantP = 0;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cantI = 0;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while (num != 0)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    dig = num % 10;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    if ((dig % 2) == 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        cantP++;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    else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        cantI++;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    num = num / 10;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395287" y="371475"/>
            <a:ext cx="85692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s-419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 rot="139435">
            <a:off x="4211789" y="1601514"/>
            <a:ext cx="4268911" cy="16738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s-419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Variables locales del módulo: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b="0" i="0" lang="es-419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Sólo conocidas por el módulo.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b="0" i="0" lang="es-419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Se crean cuando se invoca al módulo y “</a:t>
            </a:r>
            <a:r>
              <a:rPr b="0" i="1" lang="es-419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desaparecen</a:t>
            </a:r>
            <a:r>
              <a:rPr b="0" i="0" lang="es-419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 al </a:t>
            </a:r>
            <a:r>
              <a:rPr lang="es-419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finalizar la ejecución</a:t>
            </a:r>
            <a:r>
              <a:rPr b="0" i="0" lang="es-419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del módulo.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2136775" y="1554956"/>
            <a:ext cx="2171700" cy="108435"/>
          </a:xfrm>
          <a:custGeom>
            <a:rect b="b" l="l" r="r" t="t"/>
            <a:pathLst>
              <a:path extrusionOk="0" h="144100" w="2171700">
                <a:moveTo>
                  <a:pt x="0" y="144100"/>
                </a:moveTo>
                <a:lnTo>
                  <a:pt x="314325" y="144100"/>
                </a:lnTo>
                <a:lnTo>
                  <a:pt x="314325" y="144100"/>
                </a:lnTo>
                <a:cubicBezTo>
                  <a:pt x="473869" y="120287"/>
                  <a:pt x="962026" y="10750"/>
                  <a:pt x="1271588" y="1225"/>
                </a:cubicBezTo>
                <a:cubicBezTo>
                  <a:pt x="1581150" y="-8300"/>
                  <a:pt x="1876425" y="39325"/>
                  <a:pt x="2171700" y="86950"/>
                </a:cubicBezTo>
              </a:path>
            </a:pathLst>
          </a:custGeom>
          <a:noFill/>
          <a:ln cap="flat" cmpd="sng" w="12700">
            <a:solidFill>
              <a:srgbClr val="C0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/>
        </p:nvSpPr>
        <p:spPr>
          <a:xfrm>
            <a:off x="314325" y="1221581"/>
            <a:ext cx="8731200" cy="3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int main()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int  num, pares, impares;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int cant = 0;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for (int i = 1; i &lt;= 20; i++)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    cout &lt;&lt; "Ingresá el número " &lt;&lt; i &lt;&lt; ": ";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    cin &gt;&gt; num;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    descomponer(num, pares, impares);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    if (pares &gt; impares)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        cant++;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cout &lt;&lt; "La cantidad de números que tienen más dígitos pares que impares es: " &lt;&lt; cant &lt;&lt; endl;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    return 0;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t/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395287" y="371475"/>
            <a:ext cx="85692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s-419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2200275" y="1757340"/>
            <a:ext cx="2371725" cy="139191"/>
          </a:xfrm>
          <a:custGeom>
            <a:rect b="b" l="l" r="r" t="t"/>
            <a:pathLst>
              <a:path extrusionOk="0" h="186209" w="2371725">
                <a:moveTo>
                  <a:pt x="0" y="42862"/>
                </a:moveTo>
                <a:cubicBezTo>
                  <a:pt x="438150" y="117871"/>
                  <a:pt x="876300" y="192881"/>
                  <a:pt x="1271587" y="185737"/>
                </a:cubicBezTo>
                <a:cubicBezTo>
                  <a:pt x="1666874" y="178593"/>
                  <a:pt x="2019299" y="89296"/>
                  <a:pt x="2371725" y="0"/>
                </a:cubicBezTo>
              </a:path>
            </a:pathLst>
          </a:custGeom>
          <a:noFill/>
          <a:ln cap="flat" cmpd="sng" w="12700">
            <a:solidFill>
              <a:srgbClr val="FF0000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 rot="-135056">
            <a:off x="4444865" y="1302560"/>
            <a:ext cx="4155206" cy="16209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s-419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Variables del programa ppal: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b="0" i="0" lang="es-419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Accesibles sólo por el prog ppal.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795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b="0" i="0" lang="es-419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Se crean al empezar su ejecución, desaparecen al llegar al “end” del programa</a:t>
            </a:r>
            <a:r>
              <a:rPr b="0" i="0" lang="es-419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