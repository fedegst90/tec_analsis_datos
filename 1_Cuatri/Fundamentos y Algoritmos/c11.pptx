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Candara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ndara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Candara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Candara-bold.fntdata"/><Relationship Id="rId6" Type="http://schemas.openxmlformats.org/officeDocument/2006/relationships/slide" Target="slides/slide1.xml"/><Relationship Id="rId18" Type="http://schemas.openxmlformats.org/officeDocument/2006/relationships/font" Target="fonts/Candar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2549ef5d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g362549ef5d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g362549ef5db_0_0:notes"/>
          <p:cNvSpPr txBox="1"/>
          <p:nvPr/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Programación de Computadoras - Curso 1996 -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62549ef5db_0_0:notes"/>
          <p:cNvSpPr txBox="1"/>
          <p:nvPr/>
        </p:nvSpPr>
        <p:spPr>
          <a:xfrm>
            <a:off x="3884612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s-419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2549ef5db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g362549ef5db_0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2549ef5db_0_1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g362549ef5db_0_1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2549ef5db_0_2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g362549ef5db_0_2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2549ef5db_0_3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g362549ef5db_0_3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2549ef5db_0_4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g362549ef5db_0_4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2549ef5db_0_523:notes"/>
          <p:cNvSpPr txBox="1"/>
          <p:nvPr>
            <p:ph idx="1" type="body"/>
          </p:nvPr>
        </p:nvSpPr>
        <p:spPr>
          <a:xfrm>
            <a:off x="913962" y="4344140"/>
            <a:ext cx="50301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g362549ef5db_0_523:notes"/>
          <p:cNvSpPr/>
          <p:nvPr>
            <p:ph idx="2" type="sldImg"/>
          </p:nvPr>
        </p:nvSpPr>
        <p:spPr>
          <a:xfrm>
            <a:off x="70953" y="707254"/>
            <a:ext cx="6717900" cy="340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2549ef5db_0_539:notes"/>
          <p:cNvSpPr txBox="1"/>
          <p:nvPr>
            <p:ph idx="1" type="body"/>
          </p:nvPr>
        </p:nvSpPr>
        <p:spPr>
          <a:xfrm>
            <a:off x="913962" y="4344140"/>
            <a:ext cx="50301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362549ef5db_0_539:notes"/>
          <p:cNvSpPr/>
          <p:nvPr>
            <p:ph idx="2" type="sldImg"/>
          </p:nvPr>
        </p:nvSpPr>
        <p:spPr>
          <a:xfrm>
            <a:off x="70953" y="707254"/>
            <a:ext cx="6717900" cy="340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2549ef5db_0_592:notes"/>
          <p:cNvSpPr txBox="1"/>
          <p:nvPr>
            <p:ph idx="1" type="body"/>
          </p:nvPr>
        </p:nvSpPr>
        <p:spPr>
          <a:xfrm>
            <a:off x="913962" y="4344140"/>
            <a:ext cx="50301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362549ef5db_0_592:notes"/>
          <p:cNvSpPr/>
          <p:nvPr>
            <p:ph idx="2" type="sldImg"/>
          </p:nvPr>
        </p:nvSpPr>
        <p:spPr>
          <a:xfrm>
            <a:off x="70953" y="707254"/>
            <a:ext cx="6717900" cy="340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2549ef5db_0_612:notes"/>
          <p:cNvSpPr txBox="1"/>
          <p:nvPr>
            <p:ph idx="1" type="body"/>
          </p:nvPr>
        </p:nvSpPr>
        <p:spPr>
          <a:xfrm>
            <a:off x="913962" y="4344140"/>
            <a:ext cx="50301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62549ef5db_0_612:notes"/>
          <p:cNvSpPr/>
          <p:nvPr>
            <p:ph idx="2" type="sldImg"/>
          </p:nvPr>
        </p:nvSpPr>
        <p:spPr>
          <a:xfrm>
            <a:off x="70953" y="707254"/>
            <a:ext cx="6717900" cy="340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2549ef5db_0_640:notes"/>
          <p:cNvSpPr txBox="1"/>
          <p:nvPr>
            <p:ph idx="1" type="body"/>
          </p:nvPr>
        </p:nvSpPr>
        <p:spPr>
          <a:xfrm>
            <a:off x="913962" y="4344140"/>
            <a:ext cx="50301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g362549ef5db_0_640:notes"/>
          <p:cNvSpPr/>
          <p:nvPr>
            <p:ph idx="2" type="sldImg"/>
          </p:nvPr>
        </p:nvSpPr>
        <p:spPr>
          <a:xfrm>
            <a:off x="70953" y="707254"/>
            <a:ext cx="6717900" cy="340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Registros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Práctica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ojita" id="68" name="Google Shape;68;p15"/>
          <p:cNvPicPr preferRelativeResize="0"/>
          <p:nvPr/>
        </p:nvPicPr>
        <p:blipFill rotWithShape="1">
          <a:blip r:embed="rId3">
            <a:alphaModFix/>
          </a:blip>
          <a:srcRect b="4754" l="6796" r="5614" t="12995"/>
          <a:stretch/>
        </p:blipFill>
        <p:spPr>
          <a:xfrm>
            <a:off x="1125537" y="789384"/>
            <a:ext cx="6772276" cy="207525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>
            <p:ph type="title"/>
          </p:nvPr>
        </p:nvSpPr>
        <p:spPr>
          <a:xfrm>
            <a:off x="827087" y="97631"/>
            <a:ext cx="8229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BAC2"/>
              </a:buClr>
              <a:buSzPts val="3400"/>
              <a:buFont typeface="Calibri"/>
              <a:buNone/>
            </a:pPr>
            <a:r>
              <a:rPr b="1" i="0" lang="es-419" sz="3400" u="none">
                <a:solidFill>
                  <a:srgbClr val="80BAC2"/>
                </a:solidFill>
                <a:latin typeface="Calibri"/>
                <a:ea typeface="Calibri"/>
                <a:cs typeface="Calibri"/>
                <a:sym typeface="Calibri"/>
              </a:rPr>
              <a:t>REGISTROS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1331912" y="1015603"/>
            <a:ext cx="27066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037" lvl="0" marL="46037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0" i="0" lang="es-419" sz="2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Declaración de tipo </a:t>
            </a:r>
            <a:endParaRPr/>
          </a:p>
          <a:p>
            <a:pPr indent="-46037" lvl="0" marL="46037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 tipoRegistro {</a:t>
            </a:r>
            <a:endParaRPr b="1"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46037" lvl="0" marL="46037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tipo-campo1 campo1;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46037" lvl="0" marL="46037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tipo-campo2 campo2;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46037" lvl="0" marL="46037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1"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46037" lvl="0" marL="46037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46037" lvl="0" marL="46037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46037" lvl="0" marL="46037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1270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4532312" y="1081088"/>
            <a:ext cx="3082800" cy="13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None/>
            </a:pPr>
            <a:r>
              <a:rPr b="0" i="0" lang="es-419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Declaración</a:t>
            </a:r>
            <a:r>
              <a:rPr b="0" i="0" lang="es-419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s-419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de</a:t>
            </a:r>
            <a:r>
              <a:rPr b="0" i="0" lang="es-419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s-419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None/>
            </a:pPr>
            <a:r>
              <a:rPr b="0" i="0" lang="es-419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419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tipoRegistro </a:t>
            </a:r>
            <a:r>
              <a:rPr b="0" i="0" lang="es-419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miVariable</a:t>
            </a:r>
            <a:r>
              <a:rPr b="0" i="0" lang="es-419" sz="20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;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None/>
            </a:pPr>
            <a:r>
              <a:rPr b="0" i="0" lang="es-419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Acceso</a:t>
            </a:r>
            <a:r>
              <a:rPr b="1" i="0" lang="es-419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s-419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s-419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s-419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campo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None/>
            </a:pPr>
            <a:r>
              <a:rPr b="0" i="0" lang="es-419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miVariable.campo1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2349500" y="2680096"/>
            <a:ext cx="5184900" cy="21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4625" lvl="0" marL="174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s-41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Operaciones: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r>
              <a:t/>
            </a:r>
            <a:endParaRPr b="1" i="0" sz="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63600" lvl="1" marL="9858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i="0" lang="es-419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- Leer un registro</a:t>
            </a:r>
            <a:r>
              <a:rPr b="0" i="0" lang="es-419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:  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63600" lvl="1" marL="9858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0" i="0" lang="es-419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	campo a campo</a:t>
            </a:r>
            <a:endParaRPr b="0" i="1" sz="10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63600" lvl="1" marL="9858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i="0" lang="es-419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- Imprimir un registro</a:t>
            </a:r>
            <a:r>
              <a:rPr b="0" i="0" lang="es-419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63600" lvl="1" marL="9858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0" i="0" lang="es-419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	campo a campo</a:t>
            </a:r>
            <a:endParaRPr b="0" i="1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63600" lvl="1" marL="9858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i="0" lang="es-419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- Comparar un registro con otro</a:t>
            </a:r>
            <a:r>
              <a:rPr b="0" i="0" lang="es-419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63600" lvl="1" marL="9858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0" i="0" lang="es-419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	campo a campo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63600" lvl="1" marL="9858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i="0" lang="es-419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- Asignar un registro a otro</a:t>
            </a:r>
            <a:r>
              <a:rPr b="0" i="0" lang="es-419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: : 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63600" lvl="1" marL="9858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0" i="0" lang="es-419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	usando el operador </a:t>
            </a:r>
            <a:r>
              <a:rPr b="1" i="0" lang="es-419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endParaRPr b="0" i="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63600" lvl="1" marL="9858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0" i="1" lang="es-419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	Ej:  r1 = r2;</a:t>
            </a:r>
            <a:r>
              <a:rPr b="0" i="0" lang="es-419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s-419" sz="1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 (r1 y r2 deben ser del mismo tipo)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4356100" y="735806"/>
            <a:ext cx="4608600" cy="0"/>
          </a:xfrm>
          <a:prstGeom prst="straightConnector1">
            <a:avLst/>
          </a:prstGeom>
          <a:noFill/>
          <a:ln cap="flat" cmpd="sng" w="9525">
            <a:solidFill>
              <a:srgbClr val="80BAC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61950" y="1059656"/>
            <a:ext cx="8436000" cy="28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s-419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Ejercicio</a:t>
            </a:r>
            <a:endParaRPr b="1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s-419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lee desde teclado una secuencia de sitios turísticos hasta que llegue el sitio con nombre ‘fin’. De cada sitio se conoce: nombre, provincia a la que pertenece, cantidad de actividades, cantidad de personas que lo visitaron en un mes.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s-419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Se pide:</a:t>
            </a:r>
            <a:endParaRPr/>
          </a:p>
          <a:p>
            <a:pPr indent="-457200" lvl="1" marL="866775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AutoNum type="alphaLcParenR"/>
            </a:pPr>
            <a:r>
              <a:rPr b="0" i="0" lang="es-419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nombre del sitio con mayor cantidad de actividades.</a:t>
            </a:r>
            <a:endParaRPr/>
          </a:p>
          <a:p>
            <a:pPr indent="-457200" lvl="1" marL="866775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AutoNum type="alphaLcParenR"/>
            </a:pPr>
            <a:r>
              <a:rPr b="0" i="0" lang="es-419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cantidad de sitios con más de 20.000 personas que lo visitaron en un mes.</a:t>
            </a:r>
            <a:endParaRPr/>
          </a:p>
          <a:p>
            <a:pPr indent="-101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827087" y="97631"/>
            <a:ext cx="8229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BAC2"/>
              </a:buClr>
              <a:buSzPts val="3400"/>
              <a:buFont typeface="Calibri"/>
              <a:buNone/>
            </a:pPr>
            <a:r>
              <a:rPr b="1" i="0" lang="es-419" sz="3400" u="none" cap="none" strike="noStrike">
                <a:solidFill>
                  <a:srgbClr val="80BAC2"/>
                </a:solidFill>
                <a:latin typeface="Calibri"/>
                <a:ea typeface="Calibri"/>
                <a:cs typeface="Calibri"/>
                <a:sym typeface="Calibri"/>
              </a:rPr>
              <a:t>REGISTROS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" name="Google Shape;80;p16"/>
          <p:cNvCxnSpPr/>
          <p:nvPr/>
        </p:nvCxnSpPr>
        <p:spPr>
          <a:xfrm>
            <a:off x="4356100" y="735806"/>
            <a:ext cx="4608600" cy="0"/>
          </a:xfrm>
          <a:prstGeom prst="straightConnector1">
            <a:avLst/>
          </a:prstGeom>
          <a:noFill/>
          <a:ln cap="flat" cmpd="sng" w="9525">
            <a:solidFill>
              <a:srgbClr val="80BAC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/>
        </p:nvSpPr>
        <p:spPr>
          <a:xfrm>
            <a:off x="4984750" y="3976688"/>
            <a:ext cx="3875100" cy="958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684212" y="3973115"/>
            <a:ext cx="3875100" cy="958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ojita" id="87" name="Google Shape;87;p17"/>
          <p:cNvPicPr preferRelativeResize="0"/>
          <p:nvPr/>
        </p:nvPicPr>
        <p:blipFill rotWithShape="1">
          <a:blip r:embed="rId3">
            <a:alphaModFix/>
          </a:blip>
          <a:srcRect b="4754" l="6796" r="5614" t="12995"/>
          <a:stretch/>
        </p:blipFill>
        <p:spPr>
          <a:xfrm>
            <a:off x="3486150" y="2845594"/>
            <a:ext cx="2339975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jita" id="88" name="Google Shape;88;p17"/>
          <p:cNvPicPr preferRelativeResize="0"/>
          <p:nvPr/>
        </p:nvPicPr>
        <p:blipFill rotWithShape="1">
          <a:blip r:embed="rId3">
            <a:alphaModFix/>
          </a:blip>
          <a:srcRect b="4754" l="6796" r="5614" t="12995"/>
          <a:stretch/>
        </p:blipFill>
        <p:spPr>
          <a:xfrm>
            <a:off x="755650" y="2802731"/>
            <a:ext cx="2339975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jita" id="89" name="Google Shape;89;p17"/>
          <p:cNvPicPr preferRelativeResize="0"/>
          <p:nvPr/>
        </p:nvPicPr>
        <p:blipFill rotWithShape="1">
          <a:blip r:embed="rId3">
            <a:alphaModFix/>
          </a:blip>
          <a:srcRect b="4754" l="6796" r="5614" t="12995"/>
          <a:stretch/>
        </p:blipFill>
        <p:spPr>
          <a:xfrm rot="-135053">
            <a:off x="6282438" y="1703191"/>
            <a:ext cx="2338572" cy="11168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jita" id="90" name="Google Shape;90;p17"/>
          <p:cNvPicPr preferRelativeResize="0"/>
          <p:nvPr/>
        </p:nvPicPr>
        <p:blipFill rotWithShape="1">
          <a:blip r:embed="rId4">
            <a:alphaModFix/>
          </a:blip>
          <a:srcRect b="4754" l="6796" r="5614" t="12995"/>
          <a:stretch/>
        </p:blipFill>
        <p:spPr>
          <a:xfrm rot="90016">
            <a:off x="3242033" y="1715426"/>
            <a:ext cx="2685335" cy="1116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jita" id="91" name="Google Shape;91;p17"/>
          <p:cNvPicPr preferRelativeResize="0"/>
          <p:nvPr/>
        </p:nvPicPr>
        <p:blipFill rotWithShape="1">
          <a:blip r:embed="rId3">
            <a:alphaModFix/>
          </a:blip>
          <a:srcRect b="4754" l="6796" r="5614" t="12995"/>
          <a:stretch/>
        </p:blipFill>
        <p:spPr>
          <a:xfrm rot="-225250">
            <a:off x="741721" y="1691425"/>
            <a:ext cx="2336084" cy="11177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/>
        </p:nvSpPr>
        <p:spPr>
          <a:xfrm rot="-225157">
            <a:off x="868598" y="1845502"/>
            <a:ext cx="2213947" cy="810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None/>
            </a:pPr>
            <a:r>
              <a:rPr b="0" i="0" lang="es-419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Nombre: </a:t>
            </a:r>
            <a:r>
              <a:rPr b="0" i="0" lang="es-419" sz="1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Necochea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None/>
            </a:pPr>
            <a:r>
              <a:rPr b="0" i="0" lang="es-419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Provincia: </a:t>
            </a:r>
            <a:r>
              <a:rPr b="0" i="0" lang="es-419" sz="1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Bs. As.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None/>
            </a:pPr>
            <a:r>
              <a:rPr b="0" i="0" lang="es-419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Cant. Act.: </a:t>
            </a:r>
            <a:r>
              <a:rPr b="0" i="0" lang="es-419" sz="1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None/>
            </a:pPr>
            <a:r>
              <a:rPr b="0" i="0" lang="es-419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Cant. Visitas: </a:t>
            </a:r>
            <a:r>
              <a:rPr b="0" i="0" lang="es-419" sz="1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15.000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722312" y="4013597"/>
            <a:ext cx="367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s-419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Sitio turístico con mayor cantidad de actividades: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7"/>
          <p:cNvSpPr txBox="1"/>
          <p:nvPr/>
        </p:nvSpPr>
        <p:spPr>
          <a:xfrm rot="89839">
            <a:off x="3308745" y="1851169"/>
            <a:ext cx="2502855" cy="808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None/>
            </a:pPr>
            <a:r>
              <a:rPr b="0" i="0" lang="es-419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Nombre: </a:t>
            </a:r>
            <a:r>
              <a:rPr b="0" i="0" lang="es-419" sz="1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Ushuaia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None/>
            </a:pPr>
            <a:r>
              <a:rPr b="0" i="0" lang="es-419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Provincia: </a:t>
            </a:r>
            <a:r>
              <a:rPr b="0" i="0" lang="es-419" sz="1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Tierra del Fuego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None/>
            </a:pPr>
            <a:r>
              <a:rPr b="0" i="0" lang="es-419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Cant. Act.: </a:t>
            </a:r>
            <a:r>
              <a:rPr b="0" i="0" lang="es-419" sz="1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None/>
            </a:pPr>
            <a:r>
              <a:rPr b="0" i="0" lang="es-419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Cant. Visitas: </a:t>
            </a:r>
            <a:r>
              <a:rPr b="0" i="0" lang="es-419" sz="1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21.000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7"/>
          <p:cNvSpPr txBox="1"/>
          <p:nvPr/>
        </p:nvSpPr>
        <p:spPr>
          <a:xfrm rot="-134865">
            <a:off x="6374514" y="1822484"/>
            <a:ext cx="2355913" cy="8092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None/>
            </a:pPr>
            <a:r>
              <a:rPr b="0" i="0" lang="es-419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Nombre: </a:t>
            </a:r>
            <a:r>
              <a:rPr b="0" i="0" lang="es-419" sz="1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Bariloche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None/>
            </a:pPr>
            <a:r>
              <a:rPr b="0" i="0" lang="es-419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Provincia: </a:t>
            </a:r>
            <a:r>
              <a:rPr b="0" i="0" lang="es-419" sz="1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Rio Negro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None/>
            </a:pPr>
            <a:r>
              <a:rPr b="0" i="0" lang="es-419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Cant. Act.: </a:t>
            </a:r>
            <a:r>
              <a:rPr b="0" i="0" lang="es-419" sz="1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None/>
            </a:pPr>
            <a:r>
              <a:rPr b="0" i="0" lang="es-419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Cant. Visitas: </a:t>
            </a:r>
            <a:r>
              <a:rPr b="0" i="0" lang="es-419" sz="1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20.000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852487" y="2907506"/>
            <a:ext cx="23574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None/>
            </a:pPr>
            <a:r>
              <a:rPr b="0" i="0" lang="es-419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Nombre: </a:t>
            </a:r>
            <a:r>
              <a:rPr b="0" i="0" lang="es-419" sz="1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San Rafael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None/>
            </a:pPr>
            <a:r>
              <a:rPr b="0" i="0" lang="es-419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Provincia: </a:t>
            </a:r>
            <a:r>
              <a:rPr b="0" i="0" lang="es-419" sz="1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Mendoza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None/>
            </a:pPr>
            <a:r>
              <a:rPr b="0" i="0" lang="es-419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Cant. Act.: </a:t>
            </a:r>
            <a:r>
              <a:rPr b="0" i="0" lang="es-419" sz="1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None/>
            </a:pPr>
            <a:r>
              <a:rPr b="0" i="0" lang="es-419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Cant. Visitas: </a:t>
            </a:r>
            <a:r>
              <a:rPr b="0" i="0" lang="es-419" sz="1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10.000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5122862" y="4075509"/>
            <a:ext cx="367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s-419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Cantidad de sitios con más de 20000 visitas: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2320925" y="4324350"/>
            <a:ext cx="1112700" cy="484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Necochea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2320925" y="4363640"/>
            <a:ext cx="1165200" cy="4812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Bariloche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6329362" y="4317206"/>
            <a:ext cx="1842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6715125" y="4430315"/>
            <a:ext cx="3111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6702425" y="4449365"/>
            <a:ext cx="311100" cy="2751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3606800" y="2907506"/>
            <a:ext cx="20304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None/>
            </a:pPr>
            <a:r>
              <a:rPr b="0" i="0" lang="es-419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Nombre: </a:t>
            </a:r>
            <a:r>
              <a:rPr b="0" i="0" lang="es-419" sz="1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endParaRPr b="0" i="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None/>
            </a:pPr>
            <a:r>
              <a:rPr b="0" i="0" lang="es-419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Provincia: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None/>
            </a:pPr>
            <a:r>
              <a:rPr b="0" i="0" lang="es-419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Cant. Act.: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None/>
            </a:pPr>
            <a:r>
              <a:rPr b="0" i="0" lang="es-419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Cant. Visitas</a:t>
            </a:r>
            <a:r>
              <a:rPr b="0" i="0" lang="es-419" sz="16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827087" y="97631"/>
            <a:ext cx="8229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BAC2"/>
              </a:buClr>
              <a:buSzPts val="3400"/>
              <a:buFont typeface="Calibri"/>
              <a:buNone/>
            </a:pPr>
            <a:r>
              <a:rPr b="1" i="0" lang="es-419" sz="3400" u="none" cap="none" strike="noStrike">
                <a:solidFill>
                  <a:srgbClr val="80BAC2"/>
                </a:solidFill>
                <a:latin typeface="Calibri"/>
                <a:ea typeface="Calibri"/>
                <a:cs typeface="Calibri"/>
                <a:sym typeface="Calibri"/>
              </a:rPr>
              <a:t>REGISTROS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" name="Google Shape;105;p17"/>
          <p:cNvCxnSpPr/>
          <p:nvPr/>
        </p:nvCxnSpPr>
        <p:spPr>
          <a:xfrm>
            <a:off x="4356100" y="735806"/>
            <a:ext cx="4608600" cy="0"/>
          </a:xfrm>
          <a:prstGeom prst="straightConnector1">
            <a:avLst/>
          </a:prstGeom>
          <a:noFill/>
          <a:ln cap="flat" cmpd="sng" w="9525">
            <a:solidFill>
              <a:srgbClr val="80BAC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" name="Google Shape;106;p17"/>
          <p:cNvSpPr txBox="1"/>
          <p:nvPr/>
        </p:nvSpPr>
        <p:spPr>
          <a:xfrm>
            <a:off x="536575" y="840581"/>
            <a:ext cx="8520000" cy="7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s-419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muestra una lectura de sitios turísticos. Notar cómo se actualizan los valores correspondientes de acuerdo a los datos leídos y analizar por qué en algunas situaciones los valores no se actualizan.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477837" y="923925"/>
            <a:ext cx="8229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</a:pPr>
            <a:r>
              <a:rPr b="0" i="0" lang="es-419" sz="2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endParaRPr/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2411412" y="1687115"/>
            <a:ext cx="5061000" cy="3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sitio {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std::string nombre;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std::string prov;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 cantAct;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 cantVis;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 (){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sitio sitioTur;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cant, max;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nomMax;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s-419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827087" y="97631"/>
            <a:ext cx="8229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BAC2"/>
              </a:buClr>
              <a:buSzPts val="3400"/>
              <a:buFont typeface="Calibri"/>
              <a:buNone/>
            </a:pPr>
            <a:r>
              <a:rPr b="1" i="0" lang="es-419" sz="3400" u="none" cap="none" strike="noStrike">
                <a:solidFill>
                  <a:srgbClr val="80BAC2"/>
                </a:solidFill>
                <a:latin typeface="Calibri"/>
                <a:ea typeface="Calibri"/>
                <a:cs typeface="Calibri"/>
                <a:sym typeface="Calibri"/>
              </a:rPr>
              <a:t>REGISTROS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18"/>
          <p:cNvCxnSpPr/>
          <p:nvPr/>
        </p:nvCxnSpPr>
        <p:spPr>
          <a:xfrm>
            <a:off x="4356100" y="735806"/>
            <a:ext cx="4608600" cy="0"/>
          </a:xfrm>
          <a:prstGeom prst="straightConnector1">
            <a:avLst/>
          </a:prstGeom>
          <a:noFill/>
          <a:ln cap="flat" cmpd="sng" w="9525">
            <a:solidFill>
              <a:srgbClr val="80BAC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/>
        </p:nvSpPr>
        <p:spPr>
          <a:xfrm>
            <a:off x="404500" y="735806"/>
            <a:ext cx="8559900" cy="35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600"/>
              <a:buFont typeface="Courier New"/>
              <a:buNone/>
            </a:pPr>
            <a:r>
              <a:rPr b="0" i="1" lang="es-419" sz="1600" u="none" cap="none" strike="noStrik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{Programa Principal}</a:t>
            </a:r>
            <a:endParaRPr b="0" i="0" sz="1600" u="none" cap="none" strike="noStrike">
              <a:solidFill>
                <a:srgbClr val="0066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cant = 0;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nomMax = " ";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max = -1;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LeerRegistro(sitioTur); // Se lee el primer registro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 (sitioTur.nombre != "fin") {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actualizarMax(sitioTur.cantAct, sitioTur.nombre, max, nomMax);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 (sitioTur.cantVis &gt; 20000)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cant = cant + 1;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LeerRegistro(sitioTur); // se lee otro registro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"Sitio con mas actividades: " &lt;&lt; nomMax &lt;&lt; endl;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"Sitios con más de 20000 visitas: " &lt;&lt; cant &lt;&lt; endl;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552012" y="328594"/>
            <a:ext cx="8229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</a:pPr>
            <a:r>
              <a:rPr b="0" i="0" lang="es-419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5021031" y="97631"/>
            <a:ext cx="4020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BAC2"/>
              </a:buClr>
              <a:buSzPts val="3400"/>
              <a:buFont typeface="Calibri"/>
              <a:buNone/>
            </a:pPr>
            <a:r>
              <a:rPr b="1" i="0" lang="es-419" sz="3400" u="none" cap="none" strike="noStrike">
                <a:solidFill>
                  <a:srgbClr val="80BAC2"/>
                </a:solidFill>
                <a:latin typeface="Calibri"/>
                <a:ea typeface="Calibri"/>
                <a:cs typeface="Calibri"/>
                <a:sym typeface="Calibri"/>
              </a:rPr>
              <a:t>REGISTROS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" name="Google Shape;122;p19"/>
          <p:cNvCxnSpPr/>
          <p:nvPr/>
        </p:nvCxnSpPr>
        <p:spPr>
          <a:xfrm>
            <a:off x="4356100" y="735806"/>
            <a:ext cx="4608600" cy="0"/>
          </a:xfrm>
          <a:prstGeom prst="straightConnector1">
            <a:avLst/>
          </a:prstGeom>
          <a:noFill/>
          <a:ln cap="flat" cmpd="sng" w="9525">
            <a:solidFill>
              <a:srgbClr val="80BAC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457212" y="838200"/>
            <a:ext cx="7967700" cy="3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LeerRegistro(sitio &amp;s) {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cin &gt;&gt; s.nombre;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 (s.nombre != "fin") {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cin &gt;&gt; s.prov;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cin &gt;&gt; s.cantAct;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in &gt;&gt; s.cantVis;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actualizarMax(int cantAct, string nombreAct, int &amp;max, string &amp;nommax) {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 (cantAct &gt; max) {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max = cantAct;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nommax = nombreAct;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397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457212" y="328613"/>
            <a:ext cx="8229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</a:pPr>
            <a:r>
              <a:rPr b="0" i="0" lang="es-419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4160080" y="97631"/>
            <a:ext cx="4896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BAC2"/>
              </a:buClr>
              <a:buSzPts val="3400"/>
              <a:buFont typeface="Calibri"/>
              <a:buNone/>
            </a:pPr>
            <a:r>
              <a:rPr b="1" i="0" lang="es-419" sz="3400" u="none" cap="none" strike="noStrike">
                <a:solidFill>
                  <a:srgbClr val="80BAC2"/>
                </a:solidFill>
                <a:latin typeface="Calibri"/>
                <a:ea typeface="Calibri"/>
                <a:cs typeface="Calibri"/>
                <a:sym typeface="Calibri"/>
              </a:rPr>
              <a:t>REGISTROS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20"/>
          <p:cNvCxnSpPr/>
          <p:nvPr/>
        </p:nvCxnSpPr>
        <p:spPr>
          <a:xfrm>
            <a:off x="4356100" y="735806"/>
            <a:ext cx="4608600" cy="0"/>
          </a:xfrm>
          <a:prstGeom prst="straightConnector1">
            <a:avLst/>
          </a:prstGeom>
          <a:noFill/>
          <a:ln cap="flat" cmpd="sng" w="9525">
            <a:solidFill>
              <a:srgbClr val="80BAC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/>
        </p:nvSpPr>
        <p:spPr>
          <a:xfrm>
            <a:off x="860425" y="1653778"/>
            <a:ext cx="7908900" cy="15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s-419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Ejercicio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rPr b="0" i="0" lang="es-419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lee de teclado la información de ciudades turísticas (provincia, nombre de ciudad, cantidad de actividades, cantidad de visitantes) </a:t>
            </a:r>
            <a:r>
              <a:rPr b="1" i="0" lang="es-419" sz="17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ORDENADA POR PROVINCIA</a:t>
            </a:r>
            <a:r>
              <a:rPr b="0" i="0" lang="es-419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y termina con la provincia </a:t>
            </a:r>
            <a:r>
              <a:rPr b="1" i="0" lang="es-419" sz="17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‘fin’</a:t>
            </a:r>
            <a:r>
              <a:rPr b="0" i="0" lang="es-419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rPr b="0" i="0" lang="es-419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Obtener cuál es la provincia con más visitantes a sus ciudades turísticas.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827087" y="151209"/>
            <a:ext cx="8229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BAC2"/>
              </a:buClr>
              <a:buSzPts val="2900"/>
              <a:buFont typeface="Calibri"/>
              <a:buNone/>
            </a:pPr>
            <a:r>
              <a:rPr b="1" i="0" lang="es-419" sz="2900" u="none" cap="none" strike="noStrike">
                <a:solidFill>
                  <a:srgbClr val="80BAC2"/>
                </a:solidFill>
                <a:latin typeface="Calibri"/>
                <a:ea typeface="Calibri"/>
                <a:cs typeface="Calibri"/>
                <a:sym typeface="Calibri"/>
              </a:rPr>
              <a:t>CORTE DE CONTROL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21"/>
          <p:cNvCxnSpPr/>
          <p:nvPr/>
        </p:nvCxnSpPr>
        <p:spPr>
          <a:xfrm>
            <a:off x="4356100" y="627459"/>
            <a:ext cx="4608600" cy="0"/>
          </a:xfrm>
          <a:prstGeom prst="straightConnector1">
            <a:avLst/>
          </a:prstGeom>
          <a:noFill/>
          <a:ln cap="flat" cmpd="sng" w="9525">
            <a:solidFill>
              <a:srgbClr val="80BAC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/>
        </p:nvSpPr>
        <p:spPr>
          <a:xfrm>
            <a:off x="407987" y="831056"/>
            <a:ext cx="31305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0" i="0" lang="es-419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Analizando el problema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2"/>
          <p:cNvSpPr txBox="1"/>
          <p:nvPr/>
        </p:nvSpPr>
        <p:spPr>
          <a:xfrm>
            <a:off x="5495925" y="3910013"/>
            <a:ext cx="3560700" cy="1112100"/>
          </a:xfrm>
          <a:prstGeom prst="rect">
            <a:avLst/>
          </a:prstGeom>
          <a:solidFill>
            <a:srgbClr val="AFABAB"/>
          </a:solidFill>
          <a:ln cap="flat" cmpd="sng" w="12700">
            <a:solidFill>
              <a:srgbClr val="AFABA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2605087" y="3944540"/>
            <a:ext cx="2716200" cy="1112100"/>
          </a:xfrm>
          <a:prstGeom prst="rect">
            <a:avLst/>
          </a:prstGeom>
          <a:solidFill>
            <a:srgbClr val="AFABAB"/>
          </a:solidFill>
          <a:ln cap="flat" cmpd="sng" w="12700">
            <a:solidFill>
              <a:srgbClr val="AFABA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2"/>
          <p:cNvSpPr txBox="1"/>
          <p:nvPr/>
        </p:nvSpPr>
        <p:spPr>
          <a:xfrm>
            <a:off x="468312" y="3944540"/>
            <a:ext cx="1792200" cy="1112100"/>
          </a:xfrm>
          <a:prstGeom prst="rect">
            <a:avLst/>
          </a:prstGeom>
          <a:solidFill>
            <a:srgbClr val="AFABAB"/>
          </a:solidFill>
          <a:ln cap="flat" cmpd="sng" w="12700">
            <a:solidFill>
              <a:srgbClr val="AFABA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hojita" id="146" name="Google Shape;146;p22"/>
          <p:cNvPicPr preferRelativeResize="0"/>
          <p:nvPr/>
        </p:nvPicPr>
        <p:blipFill rotWithShape="1">
          <a:blip r:embed="rId3">
            <a:alphaModFix/>
          </a:blip>
          <a:srcRect b="4754" l="6796" r="5614" t="12995"/>
          <a:stretch/>
        </p:blipFill>
        <p:spPr>
          <a:xfrm rot="135053">
            <a:off x="3375727" y="2615309"/>
            <a:ext cx="2338572" cy="12058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jita" id="147" name="Google Shape;147;p22"/>
          <p:cNvPicPr preferRelativeResize="0"/>
          <p:nvPr/>
        </p:nvPicPr>
        <p:blipFill rotWithShape="1">
          <a:blip r:embed="rId4">
            <a:alphaModFix/>
          </a:blip>
          <a:srcRect b="4754" l="6796" r="5614" t="12995"/>
          <a:stretch/>
        </p:blipFill>
        <p:spPr>
          <a:xfrm>
            <a:off x="331787" y="2490788"/>
            <a:ext cx="2576511" cy="12049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jita" id="148" name="Google Shape;148;p22"/>
          <p:cNvPicPr preferRelativeResize="0"/>
          <p:nvPr/>
        </p:nvPicPr>
        <p:blipFill rotWithShape="1">
          <a:blip r:embed="rId5">
            <a:alphaModFix/>
          </a:blip>
          <a:srcRect b="4754" l="6796" r="5614" t="12995"/>
          <a:stretch/>
        </p:blipFill>
        <p:spPr>
          <a:xfrm>
            <a:off x="6019800" y="1369219"/>
            <a:ext cx="2816225" cy="12049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jita" id="149" name="Google Shape;149;p22"/>
          <p:cNvPicPr preferRelativeResize="0"/>
          <p:nvPr/>
        </p:nvPicPr>
        <p:blipFill rotWithShape="1">
          <a:blip r:embed="rId3">
            <a:alphaModFix/>
          </a:blip>
          <a:srcRect b="4754" l="6796" r="5614" t="12995"/>
          <a:stretch/>
        </p:blipFill>
        <p:spPr>
          <a:xfrm>
            <a:off x="3360737" y="1304925"/>
            <a:ext cx="2339975" cy="12049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jita" id="150" name="Google Shape;150;p22"/>
          <p:cNvPicPr preferRelativeResize="0"/>
          <p:nvPr/>
        </p:nvPicPr>
        <p:blipFill rotWithShape="1">
          <a:blip r:embed="rId3">
            <a:alphaModFix/>
          </a:blip>
          <a:srcRect b="4754" l="6796" r="5614" t="12995"/>
          <a:stretch/>
        </p:blipFill>
        <p:spPr>
          <a:xfrm rot="-225250">
            <a:off x="428982" y="1303556"/>
            <a:ext cx="2336084" cy="120765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/>
        </p:nvSpPr>
        <p:spPr>
          <a:xfrm rot="-225405">
            <a:off x="541613" y="1409928"/>
            <a:ext cx="2353457" cy="810135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Provincia: Bs. As.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Nombre: Necochea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Cant. Act.: 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Cant. Visitas: 15.000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5568950" y="3961209"/>
            <a:ext cx="356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700"/>
              <a:buFont typeface="Calibri"/>
              <a:buNone/>
            </a:pPr>
            <a:r>
              <a:rPr b="1" i="0" lang="es-419" sz="17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Prov con </a:t>
            </a:r>
            <a:r>
              <a:rPr b="1" i="0" lang="es-419" sz="1700" u="sng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mayo</a:t>
            </a:r>
            <a:r>
              <a:rPr b="1" i="0" lang="es-419" sz="17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r cant de visitantes y su cant de visitantes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3487737" y="1458515"/>
            <a:ext cx="22368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Provincia: Bs. As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Nombre: La Plata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Cant. Act.: 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Cant. Visitas: 21.000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6300787" y="1498997"/>
            <a:ext cx="25353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Provincia: Santa Cruz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Nombre: El Chaltén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Cant. Act.: 20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Cant. Visitas: 20.000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2"/>
          <p:cNvSpPr txBox="1"/>
          <p:nvPr/>
        </p:nvSpPr>
        <p:spPr>
          <a:xfrm>
            <a:off x="430212" y="2607469"/>
            <a:ext cx="27225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Provincia: Santa Cruz.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Nombre: El Calafate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Cant. Act.: 15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Cant. Visitas: 35.000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2555875" y="4029075"/>
            <a:ext cx="2836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700"/>
              <a:buFont typeface="Calibri"/>
              <a:buNone/>
            </a:pPr>
            <a:r>
              <a:rPr b="1" i="0" lang="es-419" sz="17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Cant. total de visitantes de la prov actual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6332154" y="4467225"/>
            <a:ext cx="2236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Bs. As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36.000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3387725" y="4560094"/>
            <a:ext cx="10701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15.000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2"/>
          <p:cNvSpPr txBox="1"/>
          <p:nvPr/>
        </p:nvSpPr>
        <p:spPr>
          <a:xfrm>
            <a:off x="668337" y="4129088"/>
            <a:ext cx="1527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700"/>
              <a:buFont typeface="Calibri"/>
              <a:buNone/>
            </a:pPr>
            <a:r>
              <a:rPr b="1" i="0" lang="es-419" sz="17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Prov actual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819150" y="4537463"/>
            <a:ext cx="1373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Bs. As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2"/>
          <p:cNvSpPr txBox="1"/>
          <p:nvPr/>
        </p:nvSpPr>
        <p:spPr>
          <a:xfrm>
            <a:off x="3387725" y="4560094"/>
            <a:ext cx="10701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36.000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2"/>
          <p:cNvSpPr txBox="1"/>
          <p:nvPr/>
        </p:nvSpPr>
        <p:spPr>
          <a:xfrm>
            <a:off x="561975" y="4527938"/>
            <a:ext cx="16305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Santa Cruz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2"/>
          <p:cNvSpPr txBox="1"/>
          <p:nvPr/>
        </p:nvSpPr>
        <p:spPr>
          <a:xfrm>
            <a:off x="3459162" y="4560094"/>
            <a:ext cx="10701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20.000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2"/>
          <p:cNvSpPr txBox="1"/>
          <p:nvPr/>
        </p:nvSpPr>
        <p:spPr>
          <a:xfrm>
            <a:off x="3387725" y="4560094"/>
            <a:ext cx="10701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55.000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2"/>
          <p:cNvSpPr txBox="1"/>
          <p:nvPr/>
        </p:nvSpPr>
        <p:spPr>
          <a:xfrm>
            <a:off x="6438751" y="4467225"/>
            <a:ext cx="2236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Santa Cruz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55.000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2"/>
          <p:cNvSpPr txBox="1"/>
          <p:nvPr/>
        </p:nvSpPr>
        <p:spPr>
          <a:xfrm>
            <a:off x="3736975" y="4560094"/>
            <a:ext cx="3762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3736975" y="4564856"/>
            <a:ext cx="3762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2"/>
          <p:cNvSpPr txBox="1"/>
          <p:nvPr/>
        </p:nvSpPr>
        <p:spPr>
          <a:xfrm rot="180360">
            <a:off x="3684026" y="2715295"/>
            <a:ext cx="1864966" cy="808488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Provincia: fin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Nombre: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Cant. Act.: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Cant. Visitas: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827087" y="151209"/>
            <a:ext cx="8229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BAC2"/>
              </a:buClr>
              <a:buSzPts val="2900"/>
              <a:buFont typeface="Calibri"/>
              <a:buNone/>
            </a:pPr>
            <a:r>
              <a:rPr b="1" i="0" lang="es-419" sz="2900" u="none" cap="none" strike="noStrike">
                <a:solidFill>
                  <a:srgbClr val="80BAC2"/>
                </a:solidFill>
                <a:latin typeface="Calibri"/>
                <a:ea typeface="Calibri"/>
                <a:cs typeface="Calibri"/>
                <a:sym typeface="Calibri"/>
              </a:rPr>
              <a:t>CORTE DE CONTROL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22"/>
          <p:cNvCxnSpPr/>
          <p:nvPr/>
        </p:nvCxnSpPr>
        <p:spPr>
          <a:xfrm>
            <a:off x="4356100" y="627459"/>
            <a:ext cx="4608600" cy="0"/>
          </a:xfrm>
          <a:prstGeom prst="straightConnector1">
            <a:avLst/>
          </a:prstGeom>
          <a:noFill/>
          <a:ln cap="flat" cmpd="sng" w="9525">
            <a:solidFill>
              <a:srgbClr val="80BAC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1" name="Google Shape;171;p22"/>
          <p:cNvSpPr txBox="1"/>
          <p:nvPr/>
        </p:nvSpPr>
        <p:spPr>
          <a:xfrm>
            <a:off x="463550" y="856059"/>
            <a:ext cx="3024300" cy="3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700"/>
              <a:buFont typeface="Calibri"/>
              <a:buNone/>
            </a:pPr>
            <a:r>
              <a:rPr b="0" i="0" lang="es-419" sz="17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Se lee la primera ciudad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130175" y="3439715"/>
            <a:ext cx="2887800" cy="762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700"/>
              <a:buFont typeface="Calibri"/>
              <a:buNone/>
            </a:pPr>
            <a:r>
              <a:rPr b="0" i="0" lang="es-419" sz="17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Se almacena Bs. As. como la provincia que está en proceso.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468312" y="4398169"/>
            <a:ext cx="1628700" cy="550200"/>
          </a:xfrm>
          <a:prstGeom prst="ellipse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22"/>
          <p:cNvSpPr txBox="1"/>
          <p:nvPr/>
        </p:nvSpPr>
        <p:spPr>
          <a:xfrm>
            <a:off x="3214687" y="3311128"/>
            <a:ext cx="2738400" cy="762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700"/>
              <a:buFont typeface="Calibri"/>
              <a:buNone/>
            </a:pPr>
            <a:r>
              <a:rPr b="0" i="0" lang="es-419" sz="17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Se inicializa el contador para la provincia en proceso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2"/>
          <p:cNvSpPr/>
          <p:nvPr/>
        </p:nvSpPr>
        <p:spPr>
          <a:xfrm>
            <a:off x="3032125" y="4429125"/>
            <a:ext cx="1630500" cy="550200"/>
          </a:xfrm>
          <a:prstGeom prst="ellipse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2443162" y="1551384"/>
            <a:ext cx="525967" cy="1967459"/>
          </a:xfrm>
          <a:custGeom>
            <a:rect b="b" l="l" r="r" t="t"/>
            <a:pathLst>
              <a:path extrusionOk="0" h="2623278" w="524655">
                <a:moveTo>
                  <a:pt x="0" y="2623278"/>
                </a:moveTo>
                <a:cubicBezTo>
                  <a:pt x="262327" y="1837543"/>
                  <a:pt x="524655" y="1051809"/>
                  <a:pt x="524655" y="614596"/>
                </a:cubicBezTo>
                <a:cubicBezTo>
                  <a:pt x="524655" y="177383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  <a:ln cap="flat" cmpd="sng" w="28575">
            <a:solidFill>
              <a:srgbClr val="C000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2"/>
          <p:cNvSpPr/>
          <p:nvPr/>
        </p:nvSpPr>
        <p:spPr>
          <a:xfrm rot="-2564837">
            <a:off x="3554629" y="1355287"/>
            <a:ext cx="448313" cy="2345304"/>
          </a:xfrm>
          <a:custGeom>
            <a:rect b="b" l="l" r="r" t="t"/>
            <a:pathLst>
              <a:path extrusionOk="0" h="2623278" w="524655">
                <a:moveTo>
                  <a:pt x="0" y="2623278"/>
                </a:moveTo>
                <a:cubicBezTo>
                  <a:pt x="262327" y="1837543"/>
                  <a:pt x="524655" y="1051809"/>
                  <a:pt x="524655" y="614596"/>
                </a:cubicBezTo>
                <a:cubicBezTo>
                  <a:pt x="524655" y="177383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  <a:ln cap="flat" cmpd="sng" w="28575">
            <a:solidFill>
              <a:srgbClr val="C000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3235325" y="3093244"/>
            <a:ext cx="2613000" cy="988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700"/>
              <a:buFont typeface="Calibri"/>
              <a:buNone/>
            </a:pPr>
            <a:r>
              <a:rPr b="0" i="0" lang="es-419" sz="17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Se acumula la cant de visitantes de la ciudad leída para la prov en proceso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5819775" y="659606"/>
            <a:ext cx="3024300" cy="76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700"/>
              <a:buFont typeface="Calibri"/>
              <a:buNone/>
            </a:pPr>
            <a:r>
              <a:rPr b="0" i="0" lang="es-419" sz="17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Notar que la ciudad leída no pertenece a la prov en proceso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7235825" y="1452563"/>
            <a:ext cx="1440000" cy="297600"/>
          </a:xfrm>
          <a:prstGeom prst="ellipse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9125" lIns="78275" spcFirstLastPara="1" rIns="78275" wrap="square" tIns="3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2"/>
          <p:cNvSpPr txBox="1"/>
          <p:nvPr/>
        </p:nvSpPr>
        <p:spPr>
          <a:xfrm>
            <a:off x="5280025" y="3504009"/>
            <a:ext cx="3787800" cy="53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700"/>
              <a:buFont typeface="Calibri"/>
              <a:buNone/>
            </a:pPr>
            <a:r>
              <a:rPr b="0" i="0" lang="es-419" sz="17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Como se terminó de procesar la prov actual, se actualiza el máximo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/>
          <p:nvPr/>
        </p:nvSpPr>
        <p:spPr>
          <a:xfrm>
            <a:off x="827087" y="151209"/>
            <a:ext cx="8229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BAC2"/>
              </a:buClr>
              <a:buSzPts val="2900"/>
              <a:buFont typeface="Calibri"/>
              <a:buNone/>
            </a:pPr>
            <a:r>
              <a:rPr b="1" i="0" lang="es-419" sz="2900" u="none" cap="none" strike="noStrike">
                <a:solidFill>
                  <a:srgbClr val="80BAC2"/>
                </a:solidFill>
                <a:latin typeface="Calibri"/>
                <a:ea typeface="Calibri"/>
                <a:cs typeface="Calibri"/>
                <a:sym typeface="Calibri"/>
              </a:rPr>
              <a:t>CORTE DE CONTROL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23"/>
          <p:cNvCxnSpPr/>
          <p:nvPr/>
        </p:nvCxnSpPr>
        <p:spPr>
          <a:xfrm>
            <a:off x="4356100" y="627459"/>
            <a:ext cx="4608600" cy="0"/>
          </a:xfrm>
          <a:prstGeom prst="straightConnector1">
            <a:avLst/>
          </a:prstGeom>
          <a:noFill/>
          <a:ln cap="flat" cmpd="sng" w="9525">
            <a:solidFill>
              <a:srgbClr val="80BAC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8" name="Google Shape;188;p23"/>
          <p:cNvSpPr txBox="1"/>
          <p:nvPr>
            <p:ph type="title"/>
          </p:nvPr>
        </p:nvSpPr>
        <p:spPr>
          <a:xfrm>
            <a:off x="241300" y="627459"/>
            <a:ext cx="8229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25" lIns="78275" spcFirstLastPara="1" rIns="78275" wrap="square" tIns="391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0" i="0" lang="es-419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endParaRPr/>
          </a:p>
        </p:txBody>
      </p:sp>
      <p:sp>
        <p:nvSpPr>
          <p:cNvPr id="189" name="Google Shape;189;p23"/>
          <p:cNvSpPr txBox="1"/>
          <p:nvPr/>
        </p:nvSpPr>
        <p:spPr>
          <a:xfrm>
            <a:off x="2911475" y="1322784"/>
            <a:ext cx="3786300" cy="254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-152400" lvl="0" marL="15240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tciudad {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52400" lvl="0" marL="15240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string prov;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52400" lvl="0" marL="15240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string nombre;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52400" lvl="0" marL="15240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 cantAct;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52400" lvl="0" marL="15240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 cantVis;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52400" lvl="0" marL="15240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52400" lvl="0" marL="15240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main(){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52400" lvl="0" marL="60960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tciudad ciudadTur;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52400" lvl="0" marL="60960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max, cantidad;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52400" lvl="0" marL="60960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nomMax, provActual;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52400" lvl="0" marL="15240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None/>
            </a:pPr>
            <a:r>
              <a:rPr lang="es-419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 txBox="1"/>
          <p:nvPr/>
        </p:nvSpPr>
        <p:spPr>
          <a:xfrm>
            <a:off x="3198575" y="1031100"/>
            <a:ext cx="5945400" cy="28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nomMax = "";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max = -1;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leer(ciudadTur); // Se lee el registro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 (ciudadTur.prov != "fin") {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provActual = ciudadTur.prov;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cantidad = 0;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while (ciudadTur.prov == provActual) {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cantidad = cantidad + ciudadTur.cantVis;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leer(ciudadTur);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actualizarMax(cantidad, provActual, max, nomMax);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"Prov con mayor cant. de visit. es:" &lt;&lt; nomMax &lt;&lt; endl;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95" name="Google Shape;195;p24"/>
          <p:cNvCxnSpPr/>
          <p:nvPr/>
        </p:nvCxnSpPr>
        <p:spPr>
          <a:xfrm>
            <a:off x="3492500" y="3921919"/>
            <a:ext cx="360300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grpSp>
        <p:nvGrpSpPr>
          <p:cNvPr id="196" name="Google Shape;196;p24"/>
          <p:cNvGrpSpPr/>
          <p:nvPr/>
        </p:nvGrpSpPr>
        <p:grpSpPr>
          <a:xfrm>
            <a:off x="3918647" y="3840953"/>
            <a:ext cx="4681536" cy="595417"/>
            <a:chOff x="4310596" y="5870438"/>
            <a:chExt cx="4680600" cy="791567"/>
          </a:xfrm>
        </p:grpSpPr>
        <p:sp>
          <p:nvSpPr>
            <p:cNvPr id="197" name="Google Shape;197;p24"/>
            <p:cNvSpPr txBox="1"/>
            <p:nvPr/>
          </p:nvSpPr>
          <p:spPr>
            <a:xfrm>
              <a:off x="4310596" y="6354805"/>
              <a:ext cx="4680600" cy="3072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t" bIns="39125" lIns="78275" spcFirstLastPara="1" rIns="78275" wrap="square" tIns="391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rPr b="1" i="0" lang="es-419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¿ Por qué no es correcto enviar </a:t>
              </a:r>
              <a:r>
                <a:rPr b="1" i="0" lang="es-419" sz="1200" u="none" cap="none" strike="noStrike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ciudadTur.Prov </a:t>
              </a:r>
              <a:r>
                <a:rPr b="1" i="0" lang="es-419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8" name="Google Shape;198;p24"/>
            <p:cNvCxnSpPr/>
            <p:nvPr/>
          </p:nvCxnSpPr>
          <p:spPr>
            <a:xfrm rot="10800000">
              <a:off x="6880684" y="5870438"/>
              <a:ext cx="22200" cy="56370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</p:grpSp>
      <p:sp>
        <p:nvSpPr>
          <p:cNvPr id="199" name="Google Shape;199;p24"/>
          <p:cNvSpPr txBox="1"/>
          <p:nvPr/>
        </p:nvSpPr>
        <p:spPr>
          <a:xfrm>
            <a:off x="827087" y="151209"/>
            <a:ext cx="8229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BAC2"/>
              </a:buClr>
              <a:buSzPts val="2900"/>
              <a:buFont typeface="Calibri"/>
              <a:buNone/>
            </a:pPr>
            <a:r>
              <a:rPr b="1" i="0" lang="es-419" sz="2900" u="none" cap="none" strike="noStrike">
                <a:solidFill>
                  <a:srgbClr val="80BAC2"/>
                </a:solidFill>
                <a:latin typeface="Calibri"/>
                <a:ea typeface="Calibri"/>
                <a:cs typeface="Calibri"/>
                <a:sym typeface="Calibri"/>
              </a:rPr>
              <a:t>CORTE DE CONTROL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24"/>
          <p:cNvCxnSpPr/>
          <p:nvPr/>
        </p:nvCxnSpPr>
        <p:spPr>
          <a:xfrm>
            <a:off x="4356100" y="627459"/>
            <a:ext cx="4608600" cy="0"/>
          </a:xfrm>
          <a:prstGeom prst="straightConnector1">
            <a:avLst/>
          </a:prstGeom>
          <a:noFill/>
          <a:ln cap="flat" cmpd="sng" w="9525">
            <a:solidFill>
              <a:srgbClr val="80BAC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1" name="Google Shape;201;p24"/>
          <p:cNvSpPr txBox="1"/>
          <p:nvPr>
            <p:ph type="title"/>
          </p:nvPr>
        </p:nvSpPr>
        <p:spPr>
          <a:xfrm>
            <a:off x="295275" y="627459"/>
            <a:ext cx="8229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25" lIns="78275" spcFirstLastPara="1" rIns="78275" wrap="square" tIns="391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0" i="0" lang="es-419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endParaRPr/>
          </a:p>
        </p:txBody>
      </p:sp>
      <p:sp>
        <p:nvSpPr>
          <p:cNvPr id="202" name="Google Shape;202;p24"/>
          <p:cNvSpPr txBox="1"/>
          <p:nvPr/>
        </p:nvSpPr>
        <p:spPr>
          <a:xfrm>
            <a:off x="152150" y="1167994"/>
            <a:ext cx="3046500" cy="254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-152400" lvl="0" marL="15240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tciudad {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52400" lvl="0" marL="15240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string prov;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52400" lvl="0" marL="15240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string nombre;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52400" lvl="0" marL="15240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 cantAct;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52400" lvl="0" marL="15240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 cantVis;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52400" lvl="0" marL="15240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52400" lvl="0" marL="15240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main(){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52400" lvl="0" marL="60960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tciudad ciudadTur;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52400" lvl="0" marL="60960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max, cantidad;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52400" lvl="0" marL="60960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nomMax, provActual;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52400" lvl="0" marL="15240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None/>
            </a:pPr>
            <a:r>
              <a:rPr lang="es-419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03" name="Google Shape;203;p24"/>
          <p:cNvCxnSpPr/>
          <p:nvPr/>
        </p:nvCxnSpPr>
        <p:spPr>
          <a:xfrm>
            <a:off x="3198587" y="965634"/>
            <a:ext cx="0" cy="4036200"/>
          </a:xfrm>
          <a:prstGeom prst="straightConnector1">
            <a:avLst/>
          </a:prstGeom>
          <a:noFill/>
          <a:ln cap="flat" cmpd="sng" w="9525">
            <a:solidFill>
              <a:srgbClr val="A6A6A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4" name="Google Shape;204;p24"/>
          <p:cNvSpPr txBox="1"/>
          <p:nvPr/>
        </p:nvSpPr>
        <p:spPr>
          <a:xfrm>
            <a:off x="1247775" y="3644503"/>
            <a:ext cx="2328900" cy="555000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s-419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¿ Por qué no se debe leer nuevamente dentro de este while ?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p24"/>
          <p:cNvCxnSpPr/>
          <p:nvPr/>
        </p:nvCxnSpPr>
        <p:spPr>
          <a:xfrm>
            <a:off x="6079307" y="3840947"/>
            <a:ext cx="1008000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>
            <p:ph type="title"/>
          </p:nvPr>
        </p:nvSpPr>
        <p:spPr>
          <a:xfrm>
            <a:off x="241300" y="627459"/>
            <a:ext cx="8229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25" lIns="78275" spcFirstLastPara="1" rIns="78275" wrap="square" tIns="391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0" i="0" lang="es-419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endParaRPr/>
          </a:p>
        </p:txBody>
      </p:sp>
      <p:sp>
        <p:nvSpPr>
          <p:cNvPr id="211" name="Google Shape;211;p25"/>
          <p:cNvSpPr txBox="1"/>
          <p:nvPr/>
        </p:nvSpPr>
        <p:spPr>
          <a:xfrm>
            <a:off x="276225" y="1079897"/>
            <a:ext cx="46830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leer(tciudad &amp;c) {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cin &gt;&gt; c.prov;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 (c.prov != "fin") {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cin &gt;&gt; c.nombre;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cin &gt;&gt; c.cantAct;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cin &gt;&gt; c.cantVis;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2" name="Google Shape;212;p25"/>
          <p:cNvSpPr txBox="1"/>
          <p:nvPr/>
        </p:nvSpPr>
        <p:spPr>
          <a:xfrm>
            <a:off x="827087" y="151209"/>
            <a:ext cx="8229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BAC2"/>
              </a:buClr>
              <a:buSzPts val="2900"/>
              <a:buFont typeface="Calibri"/>
              <a:buNone/>
            </a:pPr>
            <a:r>
              <a:rPr b="1" i="0" lang="es-419" sz="2900" u="none" cap="none" strike="noStrike">
                <a:solidFill>
                  <a:srgbClr val="80BAC2"/>
                </a:solidFill>
                <a:latin typeface="Calibri"/>
                <a:ea typeface="Calibri"/>
                <a:cs typeface="Calibri"/>
                <a:sym typeface="Calibri"/>
              </a:rPr>
              <a:t>CORTE DE CONTROL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p25"/>
          <p:cNvCxnSpPr/>
          <p:nvPr/>
        </p:nvCxnSpPr>
        <p:spPr>
          <a:xfrm>
            <a:off x="4356100" y="627459"/>
            <a:ext cx="4608600" cy="0"/>
          </a:xfrm>
          <a:prstGeom prst="straightConnector1">
            <a:avLst/>
          </a:prstGeom>
          <a:noFill/>
          <a:ln cap="flat" cmpd="sng" w="9525">
            <a:solidFill>
              <a:srgbClr val="80BAC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4" name="Google Shape;214;p25"/>
          <p:cNvSpPr txBox="1"/>
          <p:nvPr/>
        </p:nvSpPr>
        <p:spPr>
          <a:xfrm>
            <a:off x="276225" y="3517106"/>
            <a:ext cx="8564700" cy="16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9125" lIns="78275" spcFirstLastPara="1" rIns="78275" wrap="square" tIns="39125">
            <a:noAutofit/>
          </a:bodyPr>
          <a:lstStyle/>
          <a:p>
            <a:pPr indent="-292100" lvl="0" marL="2921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actualizarMax(int cantAct, string nombreAct, int &amp;max, string &amp;nommax) {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2921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 (cantAct &gt; max) {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2921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max = cantAct;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2921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nommax = nombreAct;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2921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2921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2921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